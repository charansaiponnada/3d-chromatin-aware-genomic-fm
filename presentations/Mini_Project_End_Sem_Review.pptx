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95" r:id="rId14"/>
    <p:sldId id="269" r:id="rId15"/>
    <p:sldId id="296" r:id="rId16"/>
    <p:sldId id="297" r:id="rId17"/>
    <p:sldId id="298" r:id="rId18"/>
    <p:sldId id="299" r:id="rId19"/>
    <p:sldId id="300" r:id="rId20"/>
    <p:sldId id="301" r:id="rId21"/>
    <p:sldId id="302" r:id="rId22"/>
    <p:sldId id="271" r:id="rId23"/>
    <p:sldId id="272" r:id="rId24"/>
    <p:sldId id="273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303" r:id="rId36"/>
    <p:sldId id="289" r:id="rId37"/>
    <p:sldId id="291" r:id="rId38"/>
    <p:sldId id="292" r:id="rId39"/>
    <p:sldId id="293" r:id="rId40"/>
  </p:sldIdLst>
  <p:sldSz cx="9144000" cy="6858000" type="screen4x3"/>
  <p:notesSz cx="6954838" cy="93091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116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71B727E3-9991-4B0C-8167-23E35F3043C3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4300" y="1163638"/>
            <a:ext cx="4186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80004"/>
            <a:ext cx="5563870" cy="366545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78B3C13F-8C70-4967-B114-F8782C3B91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10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A3A6F-B049-4A3C-A314-6C5DC6ABA413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8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A0579-E4EA-4069-8E9E-A5661942CE83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4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C4A0-A0AB-494A-9349-6940CE23F0BB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4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9F13F-E3C0-47E7-81E7-2D67CDFD97CE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B4F48-C21C-4E8E-AA43-BB8E3BD2F306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0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0D7BC-B940-4993-A11F-8FBB77BA204E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7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4854-92A4-4BB6-9F1F-69BBC71788FF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46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CBDC-D391-4FA9-8D6F-9BC119CA0B97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2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212E-DE5B-4D49-B277-6F5AF26D6AF0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F1400-0AF8-4881-9500-1BCE077EF02C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50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0AC9-8025-43C3-9D7A-B30453D05E68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C9A0F-356B-4543-BBC4-6729314C25D3}" type="datetime1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2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46DB-D9D6-99F1-B8FD-FBA99021C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457484"/>
            <a:ext cx="7772400" cy="884259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Calisto MT" panose="02040603050505030304" pitchFamily="18" charset="0"/>
                <a:cs typeface="JasmineUPC" panose="02020603050405020304" pitchFamily="18" charset="-34"/>
              </a:rPr>
              <a:t>3D-Chromatin-Aware Genomic Foundation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D8221-192B-76DF-DF92-A9F15F83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24" y="4516258"/>
            <a:ext cx="3675512" cy="197363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Batch Members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Charan Sai (238W1A5447)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G. Karthik (248W5A5404)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Sanath (238W1A5446)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E82CFBC-36EF-B095-71E8-4AA9D64C0EFE}"/>
              </a:ext>
            </a:extLst>
          </p:cNvPr>
          <p:cNvSpPr txBox="1">
            <a:spLocks/>
          </p:cNvSpPr>
          <p:nvPr/>
        </p:nvSpPr>
        <p:spPr>
          <a:xfrm>
            <a:off x="4794945" y="4516258"/>
            <a:ext cx="4178431" cy="22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Under the Guidance of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Mrs. K. Divya Kothapali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Assistant Professor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D2FCE7-A20E-157E-20FA-2B09A5121833}"/>
              </a:ext>
            </a:extLst>
          </p:cNvPr>
          <p:cNvSpPr txBox="1">
            <a:spLocks/>
          </p:cNvSpPr>
          <p:nvPr/>
        </p:nvSpPr>
        <p:spPr>
          <a:xfrm>
            <a:off x="685800" y="3293700"/>
            <a:ext cx="7772400" cy="79127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lv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23CS7552: B. Tech Mini Project (End Sem. Review)</a:t>
            </a:r>
          </a:p>
          <a:p>
            <a:pPr marL="0" lv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November 20, 2026</a:t>
            </a:r>
          </a:p>
          <a:p>
            <a:pPr marL="0" lvl="0" indent="0" algn="ctr"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Batch No: __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0E7157D-0ED4-652A-8A59-DCC1031DA9E7}"/>
              </a:ext>
            </a:extLst>
          </p:cNvPr>
          <p:cNvSpPr txBox="1">
            <a:spLocks/>
          </p:cNvSpPr>
          <p:nvPr/>
        </p:nvSpPr>
        <p:spPr>
          <a:xfrm>
            <a:off x="906670" y="60484"/>
            <a:ext cx="7126664" cy="11259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VR SIDDHARTHA ENGINEERING COLLEGE, VIJAYAWADA</a:t>
            </a:r>
          </a:p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Department of Computer Science and Engineering</a:t>
            </a:r>
          </a:p>
        </p:txBody>
      </p:sp>
      <p:pic>
        <p:nvPicPr>
          <p:cNvPr id="11" name="Picture 10" descr="A picture containing diagram&#10;&#10;Description automatically generated">
            <a:extLst>
              <a:ext uri="{FF2B5EF4-FFF2-40B4-BE49-F238E27FC236}">
                <a16:creationId xmlns:a16="http://schemas.microsoft.com/office/drawing/2014/main" id="{2F0778DE-E80B-339F-BA7E-B056A9251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78" y="161404"/>
            <a:ext cx="950349" cy="1118057"/>
          </a:xfrm>
          <a:prstGeom prst="rect">
            <a:avLst/>
          </a:prstGeom>
        </p:spPr>
      </p:pic>
      <p:pic>
        <p:nvPicPr>
          <p:cNvPr id="13" name="Picture 12" descr="Logo&#10;&#10;Description automatically generated">
            <a:extLst>
              <a:ext uri="{FF2B5EF4-FFF2-40B4-BE49-F238E27FC236}">
                <a16:creationId xmlns:a16="http://schemas.microsoft.com/office/drawing/2014/main" id="{1D9962D5-2778-4C7F-FC4C-2CB25B317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301" y="153465"/>
            <a:ext cx="1118057" cy="111805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C680849-8AC5-7306-7F26-02AD56BF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637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4298"/>
            <a:ext cx="7886700" cy="709530"/>
          </a:xfrm>
        </p:spPr>
        <p:txBody>
          <a:bodyPr/>
          <a:lstStyle/>
          <a:p>
            <a:r>
              <a:rPr lang="en-US" sz="36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Abstract</a:t>
            </a:r>
            <a:endParaRPr lang="en-US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46376"/>
            <a:ext cx="8062863" cy="5253135"/>
          </a:xfrm>
        </p:spPr>
        <p:txBody>
          <a:bodyPr>
            <a:normAutofit/>
          </a:bodyPr>
          <a:lstStyle/>
          <a:p>
            <a:pPr marL="0" lvl="0" indent="0" algn="just">
              <a:spcAft>
                <a:spcPts val="800"/>
              </a:spcAft>
              <a:buNone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models such as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learn powerful representations of DNA, yet they read the genome as a one-dimensional string. Inside the nucleus, chromatin folds into compartments,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topologically associating domains (TADs)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that physically decide which enhancers can reach which promoters — and recent probing shows that even a 7-billion-parameter sequence-only model fails to capture this higher-order organization. Existing structure-aware methods bolt a graph module onto an already-trained encoder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) or align embeddings to Hi-C patches by contrastive distillation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Evo2HiC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); in no published model does 3D structure shape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objective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over nucleotides. This project fills that gap: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bidirectional Mamba DNA language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whose recurrence is modulated by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Hi-C-derived structural features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, so that structure controls how far information propagates during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pretraining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. On a GM12878 chromosome-9 pilot, the model is compared against sequence-only, post-hoc and distillation arms at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matched parameters (+0.43%) and compute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, with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shuffled-structure controls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verifying that gains reflect genuine 3D structure rather than genomic distance.</a:t>
            </a:r>
          </a:p>
          <a:p>
            <a:pPr marL="0" lvl="0" indent="0" algn="just">
              <a:buNone/>
            </a:pPr>
            <a:r>
              <a:rPr lang="en-US" sz="1500" b="1" dirty="0">
                <a:solidFill>
                  <a:srgbClr val="833C00"/>
                </a:solidFill>
                <a:latin typeface="Calisto MT" panose="02040603050505030304" pitchFamily="18" charset="0"/>
              </a:rPr>
              <a:t>Keywords: </a:t>
            </a:r>
            <a:r>
              <a:rPr lang="en-US" sz="1500" i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model; 3D chromatin structure; Hi-C; topologically associating domains; state space models (Mamba); self-supervised pretraining; variant effect prediction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3089C-7D4B-76D0-EDD6-D1FEEE85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6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52" y="120030"/>
            <a:ext cx="7886700" cy="549273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Presentation Outline</a:t>
            </a:r>
            <a:endParaRPr lang="en-US" sz="4000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687062"/>
            <a:ext cx="8634953" cy="5851851"/>
          </a:xfrm>
        </p:spPr>
        <p:txBody>
          <a:bodyPr numCol="2">
            <a:normAutofit fontScale="25000" lnSpcReduction="20000"/>
          </a:bodyPr>
          <a:lstStyle/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1. Research Domain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2. SDG Categories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3. Aim and Motivation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4. Research Questions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5. Title Justification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6. Objectives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7. Scope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8. Timeline Chart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9. Introduction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9.1. The 3D Genome and Hi-C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9.2. Genomic FMs and SSMs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10. Study on Existing Technologies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11. Gap Analysis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12. SDLC Model (ML Life Cycle)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14. Data Collection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15. Data Preparation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16. Proposed Methodology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16.1. Proposed System Architecture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16.2. Different Modules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16.3. Proposed Model and Algorithm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17. Results and Discussion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17.1. Experimental Setup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17.2. Results and Analysis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      17.3. Comparison with Previous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18. Project Outcomes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19. Conclusion and Future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3DE6-22F4-4655-E43D-E5183840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598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E336-ABF5-A846-DE08-38640CE5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0ACF-C0A4-F059-E3E6-80EBC5505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1. Research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AD35-D206-4743-0207-C6CD2E794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43" y="772015"/>
            <a:ext cx="8314441" cy="5870705"/>
          </a:xfrm>
        </p:spPr>
        <p:txBody>
          <a:bodyPr numCol="1">
            <a:normAutofit/>
          </a:bodyPr>
          <a:lstStyle/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Primary 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Artificial Intelligence and Machine Learning — Foundation Models and Self-Supervised Learning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Sub-Domain: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Computational Genomics and Long-Range DNA Sequence Modeling with State Space Models (Mamba/SSM)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Application Area: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Regulatory genomics — enhancer–promoter interaction, regulatory element association — and clinical variant-effect interpretation (ClinVar)</a:t>
            </a:r>
          </a:p>
          <a:p>
            <a:pPr lvl="0" algn="just"/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Interdisciplinary basis: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3D genome biology (Hi-C, TADs, chromatin loops) supplies the structural signal that the machine-learning contribution conditions 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CD8A0-D22F-28CB-6DA4-2B5A203C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77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B8B0-6FA6-1A9D-CBD0-94855C5A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4B460-8C98-C0EC-7B6F-08A2E00DE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2. SDG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BAAF-ACF3-ADF2-52AE-80536527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0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Mapped SDGs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SDG 3 — Good Health and Well-Being: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improved interpretation of non-coding and pathogenic variants (ClinVar evaluation) supports precision-medicine and disease-mechanism research.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SDG 9 — Industry, Innovation and Infrastructure: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open, reproducible AI research infrastructure — released pipeline, data card and matched-compute benchmark protocol.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Only SDGs directly aligned with the project objectives and outcomes are claimed.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B90BE-2D81-5E43-3A1E-442D1D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0F15D0-BE51-3FBD-56FD-F97A2B91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012" y="3119552"/>
            <a:ext cx="5895975" cy="36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9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3. Aim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Aim</a:t>
            </a:r>
          </a:p>
          <a:p>
            <a:pPr marL="0" lvl="0" indent="0" algn="just">
              <a:spcAft>
                <a:spcPts val="700"/>
              </a:spcAft>
              <a:buNone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build and evaluate a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whose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is conditioned on 3D chromatin structure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(Hi-C), so that structural information shapes the learned sequence representation itself — not merely a layer added after training.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Motivation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genome operates in 3D: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 and loops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physically decide which enhancers reach which promoters.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Current genomic FMs read DNA as a 1D string — and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2-7B provably misses TAD/loop-scale organization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despite 9.3T training tokens.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Existing fixes are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post-hoc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(CHROME) or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embedding alignment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(Evo2HiC) — the pretraining objective itself has never seen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637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71961"/>
            <a:ext cx="8738648" cy="634115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4.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377" y="631596"/>
            <a:ext cx="8578391" cy="610637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conditioning self-supervised masked-token pretraining on Hi-C-derived structural features improve a DNA language model over a sequence-only baseline at matched parameters and compute?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structure entering the SSM recurrence during pretraining outperform post-hoc integration (CHROME-style) and contrastive distillation (Evo2HiC-style) on regulatory and variant-effect transfer tasks?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Are the observed gains attributable to genuine locus-specific 3D structure rather than to genomic distance decay — i.e., do shuffled-structure and distance-matched controls (S0–S3) degrade performance?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6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5. Title 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"3D-Chromatin-Aware"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— the model consumes measured Hi-C contact structure (insulation, directionality, contact density, A/B compartments), not just the linear sequence.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"Genomic"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— it operates on nucleotide-resolution DNA, where CTCF motif orientation — the actual loop grammar — is representable (impossible at CHROME’s 5 kb bins).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"Foundation Model"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— general-purpose self-supervised pretraining evaluated by transfer, unlike supervised single-task predictors (Akita, Orca, CHROME).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title states the mechanism precisely: awareness of 3D chromatin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during pretraining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is what no alternative title in this space already covers.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30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6.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construct a paired sequence + Hi-C pilot dataset (GM12878, chr9, GRCh38) with an 8-feature per-bin structural vector validated against independent 4D Nucleome tracks (target r &gt; 0.95).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design and implement a structural-bias mechanism inside a bidirectional Mamba recurrence, matching the sequence-only baseline’s parameter count within 5% (achieved: +0.43%).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pretrain and compare four </a:t>
            </a:r>
            <a:r>
              <a:rPr lang="en-US" sz="1800" i="1" dirty="0">
                <a:solidFill>
                  <a:srgbClr val="252525"/>
                </a:solidFill>
                <a:latin typeface="Calisto MT" panose="02040603050505030304" pitchFamily="18" charset="0"/>
              </a:rPr>
              <a:t>models with same objective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— sequence-only, CHROME-style post-hoc, Evo2HiC-style distillation, and the proposed model — with at least 3 seeds per configuration with initialization strategy as mentioned in the research papers.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verify via shuffled-structure controls (S0–S3) that any gain derives from genuine 3D structure, and to evaluate transfer on DNALongBench-style regulatory and variant tasks.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08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7.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1018094"/>
            <a:ext cx="8314441" cy="53382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pilot is restricted to one chromosome of one cell line of one species — human GM12878, chr9, 5 kb Hi-C resolution; every claim inherits this limitation and is stated accordingly.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Model scale is bounded by the available compute (2× NVIDIA L40S, 96 GB total): a ~7.7 M-parameter backbone on 32,768-bp windows — the small-model regime, not a 7B-scale reproduction.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covers masked-token loss plus selected regulatory/variant transfer tasks; cross-species modeling (DNA Zoo) and genome-wide scaling are explicitly out of scope for this phase.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744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8. Timeline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50000"/>
            <a:ext cx="8564253" cy="400000"/>
          </a:xfrm>
        </p:spPr>
        <p:txBody>
          <a:bodyPr numCol="1">
            <a:normAutofit fontScale="92500" lnSpcReduction="2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1. Timeline chart for the Mini Project work (August – November 2026)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0" name="Table 950"/>
          <p:cNvGraphicFramePr>
            <a:graphicFrameLocks noGrp="1"/>
          </p:cNvGraphicFramePr>
          <p:nvPr/>
        </p:nvGraphicFramePr>
        <p:xfrm>
          <a:off x="962000" y="1450000"/>
          <a:ext cx="7220000" cy="47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S. 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Action Plan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AUG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OCT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NOV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Literature survey and gap analysis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Pilot data acquisition (Hi-C + genome + GTF)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Structural features (φ) and validation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Mechanism design and architecture spec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implementation and unit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Baseline and comparison-arm 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Ablations (S0–S3) and downstream evaluation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Results analysis and comparison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Report writing and paper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Project reviews (0th / 1st / 2nd / End Sem.)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7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9.1. Introduction — The 3D Genome and Hi-C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Two metres of DNA fold into a ~10 μm nucleus — the genome is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3D object read as 1D text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(Lieberman-Aiden et al., 2009) [1] crosslinks spatially close loci and sequences the ligation junctions, producing a genome-wide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contact matrix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Contact maps reveal a hierarchy: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A/B compartments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— megabase-scale self-interacting domains, largely cell-type invariant (Dixon et al., 2012) [2]; and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joining promoter–enhancer pairs (Rao et al., 2014) [3].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Loop anchors bind CTCF in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convergent orientation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— a sequence-level grammar of 3D folding, visible only at nucleotide resolution.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TAD invariance across cell types is what makes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pretraining-time structural prior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defensible: it is genome-intrinsic signal, not a cell-line artifact.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9.2. Introduction — Genomic FMs and SSMs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learn from raw DNA by self-supervision — masked-token (Caduceus) or next-token (Evo 2) objectives — and are judged by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transfer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to regulatory and variant tasks.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Transformers cost O(L²) in sequence length;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state space models (Mamba)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run in linear time, making 100 kb–1 Mb genomic contexts practical.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[4]: bidirectional, reverse-complement-aware Mamba DNA LM — our baseline architecture class (~7.7 M parameters, trainable on 2× L40S).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[5]: 7B/40B StripedHyena-2, 1M-token context, 9.3T tokens — the sequence-only state of the art.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Yet Evo 2 penalises TAD-boundary deletions </a:t>
            </a:r>
            <a:r>
              <a:rPr lang="en-US" sz="1700" b="1" u="sng" dirty="0">
                <a:solidFill>
                  <a:srgbClr val="252525"/>
                </a:solidFill>
                <a:latin typeface="Calisto MT" panose="02040603050505030304" pitchFamily="18" charset="0"/>
              </a:rPr>
              <a:t>less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 than matched random controls (Lee, 2026) [13] — sequence-only pretraining does not discover higher-order 3D structure on its own.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A 3D Map of the Human Genome at Kilobase Resolution Reveals Principles of Chromatin Looping [3]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Cell, Vol. 159, Issue 7, Elsevier, 2014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In situ Hi-C, 9 human cell types; GM12878 map with ~4.9B contacts at 1 kb resolution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Introduced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in situ Hi-C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at kilobase resolution; identified ~10,000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chromatin loops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, contact domains (median ~185 kb) and six subcompartments. Loop anchors bind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CTCF in convergent orientation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— the sequence-level mechanism of loop formation. The GM12878 map is the densest public human Hi-C dataset and is this project’s pilot data source.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kilobase-resolution genome-wide map of 3D genome folding.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Established loops and CTCF convergence as reproducible structural units.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Bulk, population-averaged contacts — no single-cell heterogeneity.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Descriptive assay only: no predictive model linking sequence to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Caduceus: Bi-Directional Equivariant Long-Range DNA Sequence Modeling [4]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Proc. ICML 2024, PMLR Vol. 235, 2024 (arXiv:2403.03234)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Human reference genome hg38; GenomicBenchmarks, Nucleotide-Transformer tasks, Long Range Benchmark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Extends the Mamba SSM block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BiMamba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(bidirectional)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MambaDNA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(reverse-complement equivariant) — the first RC-equivariant bidirectional long-range DNA language model, pretrained by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prediction (15%)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at up to 131 kb context. Beats models ~10× larger on long-range eQTL variant-effect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Linear-time long-context DNA modeling beyond transformer O(L²).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Principled reverse-complement handling (PH augmentation / PS equivariance).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— no chromatin-structure signal at any stage.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Evaluated in the small-model regime only; our baseline inherits this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Genome Modelling and Design Across All Domains of Life with Evo 2 [5]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Nature, Springer Nature, 2026 (preprint bioRxiv 10.1101/2025.02.18.638918)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OpenGenome2 — 8.8–9.3T tokens from &gt;128,000 genomes across all domains of life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Autoregressive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StripedHyena 2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models at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7B and 40B parameters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with context up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1M tokens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at single-nucleotide resolution; demonstrates chromosome-scale generation and &gt;90% accuracy on BRCA1 benign-vs-pathogenic classification — the strongest sequence-only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Long-context nucleotide modeling at unprecedented scale.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Cross-domain-of-life generalization from a single model.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3D structure anywhere — probing (Lee, 2026 [13]) shows it misses TAD/loop-scale organization.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7B/40B scale is not reproducible on academic compute (enters this project only as a frozen-embedding reference).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A Generalizable Hi-C Foundation Model for Chromatin Architecture, Single-Cell and Multi-Omics Analysis Across Species [6]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Nature Methods, Springer Nature, 2026 (preprint bioRxiv 10.1101/2024.12.16.628821)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Hundreds of Hi-C assays: 81 human cell lines/tissues, ~118M contact submatrices; validated on 316 species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on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Hi-C submatrix patches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; produces embeddings at chromosome, loci and locus levels; fine-tuned decoders handle reproducibility scoring, resolution enhancement, loop detection, single-cell Hi-C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epigenomic-activity prediction from Hi-C alone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generalizable foundation model over Hi-C contact maps.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Cross-species structural transfer at scale.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DNA sequence channel — a point mutation does not change its input, so variants cannot be scored.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Requires Hi-C at inference; inapplicable to cell types without Hi-C.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Hi-Cformer Enables Multi-Scale Chromatin Contact Map Modeling for Single-Cell Hi-C Data Analysis [7]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bioRxiv 10.1101/2025.08.04.668453, 2025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Single-cell Hi-C: Ramani2017, Lee2019, Tan2021, Wu2024 (1 Mb resolution)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Transformer with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block attention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over single-cell contact maps, pretrained with an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MLM objective over contact-map block embeddings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(20% masking, three-scale reconstruction loss); yields per-cell embeddings for clustering, cell-type annotation and imputation.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modeling of extremely sparse scHi-C data.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structural representation at single-cell level.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sequence channel — "general-purpose" scope is cells, not loci or variants.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1 Mb resolution is far above regulatory-element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Chromatin Interaction–Aware Gene Regulatory Modeling with Graph Attention Networks [8]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Genome Research, Vol. 32, Issue 5, CSHL Press, 2022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HiChIP/Hi-C interaction graphs + 1D epigenomic tracks (CAGE, ChIP-seq)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Graph attention networks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over chromatin-interaction graphs predict gene expression; attention weights provide interpretable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enhancer→gene attribution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 Established the GAT-over-contact-graph pattern that CHROME later refined.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Long-range enhancer attribution beyond fixed 1D windows.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Interpretable structure-aware regulatory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used only in supervised downstream training — never in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Interaction graph required at inference.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A Chromatin-Structure-Guided Framework for Predictive and Interpretable Regulatory Genomics (CHROME) [9]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Briefings in Bioinformatics, Vol. 27, Issue 4, Oxford University Press, 2026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4DN Hi-C at 5 kb (GM12878, K562, IMR-90); 751 ENCODE ChIP-seq assays; GTEx eQTL; ClinVar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Filters Hi-C to physically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non-random contacts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via a polymer null model (~2–6% kept); builds signal-centered subgraphs (≤4 Mb) over 5 kb loci;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two GAT layers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propagate neighbor information. Encoders are trained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structure-free to convergence in stage 1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; structure enters only in stage-2 fine-tuning. Improves ChIP-seq, eQTL and ClinVar performance.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Physically-grounded filtering separates specific contacts from polymer noise.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Structure-aware variant interpretation evaluated on ClinVar and eQTL.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is strictly post-hoc — the sequence representation is fixed before structure exists; supervised only, no self-supervised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Needs the contact graph at inference; 5 kb bins cannot represent CTCF motif orientation.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Evo2HiC: A Multimodal Foundation Model for Integrative Analysis of Genome Sequence and Architecture [10]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bioRxiv 10.1101/2025.11.18.689171, 2025 (Noble Lab, Univ. of Washington)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1.2M × 2 kb human genomic bins; Hi-C contact maps; 177 DNA Zoo species (resolution enhancement)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Distills frozen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 (7B)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into a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3.6M-parameter CNN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via two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SigLIP-style contrastive objectives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: student ↔ Evo 2 embeddings, then student ↔ Hi-C patch embeddings — transferring TAD/loop knowledge into a DNA encoder. +10.9% Spearman over Orca on contact prediction at ~500× cheaper inference than Evo 2.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work where Hi-C shapes a sequence encoder during representation learning.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Compute-efficient alternative to running a 7B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Contrastive alignment to a frozen teacher — no self-supervised objective over nucleotides (keyword count in paper: MLM = 0); the student’s ceiling is the teacher.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variant-level evaluation at all (ClinVar/eQTL/variant = 0 occurrences); CNN only — no SSM.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2585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 —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620000"/>
            <a:ext cx="8564253" cy="350000"/>
          </a:xfrm>
        </p:spPr>
        <p:txBody>
          <a:bodyPr numCol="1">
            <a:normAutofit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2. Summary of existing implementations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1" name="Table 951"/>
          <p:cNvGraphicFramePr>
            <a:graphicFrameLocks noGrp="1"/>
          </p:cNvGraphicFramePr>
          <p:nvPr/>
        </p:nvGraphicFramePr>
        <p:xfrm>
          <a:off x="292232" y="1010000"/>
          <a:ext cx="8564253" cy="517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942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Article /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Venue, Year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Data structure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Gap addressed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Limitation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Rao et al. (in situ Hi-C) [3]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Cell, 2014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Hi-C, 9 cell types, 1 kb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Kilobase 3D map; loops + CTCF convergence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Bulk averages; descriptive only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Caduceus (BiMamba) [4]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ICML, 2024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 (hg38)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Linear-time bidirectional RC-aware DNA LM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structure at any stage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(StripedHyena 2) [5]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Nature,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only, 9.3T tokens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1M-token context; strongest sequence-only FM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Misses TAD/loop organization [13]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HiCFoundation [6]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Methods,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only, 81 cell lines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Generalizable Hi-C foundation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cannot score variants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Hi-Cformer [7]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scHi-C only, 1 Mb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Multi-scale scHi-C representation (MLM)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cell-level scope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GraphReg (GAT) [8]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Genome Res.,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Seq. features +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Enhancer→gene attribution via attention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downstream only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 (GAT) [9]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Brief. Bioinf.,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Non-random contact filtering; ClinVar/eQTL gains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post-hoc; graph needed at inference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 (distillation) [10]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patches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shapes a sequence encoder (contrastive)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nucleotide objective; no variant eval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Akita [11] / Orca [12]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Meth. 2020 / Nat. Genet.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→ contact map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as supervised training target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Single-task; representations never transferred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 3D probing (Lee) [13]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arXiv,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likelihoods vs Micro-C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Shows Evo 2 fails higher-order 3D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Preprint; 7B only, CTCF structures only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005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11. Gap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FMs (Evo 2, Caduceus) never see structure — and Evo 2-7B demonstrably fails TAD/loop-scale probes, so scale alone has not closed the gap.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Hi-C-only FMs (HiCFoundation, Hi-Cformer) have no sequence channel, so a point mutation cannot change their input — variant scoring is impossible in principle.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CHROME integrates structure only post-hoc: its encoder converges with no structure present, and the contact graph is required again at inference.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Evo2HiC aligns a distilled encoder to Hi-C patches contrastively — no self-supervised nucleotide objective, no variant evaluation, and a frozen teacher as its ceiling.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Akita/Orca use Hi-C as a supervised target, but a forward-citation sweep over 318 citing papers finds their representations have never been transferred to any non-folding task.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The empty cell: no published model combines an SSM sequence backbone with 3D structure inside a self-supervised pretraining objective — the cell this project occupies.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785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3976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12. SDLC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365" y="565608"/>
            <a:ext cx="8175984" cy="6155868"/>
          </a:xfrm>
        </p:spPr>
        <p:txBody>
          <a:bodyPr numCol="1">
            <a:normAutofit/>
          </a:bodyPr>
          <a:lstStyle/>
          <a:p>
            <a:pPr marL="0" lvl="0" indent="0" algn="just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Iterative ML life-cycle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— chosen because pretraining research loops through data–model–evaluation cycles gated by diagnostics, not a linear waterfall. Stages instantiated for this project: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Problem definition — structure-conditioned pretraining hypothesis (Phase 0 literature gap).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collection — 4DN Hi-C + Ensembl GRCh38 + GENCODE v47 (chr9 pilot).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preparation — band extraction, O/E correction, φ features, tokenization, leakage-free splits.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Modeling — BiMamba backbone + structural bias at matched parameters.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— masked-token loss, ablation ladder S0–S3, DNALongBench transfer, ≥3 seeds.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Deployment — reproducible pipeline, released code/weights and paper draft as research artifacts.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Monitoring — training-time diagnostics D1–D4 catch a silently-inert mechanism within hours.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30A4B5C7-79C4-AE2B-C3E2-4632FDF632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89" y="4309107"/>
            <a:ext cx="2507528" cy="231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4563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36" y="136524"/>
            <a:ext cx="8738648" cy="549273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90000"/>
            <a:ext cx="8564253" cy="350000"/>
          </a:xfrm>
        </p:spPr>
        <p:txBody>
          <a:bodyPr numCol="1">
            <a:normAutofit lnSpcReduction="1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3. Functional and non-functional requirements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2" name="Table 952"/>
          <p:cNvGraphicFramePr>
            <a:graphicFrameLocks noGrp="1"/>
          </p:cNvGraphicFramePr>
          <p:nvPr/>
        </p:nvGraphicFramePr>
        <p:xfrm>
          <a:off x="292232" y="1260000"/>
          <a:ext cx="8564253" cy="4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54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Requirement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Category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Acquire and align Hi-C, reference sequence and annotation on GRCh38 (chr9 pilot), with md5-verified provenance manifest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Compute the 8-feature per-bin structural vector φ with O/E correction and validate it against independent 4DN tracks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Tokenize 32,768-bp windows with an explicit N policy and leakage-free buffered train/val/test splits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Train baseline and structural arms at matched parameters (≤5%) and matched compute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Run shuffled-structure controls S0–S3 and mechanistic diagnostics D1–D4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Log every hyperparameter, seed and metric to results/ before any number is reported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Reproducibility — fixed seeds, versioned configs, fully scripted pipeline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Compute budget — all runs fit 2× NVIDIA L40S (96 GB total)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Numerical safety — no NaN may reach the recurrence; invalid φ masked with validity flags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Fairness — identical data, N policy and scan kernel across all comparison arms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Honesty — no unlogged number may appear in any report, slide or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60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14.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 fontScale="92500" lnSpcReduction="10000"/>
          </a:bodyPr>
          <a:lstStyle/>
          <a:p>
            <a:pPr marL="0" lvl="0" indent="0" algn="l">
              <a:spcAft>
                <a:spcPts val="3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Name of the 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4D Nucleome experiment set 4DNES3JX38V5 — in situ Hi-C, GM12878 lymphoblastoid cell line (Rao et al., 2014) [3], assembly GRCh38</a:t>
            </a:r>
          </a:p>
          <a:p>
            <a:pPr marL="0" lvl="0" indent="0" algn="just">
              <a:spcAft>
                <a:spcPts val="450"/>
              </a:spcAft>
              <a:buNone/>
            </a:pPr>
            <a:r>
              <a:rPr lang="en-US" sz="1400" i="1" dirty="0">
                <a:solidFill>
                  <a:srgbClr val="252525"/>
                </a:solidFill>
                <a:latin typeface="Calisto MT" panose="02040603050505030304" pitchFamily="18" charset="0"/>
              </a:rPr>
              <a:t>Selected because it is the densest public human Hi-C map, and GM12878 is one of CHROME’s training cell lines — keeping our pilot directly comparable.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Hi-C: 4DNFIXP4QG5B multiresolution .mcool (27.4 GB) — never downloaded; read remotely via HTTP range requests; ICE-balanced; 5 kb default (1–2 kb available for ablation).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Sequence: GRCh38 chr9 (Ensembl release 113). Annotation: GENCODE v47 — 169,668 chr9 rows; 3,190 genes.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Validation-only tracks (never model inputs): 4DN TAD boundaries, insulation score, A/B compartments; CTCF ChIA-PET loops as an independent assay.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Scale: chr9 = 138,394,717 bp (cooler and FASTA agree exactly); 27,679 bins @ 5 kb; ±2 Mb band = 7,108,483 retained entries (occupancy 0.645).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Known holes, recorded up front: 19.31% of bins carry no balancing weight — dominated by a 17.25 Mb centromeric gap; 12.0% of chr9 sequence is 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Windows (32,768 bp): train 5,422 / validation 273 / test 242 — disjoint genomic intervals with 1 Mb buffers; verified zero leakage.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0164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15.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Band extraction: ±2 Mb around the diagonal at 5 kb, tiled in 10 Mb windows with 2 Mb overlap (no seam loss), deduplicated; separate 250 kb whole-chromosome matrix for compartments.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Distance-decay (O/E) correction before any feature is built — raw contact frequency is dominated by 1D distance, and uncorrected "structure" would be a positional prior in disguise (control S3 exists to catch exactly this).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φ per bin (8 features): insulation @ 100/250/500 kb, directionality index, log contact density, upstream mass fraction, short/long-range ratio, compartment PC1 — each tagged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symmetric or antisymmetric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under reverse complement.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Genome-wide standardization (failure-mode F1 mitigation); coverage: 21,519 / 27,679 bins (77.7%) have complete φ.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Validation against 4DN’s independently derived tracks: insulation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+0.9969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; compartments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+0.9759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Tokenization A/C/G/T/N with N ≤ 10% per window; φ linearly interpolated bin→token (7 → 32,757 distinct values per window — F4 mitigation); invalid positions get the standardized mean + validity flag, so no NaN can reach the recurrence.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Reverse-complement augmentation reverses tokens and φ and negates the two antisymmetric coordinates (F7 safeguard) — verified against independently computed expectations.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735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F6D41-8B00-DE8F-7F82-9281F7F13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B4518-4D1A-BA7B-0FD9-70F4CE313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26999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16.1. Proposed 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F70F8-B6B8-9FE3-3F23-6A22925B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1005840"/>
            <a:ext cx="8334953" cy="1500000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Two input pathways — sequence tokens and Hi-C-derived structural context sₜ — merge </a:t>
            </a: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inside the BiMamba recurrence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, not by input concatenation.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is a </a:t>
            </a: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training-time signal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; inference needs sequence only (CHROME, by contrast, needs the contact graph at inference).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All four comparison arms share data, N policy, splits and scan kernel — differences isolate the mechanism.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CD88F9-79B5-CB9F-9F1A-C474A415E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92B58-CE67-EADF-CD79-2A36AAD48082}"/>
              </a:ext>
            </a:extLst>
          </p:cNvPr>
          <p:cNvSpPr txBox="1"/>
          <p:nvPr/>
        </p:nvSpPr>
        <p:spPr>
          <a:xfrm>
            <a:off x="372000" y="6100000"/>
            <a:ext cx="8400000" cy="3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1. Proposed system architecture: structure-conditioned self-supervised pretraining pipeline.</a:t>
            </a:r>
          </a:p>
        </p:txBody>
      </p:sp>
      <p:pic>
        <p:nvPicPr>
          <p:cNvPr id="930" name="Figure 9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00" y="2620000"/>
            <a:ext cx="8400000" cy="33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8276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9654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16.2. Different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937" y="697582"/>
            <a:ext cx="8314441" cy="5740925"/>
          </a:xfrm>
        </p:spPr>
        <p:txBody>
          <a:bodyPr numCol="1">
            <a:normAutofit fontScale="92500" lnSpcReduction="20000"/>
          </a:bodyPr>
          <a:lstStyle/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1 — Data Acquisition (scripts/phase1_acquire.py):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Resolves 4DN accessions via the public API; extracts the contact band remotely from the 27.4 GB .mcool; mirrors FASTA/GTF; writes an md5-verified provenance manifest.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2 — Structural Features (scripts/phase1_features.py):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Builds and standardizes the 8-feature φ vector with O/E correction; validates against 4DN’s independent tracks (r = 0.997 insulation, r = 0.976 compartments).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3 — Dataset Builder (scripts/phase1_dataset.py):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Tokenizes windows, enforces the N policy, builds buffered leakage-free splits, interpolates φ to token resolution, applies RC augmentation with antisymmetric sign flips.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4 — Model and Verification (src/chromfm/model.py, scripts/test_model.py):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BiMamba backbone with structural Δ-bias and permeability gate; parameter accounting by instantiation; 16/16 unit tests including exact baseline equivalence at initialization.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2437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0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16.3. Proposed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1005840"/>
            <a:ext cx="8334953" cy="1500000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(i) Δ-bias: 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WΔs·sₜ shifts each channel’s timescale — structural context changes how quickly state decays.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(ii) Permeability gate: 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pₜ ≥ 0 adds uniform extra decay — boundary/low-contact regions damp information flow across them.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Init WΔs = 0, b_g = −4 → exactly the baseline at step 0 — any divergence is learned structural signal.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31" name="Figure 9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00" y="2620000"/>
            <a:ext cx="8300000" cy="3366000"/>
          </a:xfrm>
          <a:prstGeom prst="rect">
            <a:avLst/>
          </a:prstGeom>
        </p:spPr>
      </p:pic>
      <p:sp>
        <p:nvSpPr>
          <p:cNvPr id="932" name="CaptionBox 932"/>
          <p:cNvSpPr txBox="1"/>
          <p:nvPr/>
        </p:nvSpPr>
        <p:spPr>
          <a:xfrm>
            <a:off x="422000" y="6100000"/>
            <a:ext cx="8300000" cy="38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ctr"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2. Structural bias in the SSM recurrence — mechanism (a) of docs/architecture_spec.md.</a:t>
            </a:r>
          </a:p>
        </p:txBody>
      </p:sp>
    </p:spTree>
    <p:extLst>
      <p:ext uri="{BB962C8B-B14F-4D97-AF65-F5344CB8AC3E}">
        <p14:creationId xmlns:p14="http://schemas.microsoft.com/office/powerpoint/2010/main" val="8523330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3976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16.3. Algorithm /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950000"/>
            <a:ext cx="8334953" cy="5500000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52525"/>
                </a:solidFill>
                <a:latin typeface="Courier New" panose="02070309020205020404" pitchFamily="49" charset="0"/>
              </a:rPr>
              <a:t>Algorithm 1: one training step of structure-conditioned masked-token pretraining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Input:  tokens x[1..L]; structural features φ (per 5 kb bin); mask ratio m = 0.15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Output: updated parameters θ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1:  s &lt;- interpolate(standardize(φ))     # token resolution; invalid bins -&gt; 0 + flag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2:  (x_masked, M) &lt;- mask(x, m)          # BERT-style masking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3:  for layer l = 1..16, direction d in {fwd, rev}: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4:      Δ &lt;- softplus(W_dt δ′ + b_dt + W_Δs s)      # (i) structural Δ-bias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5:      p &lt;- softplus(w_gᵀ s + b_g)                 # (ii) permeability gate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6:      A_bar &lt;- exp(Δ·A − p)                      # structure modulates retention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7:      h_t &lt;- A_bar * h_(t−1) + Δ·B_t x_t ;   y_t &lt;- C_t·h_t + D·x_t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8:  loss &lt;- CrossEntropy(logits[M], x[M])   # loss only on masked positions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9:  θ &lt;- AdamW(θ, ∇loss); log Δ/τ distributions + diagnostics D1–D4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RC augmentation flips the antisymmetric φ coordinates (F7 safeguard). Structural pathway adds 33,042 parameters (+0.43%).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1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17.1. 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989813"/>
            <a:ext cx="8006303" cy="57481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Hardware: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2× NVIDIA L40S (48 GB each, 96 GB total); mixed-precision training.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Software: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Python 3.10, PyTorch, mamba-ssm, cooler, pyBigWig, NumPy/SciPy, Matplotlib.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Data: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chr9 GM12878 pilot — 5,422 train / 273 val / 242 test windows of 32,768 bp; N policy and splits fixed in the dataset layer so no arm can diverge.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Model config: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d_model 256, 16 BiMamba layers, d_state 16, vocab 16; baseline 7,725,312 vs structural 7,758,354 parameters (+0.43%, within the 5% budget).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Objective / metric: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masked-token prediction (15%); bits per nucleotide on held-out regions.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Comparison arms: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sequence-only; CHROME-style post-hoc; Evo2HiC-style distillation; proposed structure-in-pretraining.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Ablation controls: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S0 zeroed φ, S1 global permutation, S2 circular shift (≥10 Mb), S3 distance-matched rewire; diagnostics D1–D4; ≥3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Downstream: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 DNALongBench tasks (enhancer–target-gene, eQTL, contact map) [14] + perturbation sensitivity: TAD-boundary deletions and CTCF inversions vs matched controls [13].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8278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A963D-20FF-89A3-626A-7C90795E2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BB23-4EC6-964D-994F-D83B5C1A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and Analysis — Verified to 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F799C-6FD4-A88F-98B0-7C07482F0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6" y="955250"/>
            <a:ext cx="8006303" cy="5748157"/>
          </a:xfrm>
        </p:spPr>
        <p:txBody>
          <a:bodyPr numCol="1">
            <a:normAutofit fontScale="92500" lnSpcReduction="20000"/>
          </a:bodyPr>
          <a:lstStyle/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Pipeline validation: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our insulation vs 4DN’s independent track r = +0.9969 (100 kb); compartment PC1 r = +0.9759 — the feature pipeline reproduces reference tracks it never saw.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Visual gate: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a TAD (chr9:132.59–132.98 Mb) and the NOTCH1 loop (chr9:136.485↔136.625 Mb, O/E = 7.5, supported by 6 CTCF ChIA-PET PETs from an independent assay) confirmed in our processed matrix — next slide.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Coordinate alignment, three ways: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exact chr9 length match (138,394,717 bp); centromere gap coincides between FASTA N-content and Hi-C dead zone; landmark genes at expected contact coordinates.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Parameter accounting (by instantiation, not citation):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7,758,354 vs 7,725,312 = +0.43% — matched-parameter constraint passes with ~11× headroom.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Implementation: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16/16 unit tests pass; structural model numerically identical to baseline at init (max gap 0.0); gradients verified to reach WΔs and the gate.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Risk measured (F4):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max per-layer memory horizon at init ≈ 994 tokens &lt; one 5 kb bin → φ interpolation now mandatory; trained-τ gate added before Phase-4 compute.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Every number on this slide comes from logged script output (docs/data_card.md, scripts/).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3830B-FD85-D774-8D77-0970594A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58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1BA5-B76C-3560-28B4-7EDD1266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B1CC2-B3BF-31D2-D2AA-441536C57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and Analysis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3988-0402-0966-3916-D73212C4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0000" y="1250000"/>
            <a:ext cx="4400000" cy="4900000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Phase-1 visual validation (chr9:132–138 Mb):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Contact matrix with 4DN TAD-boundary calls falling at block edges, not interiors.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TAD panel: chr9:132.59–132.98 Mb — visibly brighter inside the block than outside.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Loop panel: NOTCH1 anchor pair at 140 kb separation, O/E = 7.5, corroborated by 6 CTCF ChIA-PET PETs from an independent assay.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Whole-chromosome A/B compartment alternation; the 43–60 Mb centromeric gap shows as a blank interval — itself a coordinate-alignment check.</a:t>
            </a:r>
          </a:p>
          <a:p>
            <a:pPr marL="457200" lvl="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Gene landmarks (VAV2, COL5A1, NOTCH1, TRAF2, GRIN1) read from our GTF at runtime and positioned against contact coordinates.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Every annotation is externally sourced — boundaries from 4DN’s caller, loops from ChIA-PET, genes from GENCODE.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AECB16-FF64-C4B2-FA25-FA7FA2027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33" name="Figure 9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223" y="1250000"/>
            <a:ext cx="3700000" cy="4527000"/>
          </a:xfrm>
          <a:prstGeom prst="rect">
            <a:avLst/>
          </a:prstGeom>
        </p:spPr>
      </p:pic>
      <p:sp>
        <p:nvSpPr>
          <p:cNvPr id="934" name="CaptionBox 934"/>
          <p:cNvSpPr txBox="1"/>
          <p:nvPr/>
        </p:nvSpPr>
        <p:spPr>
          <a:xfrm>
            <a:off x="550223" y="5850000"/>
            <a:ext cx="3700000" cy="6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ctr">
              <a:buNone/>
            </a:pPr>
            <a:r>
              <a:rPr lang="en-US" sz="11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3. Phase-1 validation (real pipeline output: figures/phase1_validation.png).</a:t>
            </a:r>
          </a:p>
        </p:txBody>
      </p:sp>
    </p:spTree>
    <p:extLst>
      <p:ext uri="{BB962C8B-B14F-4D97-AF65-F5344CB8AC3E}">
        <p14:creationId xmlns:p14="http://schemas.microsoft.com/office/powerpoint/2010/main" val="31498913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A963D-20FF-89A3-626A-7C90795E2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BB23-4EC6-964D-994F-D83B5C1A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— Pretraining Comparison (Pending)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F799C-6FD4-A88F-98B0-7C07482F0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1000000"/>
            <a:ext cx="8564253" cy="350000"/>
          </a:xfrm>
        </p:spPr>
        <p:txBody>
          <a:bodyPr numCol="1">
            <a:normAutofit fontScale="92500" lnSpcReduction="2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4. Three-way + distillation comparison — intentionally unfilled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3830B-FD85-D774-8D77-0970594A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3" name="Table 953"/>
          <p:cNvGraphicFramePr>
            <a:graphicFrameLocks noGrp="1"/>
          </p:cNvGraphicFramePr>
          <p:nvPr/>
        </p:nvGraphicFramePr>
        <p:xfrm>
          <a:off x="292232" y="1420000"/>
          <a:ext cx="8564253" cy="25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42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arm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Val. loss (bits/nt)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DNALongBench (ETG / eQTL)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ClinVar AUROC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Seeds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Sequence-only baseline (Caduceus-class)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CHROME-style post-hoc structure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Evo2HiC-style contrastive distillation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Structure-in-pretraining (proposed)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35" name="NoteBox 935"/>
          <p:cNvSpPr txBox="1"/>
          <p:nvPr/>
        </p:nvSpPr>
        <p:spPr>
          <a:xfrm>
            <a:off x="292232" y="4200000"/>
            <a:ext cx="8564253" cy="21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just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C00000"/>
                </a:solidFill>
                <a:latin typeface="Calisto MT" panose="02040603050505030304" pitchFamily="18" charset="0"/>
              </a:rPr>
              <a:t>Why is this table empty?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Per the project’s no-hallucination rule (CLAUDE.md), a number may appear here only after it exists in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results/final_comparison.csv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 from completed Phase 4–5 runs with ≥3 seeds. Pretraining had not started at the time this deck was prepared.</a:t>
            </a:r>
          </a:p>
          <a:p>
            <a:pPr marL="0" lvl="0" indent="0" algn="just">
              <a:buNone/>
            </a:pPr>
            <a:r>
              <a:rPr lang="en-US" sz="1400" i="1" dirty="0">
                <a:solidFill>
                  <a:srgbClr val="252525"/>
                </a:solidFill>
                <a:latin typeface="Calisto MT" panose="02040603050505030304" pitchFamily="18" charset="0"/>
              </a:rPr>
              <a:t>Decision rule already fixed (pre-registered in docs/architecture_spec.md §4.1.3): the mechanism passes only if the S1 control degrades performance with a 95% bootstrap CI excluding 0 and an effect ≥ 2σ across seeds; if S3 ≈ real, the structural claim is abandoned regardless of headline numbers.</a:t>
            </a:r>
          </a:p>
        </p:txBody>
      </p:sp>
    </p:spTree>
    <p:extLst>
      <p:ext uri="{BB962C8B-B14F-4D97-AF65-F5344CB8AC3E}">
        <p14:creationId xmlns:p14="http://schemas.microsoft.com/office/powerpoint/2010/main" val="3655580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07AB-A2E5-2E8F-3A5A-6D1CC51C1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51E8B-BCDB-C6CB-F661-CE013227F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509" y="103690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17.3. Comparison with Previous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4B72A-C8CE-40CA-3374-072A59427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620000"/>
            <a:ext cx="8564253" cy="350000"/>
          </a:xfrm>
        </p:spPr>
        <p:txBody>
          <a:bodyPr numCol="1">
            <a:normAutofit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5. Where structure enters — capability comparison with previous work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CCE2A-DC09-7B4C-6CA5-048A47A2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4" name="Table 954"/>
          <p:cNvGraphicFramePr>
            <a:graphicFrameLocks noGrp="1"/>
          </p:cNvGraphicFramePr>
          <p:nvPr/>
        </p:nvGraphicFramePr>
        <p:xfrm>
          <a:off x="292232" y="1010000"/>
          <a:ext cx="8564253" cy="46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42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Work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input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input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enters at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Self-supervised?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needed at inference?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HiCFoundation [6]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Hi-Cformer [7]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(MLM on blocks)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[5]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—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(next-token)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Caduceus [4]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—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(MLM)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GraphReg [8]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(features)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downstream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 [9]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stage 2, post-hoc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(supervised)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Akita [11] / Orca [12]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(as target)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target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 [10]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contrastive distillation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(no nucleotide obj.)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This project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inside self-supervised pretraining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(MLM + structure)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(design target)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36" name="NoteBox 936"/>
          <p:cNvSpPr txBox="1"/>
          <p:nvPr/>
        </p:nvSpPr>
        <p:spPr>
          <a:xfrm>
            <a:off x="292232" y="5750000"/>
            <a:ext cx="8564253" cy="7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The bottom row is the unoccupied cell in the literature. Quantitative comparison against these works follows Phase 4–5 runs (results/final_comparison.csv) — no performance number is claimed before it is logged.</a:t>
            </a:r>
          </a:p>
        </p:txBody>
      </p:sp>
    </p:spTree>
    <p:extLst>
      <p:ext uri="{BB962C8B-B14F-4D97-AF65-F5344CB8AC3E}">
        <p14:creationId xmlns:p14="http://schemas.microsoft.com/office/powerpoint/2010/main" val="1726147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0D91B-89E5-189E-ACA5-53EA44243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ABCA5-3923-5190-F81B-0511CF7E8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1" y="280383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18. Project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32742-19BD-2920-BFAF-8911E1661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1" y="989813"/>
            <a:ext cx="8458200" cy="5748157"/>
          </a:xfrm>
        </p:spPr>
        <p:txBody>
          <a:bodyPr numCol="1">
            <a:normAutofit lnSpcReduction="10000"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833C00"/>
                </a:solidFill>
                <a:latin typeface="Calisto MT" panose="02040603050505030304" pitchFamily="18" charset="0"/>
              </a:rPr>
              <a:t>Mini Project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Title: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"Structure in the Recurrence: Conditioning Genomic Foundation-Model Pretraining on 3D Chromatin Contacts" (working title)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Type: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Conference / journal paper in machine learning for genomics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Status: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In preparation — the draft is gated on logged Phase 4–5 results (results/final_comparison.csv); a negative result is publishable and will be reported honestly.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Artifacts already produced: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reproducible acquisition/feature/dataset pipeline (scripts/), verified model implementation (src/chromfm/), literature map, architecture spec and data card (docs/).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833C00"/>
                </a:solidFill>
                <a:latin typeface="Calisto MT" panose="02040603050505030304" pitchFamily="18" charset="0"/>
              </a:rPr>
              <a:t>EPICS</a:t>
            </a:r>
          </a:p>
          <a:p>
            <a:pPr marL="0" lvl="0" indent="0" algn="just">
              <a:buNone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Not applicable to this batch.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26D9F-A8E0-8DF9-E86E-2E4594799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077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30335-CE52-15B2-B23A-61DE5AED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4A369-88B7-8BAE-FCEC-AD8E807C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19. 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2D841-5EAC-964D-B444-B7E25133E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989813"/>
            <a:ext cx="8006303" cy="5748157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Here, we have discussed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The gap: across sequence-only FMs, Hi-C-only FMs, post-hoc graphs (CHROME) and contrastive distillation (Evo2HiC), no published model lets 3D structure shape a self-supervised nucleotide objective — and SSM + Hi-C is unoccupied.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Why it matters: Evo 2-7B penalises TAD-boundary deletions less than matched random controls — scale alone has not bought 3D awareness.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 validated pilot: GM12878 chr9 paired sequence + Hi-C; features reproduce independent 4DN tracks (insulation r = 0.997, compartments r = 0.976); a TAD and the NOTCH1 loop confirmed visually.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 mechanism: structural Δ-bias + permeability gate inside the BiMamba recurrence — structure sets how far information propagates; +0.43% parameters; provably inert at initialization.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 falsification-first plan: S0–S3 controls (S3 kills the claim if "structure" is just distance), D1–D4 diagnostics, ≥3 seeds, DNALongBench + perturbation-sensitivity evaluation.</a:t>
            </a:r>
          </a:p>
          <a:p>
            <a:pPr marL="457200" lvl="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Honest status: pretraining runs (Phases 3–5) are pending; every number reported so far is from logged pipeline output.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Future Work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Complete the four-arm comparison and ablation ladder; then scale beyond the pilot — genome-wide, more cell lines, true cross-chromosome splits.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Revisit hard TAD-boundary state resets (mechanism (c)) if the learned gate turns bimodal; add a cross-species arm (DNA Zoo) and a learned boundary predictor for structure-free inference.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345BD-7715-5CB3-45A7-6CEB49B2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4751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166" y="15537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90756"/>
            <a:ext cx="8006303" cy="5748157"/>
          </a:xfrm>
        </p:spPr>
        <p:txBody>
          <a:bodyPr numCol="1">
            <a:normAutofit/>
          </a:bodyPr>
          <a:lstStyle/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Lieberman-Aiden, E., et al. (2009). Comprehensive mapping of long-range interactions reveals folding principles of the human genome. Science, 326(5950), 289–293.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Dixon, J. R., et al. (2012). Topological domains in mammalian genomes identified by analysis of chromatin interactions. Nature, 485, 376–380.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Rao, S. S. P., et al. (2014). A 3D map of the human genome at kilobase resolution reveals principles of chromatin looping. Cell, 159(7), 1665–1680.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Schiff, Y., Kao, C.-H., et al. (2024). Caduceus: Bi-directional equivariant long-range DNA sequence modeling. Proceedings of ICML 2024, PMLR 235. arXiv:2403.03234.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[5]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Brixi, G., et al. (2026). Genome modelling and design across all domains of life with Evo 2. Nature. (Preprint: bioRxiv 10.1101/2025.02.18.638918).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[6]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Wang, X., et al. (2026). A generalizable Hi-C foundation model for chromatin architecture, single-cell and multi-omics analysis across species. Nature Methods. (Preprint: bioRxiv 10.1101/2024.12.16.628821).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[7]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Wu, X., Chen, X., &amp; Jiang, R. (2025). Hi-Cformer enables multi-scale chromatin contact map modeling for single-cell Hi-C data analysis. bioRxiv 10.1101/2025.08.04.668453.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[8]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Karbalayghareh, A., et al. (2022). Chromatin interaction–aware gene regulatory modeling with graph attention networks. Genome Research, 32(5), 930–944.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[9]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Ye, F., et al. (2026). A chromatin-structure-guided framework for predictive and interpretable regulatory genomics. Briefings in Bioinformatics, 27(4), bbag360.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[10]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Fang, T., Wang, X., Xiao, Z., et al. (2025). Evo2HiC: A multimodal foundation model for integrative analysis of genome sequence and architecture. bioRxiv 10.1101/2025.11.18.689171.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Fudenberg, G., Kelley, D. R., &amp; Pollard, K. S. (2020). Predicting 3D genome folding from DNA sequence with Akita. Nature Methods, 17, 1111–1117.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Zhou, J. (2022). Sequence-based modeling of three-dimensional genome architecture from kilobase to chromosome scale. Nature Genetics, 54, 725–734.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Lee, U. (2026). Probing 3D chromatin structure awareness in Evo2 DNA language model. arXiv:2604.07196.</a:t>
            </a:r>
          </a:p>
          <a:p>
            <a:pPr marL="342900" lvl="0" indent="-342900" algn="l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Cheng, W., et al. (2025). DNALongBench: A benchmark suite for long-range DNA prediction tasks. Nature Communications, 16(1), 10108.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D706-BAAD-007D-D4CC-247F422D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7050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6663</Words>
  <Application>Microsoft Office PowerPoint</Application>
  <PresentationFormat>On-screen Show (4:3)</PresentationFormat>
  <Paragraphs>620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Calisto MT</vt:lpstr>
      <vt:lpstr>Courier New</vt:lpstr>
      <vt:lpstr>Office Theme</vt:lpstr>
      <vt:lpstr>3D-Chromatin-Aware Genomic Foundation Model</vt:lpstr>
      <vt:lpstr>Abstract</vt:lpstr>
      <vt:lpstr>Presentation Outline</vt:lpstr>
      <vt:lpstr>1. Research Domain</vt:lpstr>
      <vt:lpstr>2. SDG Categories</vt:lpstr>
      <vt:lpstr>3. Aim and Motivation</vt:lpstr>
      <vt:lpstr>4. Research Questions</vt:lpstr>
      <vt:lpstr>5. Title Justification</vt:lpstr>
      <vt:lpstr>6. Objectives</vt:lpstr>
      <vt:lpstr>7. Scope</vt:lpstr>
      <vt:lpstr>8. Timeline Chart</vt:lpstr>
      <vt:lpstr>9.1. Introduction — The 3D Genome and Hi-C</vt:lpstr>
      <vt:lpstr>9.2. Introduction — Genomic FMs and SSMs</vt:lpstr>
      <vt:lpstr>10. Study on Existing Technologies</vt:lpstr>
      <vt:lpstr>10. Study on Existing Technologies</vt:lpstr>
      <vt:lpstr>10. Study on Existing Technologies</vt:lpstr>
      <vt:lpstr>10. Study on Existing Technologies</vt:lpstr>
      <vt:lpstr>10. Study on Existing Technologies</vt:lpstr>
      <vt:lpstr>10. Study on Existing Technologies</vt:lpstr>
      <vt:lpstr>10. Study on Existing Technologies</vt:lpstr>
      <vt:lpstr>10. Study on Existing Technologies</vt:lpstr>
      <vt:lpstr>10. Study on Existing Technologies — Summary</vt:lpstr>
      <vt:lpstr>11. Gap Analysis</vt:lpstr>
      <vt:lpstr>12. SDLC Model</vt:lpstr>
      <vt:lpstr>13. Functional and Non-Functional Requirements</vt:lpstr>
      <vt:lpstr>14. Data Collection</vt:lpstr>
      <vt:lpstr>15. Data Preparation</vt:lpstr>
      <vt:lpstr>16.1. Proposed System Architecture</vt:lpstr>
      <vt:lpstr>16.2. Different Modules</vt:lpstr>
      <vt:lpstr>16.3. Proposed Model</vt:lpstr>
      <vt:lpstr>16.3. Algorithm / Pseudocode</vt:lpstr>
      <vt:lpstr>17.1. Experimental Setup</vt:lpstr>
      <vt:lpstr>17.2. Results and Analysis — Verified to Date</vt:lpstr>
      <vt:lpstr>17.2. Results and Analysis (contd.)</vt:lpstr>
      <vt:lpstr>17.2. Results — Pretraining Comparison (Pending)</vt:lpstr>
      <vt:lpstr>17.3. Comparison with Previous Work</vt:lpstr>
      <vt:lpstr>18. Project Outcomes</vt:lpstr>
      <vt:lpstr>19. Conclusion &amp; Future Work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Charan Sai Ponnada</cp:lastModifiedBy>
  <cp:revision>1</cp:revision>
  <dcterms:modified xsi:type="dcterms:W3CDTF">2026-08-10T04:51:19Z</dcterms:modified>
</cp:coreProperties>
</file>