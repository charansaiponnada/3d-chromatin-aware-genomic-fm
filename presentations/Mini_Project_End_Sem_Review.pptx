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image/jpeg" Extension="jpe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tableStyles+xml" PartName="/ppt/tableStyles1.xml"/>
  <Override ContentType="application/vnd.openxmlformats-officedocument.presentationml.slideMaster+xml" PartName="/ppt/slideMasters/slideMaster1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1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1.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95" r:id="rId46"/>
    <p:sldId id="269" r:id="rId20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271" r:id="rId22"/>
    <p:sldId id="272" r:id="rId23"/>
    <p:sldId id="273" r:id="rId24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303" r:id="rId54"/>
    <p:sldId id="289" r:id="rId40"/>
    <p:sldId id="291" r:id="rId42"/>
    <p:sldId id="292" r:id="rId43"/>
    <p:sldId id="293" r:id="rId44"/>
  </p:sldIdLst>
  <p:sldSz cy="6858000" cx="9144000"/>
  <p:notesSz cx="6954825" cy="9309100"/>
  <p:defaultTextStyle>
    <a:defPPr lvl="0">
      <a:defRPr lang="en-US"/>
    </a:defPPr>
    <a:lvl1pPr defTabSz="457200" eaLnBrk="1" hangingPunct="1" latinLnBrk="0" lvl="0" marL="0" rtl="0" algn="l">
      <a:defRPr kern="1200" sz="1800">
        <a:solidFill>
          <a:schemeClr val="tx1"/>
        </a:solidFill>
        <a:latin typeface="+mn-lt"/>
        <a:ea typeface="+mn-ea"/>
        <a:cs typeface="+mn-cs"/>
      </a:defRPr>
    </a:lvl1pPr>
    <a:lvl2pPr defTabSz="457200" eaLnBrk="1" hangingPunct="1" latinLnBrk="0" lvl="1" marL="457200" rtl="0" algn="l">
      <a:defRPr kern="1200" sz="1800">
        <a:solidFill>
          <a:schemeClr val="tx1"/>
        </a:solidFill>
        <a:latin typeface="+mn-lt"/>
        <a:ea typeface="+mn-ea"/>
        <a:cs typeface="+mn-cs"/>
      </a:defRPr>
    </a:lvl2pPr>
    <a:lvl3pPr defTabSz="457200" eaLnBrk="1" hangingPunct="1" latinLnBrk="0" lvl="2" marL="914400" rtl="0" algn="l">
      <a:defRPr kern="1200" sz="1800">
        <a:solidFill>
          <a:schemeClr val="tx1"/>
        </a:solidFill>
        <a:latin typeface="+mn-lt"/>
        <a:ea typeface="+mn-ea"/>
        <a:cs typeface="+mn-cs"/>
      </a:defRPr>
    </a:lvl3pPr>
    <a:lvl4pPr defTabSz="457200" eaLnBrk="1" hangingPunct="1" latinLnBrk="0" lvl="3" marL="1371600" rtl="0" algn="l">
      <a:defRPr kern="1200" sz="1800">
        <a:solidFill>
          <a:schemeClr val="tx1"/>
        </a:solidFill>
        <a:latin typeface="+mn-lt"/>
        <a:ea typeface="+mn-ea"/>
        <a:cs typeface="+mn-cs"/>
      </a:defRPr>
    </a:lvl4pPr>
    <a:lvl5pPr defTabSz="457200" eaLnBrk="1" hangingPunct="1" latinLnBrk="0" lvl="4" marL="1828800" rtl="0" algn="l">
      <a:defRPr kern="1200" sz="1800">
        <a:solidFill>
          <a:schemeClr val="tx1"/>
        </a:solidFill>
        <a:latin typeface="+mn-lt"/>
        <a:ea typeface="+mn-ea"/>
        <a:cs typeface="+mn-cs"/>
      </a:defRPr>
    </a:lvl5pPr>
    <a:lvl6pPr defTabSz="457200" eaLnBrk="1" hangingPunct="1" latinLnBrk="0" lvl="5" marL="2286000" rtl="0" algn="l">
      <a:defRPr kern="1200" sz="1800">
        <a:solidFill>
          <a:schemeClr val="tx1"/>
        </a:solidFill>
        <a:latin typeface="+mn-lt"/>
        <a:ea typeface="+mn-ea"/>
        <a:cs typeface="+mn-cs"/>
      </a:defRPr>
    </a:lvl6pPr>
    <a:lvl7pPr defTabSz="457200" eaLnBrk="1" hangingPunct="1" latinLnBrk="0" lvl="6" marL="2743200" rtl="0" algn="l">
      <a:defRPr kern="1200" sz="1800">
        <a:solidFill>
          <a:schemeClr val="tx1"/>
        </a:solidFill>
        <a:latin typeface="+mn-lt"/>
        <a:ea typeface="+mn-ea"/>
        <a:cs typeface="+mn-cs"/>
      </a:defRPr>
    </a:lvl7pPr>
    <a:lvl8pPr defTabSz="457200" eaLnBrk="1" hangingPunct="1" latinLnBrk="0" lvl="7" marL="3200400" rtl="0" algn="l">
      <a:defRPr kern="1200" sz="1800">
        <a:solidFill>
          <a:schemeClr val="tx1"/>
        </a:solidFill>
        <a:latin typeface="+mn-lt"/>
        <a:ea typeface="+mn-ea"/>
        <a:cs typeface="+mn-cs"/>
      </a:defRPr>
    </a:lvl8pPr>
    <a:lvl9pPr defTabSz="457200" eaLnBrk="1" hangingPunct="1" latinLnBrk="0" lvl="8" marL="3657600" rtl="0" algn="l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1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1.xml><?xml version="1.0" encoding="utf-8"?>
<a:tblStyleLst xmlns:a="http://schemas.openxmlformats.org/drawingml/2006/main" xmlns:r="http://schemas.openxmlformats.org/officeDocument/2006/relationships" def="{90651C3A-4460-11DB-9652-00E08161165F}">
  <a:tblStyle styleId="{5940675A-B579-460E-94D1-54222C63F5DA}" styleName="No Style, Table Grid">
    <a:wholeTbl>
      <a:tcTxStyle>
        <a:fontRef idx="minor">
          <a:scrgbClr b="0" g="0" r="0"/>
        </a:fontRef>
        <a:schemeClr val="tx1"/>
      </a:tcTxStyle>
      <a:tcStyle>
        <a:tcBdr>
          <a:left>
            <a:ln cmpd="sng" w="12700">
              <a:solidFill>
                <a:schemeClr val="tx1"/>
              </a:solidFill>
            </a:ln>
          </a:left>
          <a:right>
            <a:ln cmpd="sng" w="12700">
              <a:solidFill>
                <a:schemeClr val="tx1"/>
              </a:solidFill>
            </a:ln>
          </a:right>
          <a:top>
            <a:ln cmpd="sng" w="12700">
              <a:solidFill>
                <a:schemeClr val="tx1"/>
              </a:solidFill>
            </a:ln>
          </a:top>
          <a:bottom>
            <a:ln cmpd="sng" w="12700">
              <a:solidFill>
                <a:schemeClr val="tx1"/>
              </a:solidFill>
            </a:ln>
          </a:bottom>
          <a:insideH>
            <a:ln cmpd="sng" w="12700">
              <a:solidFill>
                <a:schemeClr val="tx1"/>
              </a:solidFill>
            </a:ln>
          </a:insideH>
          <a:insideV>
            <a:ln cmpd="sng" w="12700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1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?><Relationships xmlns="http://schemas.openxmlformats.org/package/2006/relationships"><Relationship Id="rId40" Type="http://schemas.openxmlformats.org/officeDocument/2006/relationships/slide" Target="slides/slide34.xml"/><Relationship Id="rId20" Type="http://schemas.openxmlformats.org/officeDocument/2006/relationships/slide" Target="slides/slide14.xml"/><Relationship Id="rId42" Type="http://schemas.openxmlformats.org/officeDocument/2006/relationships/slide" Target="slides/slide36.xml"/><Relationship Id="rId22" Type="http://schemas.openxmlformats.org/officeDocument/2006/relationships/slide" Target="slides/slide16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1.xml"/><Relationship Id="rId3" Type="http://schemas.openxmlformats.org/officeDocument/2006/relationships/presProps" Target="presProps1.xml"/><Relationship Id="rId4" Type="http://schemas.openxmlformats.org/officeDocument/2006/relationships/tableStyles" Target="tableStyles1.xml"/><Relationship Id="rId9" Type="http://schemas.openxmlformats.org/officeDocument/2006/relationships/slide" Target="slides/slide3.xml"/><Relationship Id="rId28" Type="http://schemas.openxmlformats.org/officeDocument/2006/relationships/slide" Target="slides/slide22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37" Type="http://schemas.openxmlformats.org/officeDocument/2006/relationships/slide" Target="slides/slide31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  <Relationship Id="rId46" Type="http://schemas.openxmlformats.org/officeDocument/2006/relationships/slide" Target="slides/slide40.xml"/>
  <Relationship Id="rId47" Type="http://schemas.openxmlformats.org/officeDocument/2006/relationships/slide" Target="slides/slide41.xml"/>
  <Relationship Id="rId48" Type="http://schemas.openxmlformats.org/officeDocument/2006/relationships/slide" Target="slides/slide42.xml"/>
  <Relationship Id="rId49" Type="http://schemas.openxmlformats.org/officeDocument/2006/relationships/slide" Target="slides/slide43.xml"/>
  <Relationship Id="rId50" Type="http://schemas.openxmlformats.org/officeDocument/2006/relationships/slide" Target="slides/slide44.xml"/>
  <Relationship Id="rId51" Type="http://schemas.openxmlformats.org/officeDocument/2006/relationships/slide" Target="slides/slide45.xml"/>
  <Relationship Id="rId52" Type="http://schemas.openxmlformats.org/officeDocument/2006/relationships/slide" Target="slides/slide46.xml"/>
  <Relationship Id="rId53" Type="http://schemas.openxmlformats.org/officeDocument/2006/relationships/slide" Target="slides/slide47.xml"/>
  <Relationship Id="rId54" Type="http://schemas.openxmlformats.org/officeDocument/2006/relationships/slide" Target="slides/slide48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3763" cy="467072"/>
          </a:xfrm>
          <a:prstGeom prst="rect">
            <a:avLst/>
          </a:prstGeom>
        </p:spPr>
        <p:txBody>
          <a:bodyPr vert="horz" lIns="92930" tIns="46465" rIns="92930" bIns="46465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39466" y="0"/>
            <a:ext cx="3013763" cy="467072"/>
          </a:xfrm>
          <a:prstGeom prst="rect">
            <a:avLst/>
          </a:prstGeom>
        </p:spPr>
        <p:txBody>
          <a:bodyPr vert="horz" lIns="92930" tIns="46465" rIns="92930" bIns="46465" rtlCol="0"/>
          <a:lstStyle>
            <a:lvl1pPr algn="r">
              <a:defRPr sz="1200"/>
            </a:lvl1pPr>
          </a:lstStyle>
          <a:p>
            <a:fld id="{71B727E3-9991-4B0C-8167-23E35F3043C3}" type="datetimeFigureOut">
              <a:rPr lang="en-US" smtClean="0"/>
              <a:pPr/>
              <a:t>8/8/2026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84300" y="1163638"/>
            <a:ext cx="4186238" cy="31416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930" tIns="46465" rIns="92930" bIns="46465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95484" y="4480004"/>
            <a:ext cx="5563870" cy="3665458"/>
          </a:xfrm>
          <a:prstGeom prst="rect">
            <a:avLst/>
          </a:prstGeom>
        </p:spPr>
        <p:txBody>
          <a:bodyPr vert="horz" lIns="92930" tIns="46465" rIns="92930" bIns="46465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42030"/>
            <a:ext cx="3013763" cy="467071"/>
          </a:xfrm>
          <a:prstGeom prst="rect">
            <a:avLst/>
          </a:prstGeom>
        </p:spPr>
        <p:txBody>
          <a:bodyPr vert="horz" lIns="92930" tIns="46465" rIns="92930" bIns="46465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39466" y="8842030"/>
            <a:ext cx="3013763" cy="467071"/>
          </a:xfrm>
          <a:prstGeom prst="rect">
            <a:avLst/>
          </a:prstGeom>
        </p:spPr>
        <p:txBody>
          <a:bodyPr vert="horz" lIns="92930" tIns="46465" rIns="92930" bIns="46465" rtlCol="0" anchor="b"/>
          <a:lstStyle>
            <a:lvl1pPr algn="r">
              <a:defRPr sz="1200"/>
            </a:lvl1pPr>
          </a:lstStyle>
          <a:p>
            <a:fld id="{78B3C13F-8C70-4967-B114-F8782C3B91C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60108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6A3A6F-B049-4A3C-A314-6C5DC6ABA413}" type="datetime1">
              <a:rPr lang="en-US" smtClean="0"/>
              <a:pPr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6841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A0579-E4EA-4069-8E9E-A5661942CE83}" type="datetime1">
              <a:rPr lang="en-US" smtClean="0"/>
              <a:pPr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3546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AC4A0-A0AB-494A-9349-6940CE23F0BB}" type="datetime1">
              <a:rPr lang="en-US" smtClean="0"/>
              <a:pPr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23496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09F13F-E3C0-47E7-81E7-2D67CDFD97CE}" type="datetime1">
              <a:rPr lang="en-US" smtClean="0"/>
              <a:pPr/>
              <a:t>8/8/2026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83365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B4F48-C21C-4E8E-AA43-BB8E3BD2F306}" type="datetime1">
              <a:rPr lang="en-US" smtClean="0"/>
              <a:pPr/>
              <a:t>8/8/2026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3100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90D7BC-B940-4993-A11F-8FBB77BA204E}" type="datetime1">
              <a:rPr lang="en-US" smtClean="0"/>
              <a:pPr/>
              <a:t>8/8/2026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8748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94854-92A4-4BB6-9F1F-69BBC71788FF}" type="datetime1">
              <a:rPr lang="en-US" smtClean="0"/>
              <a:pPr/>
              <a:t>8/8/2026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5466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6CBDC-D391-4FA9-8D6F-9BC119CA0B97}" type="datetime1">
              <a:rPr lang="en-US" smtClean="0"/>
              <a:pPr/>
              <a:t>8/8/2026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602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F212E-DE5B-4D49-B277-6F5AF26D6AF0}" type="datetime1">
              <a:rPr lang="en-US" smtClean="0"/>
              <a:pPr/>
              <a:t>8/8/2026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1351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F1400-0AF8-4881-9500-1BCE077EF02C}" type="datetime1">
              <a:rPr lang="en-US" smtClean="0"/>
              <a:pPr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55042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20AC9-8025-43C3-9D7A-B30453D05E68}" type="datetime1">
              <a:rPr lang="en-US" smtClean="0"/>
              <a:pPr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3156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5C9A0F-356B-4543-BBC4-6729314C25D3}" type="datetime1">
              <a:rPr lang="en-US" smtClean="0"/>
              <a:pPr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1720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cribbr.com/research-process/research-question-examples/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www.tutorialspoint.com/sdlc/index.htm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2DwpAyzJrVQ" TargetMode="External"/><Relationship Id="rId2" Type="http://schemas.openxmlformats.org/officeDocument/2006/relationships/hyperlink" Target="https://www.youtube.com/watch?v=D6R7njeK-qg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geeksforgeeks.org/functional-vs-non-functional-requirements/" TargetMode="Externa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onlinelibrary.wiley.com/doi/pdf/10.1002/0470029757.app1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3" Type="http://schemas.openxmlformats.org/officeDocument/2006/relationships/image" Target="../media/image30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github.com/ashishpatel26/Tools-to-Design-or-Visualize-Architecture-of-Neural-Network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onlinelibrary.wiley.com/doi/pdf/10.1002/0470029757.app1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3" Type="http://schemas.openxmlformats.org/officeDocument/2006/relationships/image" Target="../media/image32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www.scribbr.com/citation/generator/apa/" TargetMode="Externa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1C46DB-D9D6-99F1-B8FD-FBA99021C9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457484"/>
            <a:ext cx="7772400" cy="884259"/>
          </a:xfrm>
        </p:spPr>
        <p:txBody>
          <a:bodyPr>
            <a:noAutofit/>
          </a:bodyPr>
          <a:lstStyle/>
          <a:p>
            <a:r>
              <a:rPr lang="en-US" sz="2800" b="1" dirty="0">
                <a:solidFill>
                  <a:srgbClr val="0070C0"/>
                </a:solidFill>
                <a:latin typeface="Calisto MT" panose="02040603050505030304" pitchFamily="18" charset="0"/>
                <a:cs typeface="JasmineUPC" panose="02020603050405020304" pitchFamily="18" charset="-34"/>
              </a:rPr>
              <a:t>3D-Chromatin-Aware Genomic Foundation Model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BD8221-192B-76DF-DF92-A9F15F8371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624" y="4516258"/>
            <a:ext cx="3675512" cy="1973635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2400" b="1" dirty="0">
                <a:solidFill>
                  <a:schemeClr val="accent2">
                    <a:lumMod val="75000"/>
                  </a:schemeClr>
                </a:solidFill>
                <a:latin typeface="Calisto MT" panose="02040603050505030304" pitchFamily="18" charset="0"/>
              </a:rPr>
              <a:t>Batch Members</a:t>
            </a:r>
          </a:p>
          <a:p>
            <a:pPr>
              <a:lnSpc>
                <a:spcPct val="110000"/>
              </a:lnSpc>
            </a:pPr>
            <a:r>
              <a:rPr lang="en-US" sz="1800" b="1" dirty="0">
                <a:latin typeface="Calisto MT" panose="02040603050505030304" pitchFamily="18" charset="0"/>
              </a:rPr>
              <a:t>P. Charan Sai (238W1A5447)</a:t>
            </a:r>
          </a:p>
          <a:p>
            <a:pPr>
              <a:lnSpc>
                <a:spcPct val="110000"/>
              </a:lnSpc>
            </a:pPr>
            <a:r>
              <a:rPr lang="en-US" sz="1800" b="1" dirty="0">
                <a:latin typeface="Calisto MT" panose="02040603050505030304" pitchFamily="18" charset="0"/>
              </a:rPr>
              <a:t>G. Karthik (248W5A5404)</a:t>
            </a:r>
          </a:p>
          <a:p>
            <a:pPr>
              <a:lnSpc>
                <a:spcPct val="110000"/>
              </a:lnSpc>
            </a:pPr>
            <a:r>
              <a:rPr lang="en-US" sz="1800" b="1" dirty="0">
                <a:latin typeface="Calisto MT" panose="02040603050505030304" pitchFamily="18" charset="0"/>
              </a:rPr>
              <a:t>P. Sanath (238W1A5446)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E82CFBC-36EF-B095-71E8-4AA9D64C0EFE}"/>
              </a:ext>
            </a:extLst>
          </p:cNvPr>
          <p:cNvSpPr txBox="1">
            <a:spLocks/>
          </p:cNvSpPr>
          <p:nvPr/>
        </p:nvSpPr>
        <p:spPr>
          <a:xfrm>
            <a:off x="4794945" y="4516258"/>
            <a:ext cx="4178431" cy="22202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000" b="1" dirty="0">
                <a:solidFill>
                  <a:schemeClr val="accent2">
                    <a:lumMod val="75000"/>
                  </a:schemeClr>
                </a:solidFill>
                <a:latin typeface="Calisto MT" panose="02040603050505030304" pitchFamily="18" charset="0"/>
              </a:rPr>
              <a:t>Under the Guidance of</a:t>
            </a:r>
          </a:p>
          <a:p>
            <a:r>
              <a:rPr lang="en-US" sz="1900" b="1" dirty="0">
                <a:latin typeface="Calisto MT" panose="02040603050505030304" pitchFamily="18" charset="0"/>
              </a:rPr>
              <a:t>Mrs. K. Divya Kothapali</a:t>
            </a:r>
          </a:p>
          <a:p>
            <a:r>
              <a:rPr lang="en-US" sz="1900" b="1" dirty="0">
                <a:latin typeface="Calisto MT" panose="02040603050505030304" pitchFamily="18" charset="0"/>
              </a:rPr>
              <a:t>Assistant Professor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6D2FCE7-A20E-157E-20FA-2B09A5121833}"/>
              </a:ext>
            </a:extLst>
          </p:cNvPr>
          <p:cNvSpPr txBox="1">
            <a:spLocks/>
          </p:cNvSpPr>
          <p:nvPr/>
        </p:nvSpPr>
        <p:spPr>
          <a:xfrm>
            <a:off x="685800" y="3293700"/>
            <a:ext cx="7772400" cy="79127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p>
            <a:pPr marL="0" lvl="0" indent="0" algn="ctr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23CS7552: B. Tech Mini Project </a:t>
            </a:r>
            <a:r>
              <a:rPr lang="en-US" sz="2000" b="1" dirty="0">
                <a:solidFill>
                  <a:srgbClr val="252525"/>
                </a:solidFill>
                <a:latin typeface="Calisto MT" panose="02040603050505030304" pitchFamily="18" charset="0"/>
              </a:rPr>
              <a:t>(End Sem. Review)</a:t>
            </a:r>
          </a:p>
          <a:p>
            <a:pPr marL="0" lvl="0" indent="0" algn="ctr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November 20, 2026</a:t>
            </a:r>
          </a:p>
          <a:p>
            <a:pPr marL="0" lvl="0" indent="0" algn="ctr">
              <a:buNone/>
            </a:pP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Batch No: __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0E7157D-0ED4-652A-8A59-DCC1031DA9E7}"/>
              </a:ext>
            </a:extLst>
          </p:cNvPr>
          <p:cNvSpPr txBox="1">
            <a:spLocks/>
          </p:cNvSpPr>
          <p:nvPr/>
        </p:nvSpPr>
        <p:spPr>
          <a:xfrm>
            <a:off x="906670" y="60484"/>
            <a:ext cx="7126664" cy="112599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b="1" dirty="0">
                <a:latin typeface="Calisto MT" panose="02040603050505030304" pitchFamily="18" charset="0"/>
                <a:cs typeface="JasmineUPC" panose="02020603050405020304" pitchFamily="18" charset="-34"/>
              </a:rPr>
              <a:t>VR SIDDHARTHA ENGINEERING COLLEGE, VIJAYAWADA</a:t>
            </a:r>
          </a:p>
          <a:p>
            <a:r>
              <a:rPr lang="en-US" sz="2000" b="1" dirty="0">
                <a:latin typeface="Calisto MT" panose="02040603050505030304" pitchFamily="18" charset="0"/>
                <a:cs typeface="JasmineUPC" panose="02020603050405020304" pitchFamily="18" charset="-34"/>
              </a:rPr>
              <a:t>Department of Computer Science and Engineering</a:t>
            </a:r>
          </a:p>
        </p:txBody>
      </p:sp>
      <p:pic>
        <p:nvPicPr>
          <p:cNvPr id="11" name="Picture 10" descr="A picture containing diagram&#10;&#10;Description automatically generated">
            <a:extLst>
              <a:ext uri="{FF2B5EF4-FFF2-40B4-BE49-F238E27FC236}">
                <a16:creationId xmlns:a16="http://schemas.microsoft.com/office/drawing/2014/main" id="{2F0778DE-E80B-339F-BA7E-B056A92517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778" y="161404"/>
            <a:ext cx="950349" cy="1118057"/>
          </a:xfrm>
          <a:prstGeom prst="rect">
            <a:avLst/>
          </a:prstGeom>
        </p:spPr>
      </p:pic>
      <p:pic>
        <p:nvPicPr>
          <p:cNvPr id="13" name="Picture 12" descr="Logo&#10;&#10;Description automatically generated">
            <a:extLst>
              <a:ext uri="{FF2B5EF4-FFF2-40B4-BE49-F238E27FC236}">
                <a16:creationId xmlns:a16="http://schemas.microsoft.com/office/drawing/2014/main" id="{1D9962D5-2778-4C7F-FC4C-2CB25B3178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8301" y="153465"/>
            <a:ext cx="1118057" cy="1118057"/>
          </a:xfrm>
          <a:prstGeom prst="rect">
            <a:avLst/>
          </a:prstGeom>
        </p:spPr>
      </p:pic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6C680849-8AC5-7306-7F26-02AD56BFE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2637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4298"/>
            <a:ext cx="7886700" cy="709530"/>
          </a:xfrm>
        </p:spPr>
        <p:txBody>
          <a:bodyPr/>
          <a:lstStyle/>
          <a:p>
            <a:r>
              <a:rPr lang="en-US" sz="3600" b="1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Abstract</a:t>
            </a:r>
            <a:endParaRPr lang="en-US" b="1" dirty="0">
              <a:solidFill>
                <a:schemeClr val="accent2">
                  <a:lumMod val="50000"/>
                </a:schemeClr>
              </a:solidFill>
              <a:latin typeface="Calisto MT" panose="0204060305050503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49" y="1046376"/>
            <a:ext cx="8062863" cy="5253135"/>
          </a:xfrm>
        </p:spPr>
        <p:txBody>
          <a:bodyPr>
            <a:normAutofit/>
          </a:bodyPr>
          <a:lstStyle/>
          <a:p>
            <a:pPr marL="0" lvl="0" indent="0" algn="just">
              <a:spcAft>
                <a:spcPts val="800"/>
              </a:spcAft>
              <a:buNone/>
            </a:pP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Genomic foundation models such as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Evo 2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and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Caduceus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learn powerful representations of DNA, yet they read the genome as a one-dimensional string. Inside the nucleus, chromatin folds into compartments,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topologically associating domains (TADs)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and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loops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that physically decide which enhancers can reach which promoters — and recent probing shows that even a 7-billion-parameter sequence-only model fails to capture this higher-order organization. Existing structure-aware methods bolt a graph module onto an already-trained encoder (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CHROME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) or align embeddings to Hi-C patches by contrastive distillation (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Evo2HiC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); in no published model does 3D structure shape a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self-supervised pretraining objective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over nucleotides. This project fills that gap: a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bidirectional Mamba DNA language model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whose recurrence is modulated by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Hi-C-derived structural features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, so that structure controls how far information propagates during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masked-token pretraining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. On a GM12878 chromosome-9 pilot, the model is compared against sequence-only, post-hoc and distillation arms at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matched parameters (+0.43%) and compute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, with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shuffled-structure controls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verifying that gains reflect genuine 3D structure rather than genomic distance.</a:t>
            </a:r>
          </a:p>
          <a:p>
            <a:pPr marL="0" lvl="0" indent="0" algn="just">
              <a:buNone/>
            </a:pPr>
            <a:r>
              <a:rPr lang="en-US" sz="1500" b="1" dirty="0">
                <a:solidFill>
                  <a:srgbClr val="833C00"/>
                </a:solidFill>
                <a:latin typeface="Calisto MT" panose="02040603050505030304" pitchFamily="18" charset="0"/>
              </a:rPr>
              <a:t xml:space="preserve">Keywords: </a:t>
            </a:r>
            <a:r>
              <a:rPr lang="en-US" sz="1500" i="1" dirty="0">
                <a:solidFill>
                  <a:srgbClr val="252525"/>
                </a:solidFill>
                <a:latin typeface="Calisto MT" panose="02040603050505030304" pitchFamily="18" charset="0"/>
              </a:rPr>
              <a:t>genomic foundation model; 3D chromatin structure; Hi-C; topologically associating domains; state space models (Mamba); self-supervised pretraining; variant effect prediction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E3089C-7D4B-76D0-EDD6-D1FEEE855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3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56800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5352" y="120030"/>
            <a:ext cx="7886700" cy="549273"/>
          </a:xfrm>
        </p:spPr>
        <p:txBody>
          <a:bodyPr>
            <a:normAutofit fontScale="90000"/>
          </a:bodyPr>
          <a:lstStyle/>
          <a:p>
            <a:r>
              <a:rPr lang="en-US" sz="4000" b="1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Presentation Outline</a:t>
            </a:r>
            <a:endParaRPr lang="en-US" sz="4000" b="1" dirty="0">
              <a:solidFill>
                <a:schemeClr val="accent2">
                  <a:lumMod val="50000"/>
                </a:schemeClr>
              </a:solidFill>
              <a:latin typeface="Calisto MT" panose="0204060305050503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5352" y="687062"/>
            <a:ext cx="8634953" cy="5851851"/>
          </a:xfrm>
        </p:spPr>
        <p:txBody>
          <a:bodyPr numCol="2">
            <a:normAutofit fontScale="25000" lnSpcReduction="20000"/>
          </a:bodyPr>
          <a:lstStyle/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1. Research Domain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2. SDG Categories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3. Aim and Motivation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4. Research Questions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5. Title Justification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6. Objectives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7. Scope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8. Timeline Chart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9. Introduction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     9.1. The 3D Genome and Hi-C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     9.2. Genomic FMs and SSMs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10. Study on Existing Technologies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11. Gap Analysis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12. SDLC Model (ML Life Cycle)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13. Functional and Non-Functional Requirements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14. Data Collection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15. Data Preparation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16. Proposed Methodology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     16.1. Proposed System Architecture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     16.2. Different Modules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     16.3. Proposed Model and Algorithm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17. Results and Discussion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     17.1. Experimental Setup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     17.2. Results and Analysis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     17.3. Comparison with Previous Work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18. Project Outcomes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19. Conclusion and Future Work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References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1C3DE6-22F4-4655-E43D-E5183840B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4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75980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CE336-ABF5-A846-DE08-38640CE552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00ACF-C0A4-F059-E3E6-80EBC5505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1. Research Domain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A4AD35-D206-4743-0207-C6CD2E7947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9643" y="772015"/>
            <a:ext cx="8314441" cy="5870705"/>
          </a:xfrm>
        </p:spPr>
        <p:txBody>
          <a:bodyPr numCol="1">
            <a:normAutofit/>
          </a:bodyPr>
          <a:lstStyle/>
          <a:p>
            <a:pPr lvl="0" algn="just">
              <a:spcAft>
                <a:spcPts val="700"/>
              </a:spcAft>
            </a:pPr>
            <a:r>
              <a:rPr lang="en-US" sz="20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Primary Domain: </a:t>
            </a:r>
            <a:r>
              <a:rPr lang="en-US" sz="20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Artificial Intelligence and Machine Learning — Foundation Models and Self-Supervised Learning</a:t>
            </a:r>
          </a:p>
          <a:p>
            <a:pPr lvl="0" algn="just">
              <a:spcAft>
                <a:spcPts val="700"/>
              </a:spcAft>
            </a:pPr>
            <a:r>
              <a:rPr lang="en-US" sz="20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Sub-Domain: </a:t>
            </a:r>
            <a:r>
              <a:rPr lang="en-US" sz="20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Computational Genomics and Long-Range DNA Sequence Modeling with State Space Models (Mamba/SSM)</a:t>
            </a:r>
          </a:p>
          <a:p>
            <a:pPr lvl="0" algn="just">
              <a:spcAft>
                <a:spcPts val="700"/>
              </a:spcAft>
            </a:pPr>
            <a:r>
              <a:rPr lang="en-US" sz="20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Application Area: </a:t>
            </a:r>
            <a:r>
              <a:rPr lang="en-US" sz="20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Regulatory genomics — enhancer–promoter interaction, regulatory element association — and clinical variant-effect interpretation (ClinVar)</a:t>
            </a:r>
          </a:p>
          <a:p>
            <a:pPr lvl="0" algn="just"/>
            <a:r>
              <a:rPr lang="en-US" sz="20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Interdisciplinary basis: </a:t>
            </a:r>
            <a:r>
              <a:rPr lang="en-US" sz="20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3D genome biology (Hi-C, TADs, chromatin loops) supplies the structural signal that the machine-learning contribution conditions on.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DCD8A0-D22F-28CB-6DA4-2B5A203C9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5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74770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0B8B0-6FA6-1A9D-CBD0-94855C5A2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4B460-8C98-C0EC-7B6F-08A2E00DE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2. SDG Categories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AEBAAF-ACF3-ADF2-52AE-8053652744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867265"/>
            <a:ext cx="8314441" cy="5870705"/>
          </a:xfrm>
        </p:spPr>
        <p:txBody>
          <a:bodyPr numCol="1">
            <a:normAutofit/>
          </a:bodyPr>
          <a:lstStyle/>
          <a:p>
            <a:pPr marL="0" lvl="0" indent="0" algn="l">
              <a:spcAft>
                <a:spcPts val="400"/>
              </a:spcAft>
              <a:buNone/>
            </a:pPr>
            <a:r>
              <a:rPr lang="en-US" sz="2000" b="1" i="1" dirty="0">
                <a:solidFill>
                  <a:srgbClr val="C00000"/>
                </a:solidFill>
                <a:latin typeface="Calisto MT" panose="02040603050505030304" pitchFamily="18" charset="0"/>
              </a:rPr>
              <a:t>Mapped SDGs</a:t>
            </a:r>
          </a:p>
          <a:p>
            <a:pPr marL="457200" lvl="0" indent="-457200" algn="just">
              <a:spcAft>
                <a:spcPts val="500"/>
              </a:spcAft>
              <a:buFont typeface="+mj-lt"/>
              <a:buAutoNum type="arabicPeriod"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SDG 3 — Good Health and Well-Being: </a:t>
            </a: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improved interpretation of non-coding and pathogenic variants (ClinVar evaluation) supports precision-medicine and disease-mechanism research.</a:t>
            </a:r>
          </a:p>
          <a:p>
            <a:pPr marL="457200" lvl="0" indent="-457200" algn="just">
              <a:spcAft>
                <a:spcPts val="500"/>
              </a:spcAft>
              <a:buFont typeface="+mj-lt"/>
              <a:buAutoNum type="arabicPeriod"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SDG 9 — Industry, Innovation and Infrastructure: </a:t>
            </a: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open, reproducible AI research infrastructure — released pipeline, data card and matched-compute benchmark protocol.</a:t>
            </a:r>
          </a:p>
          <a:p>
            <a:pPr marL="0" lvl="0" indent="0" algn="just">
              <a:buNone/>
            </a:pPr>
            <a:r>
              <a:rPr lang="en-US" sz="1300" i="1" dirty="0">
                <a:solidFill>
                  <a:srgbClr val="252525"/>
                </a:solidFill>
                <a:latin typeface="Calisto MT" panose="02040603050505030304" pitchFamily="18" charset="0"/>
              </a:rPr>
              <a:t>Only SDGs directly aligned with the project objectives and outcomes are claimed.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CB90BE-2D81-5E43-3A1E-442D1D8B5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6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0F15D0-BE51-3FBD-56FD-F97A2B9123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012" y="3119552"/>
            <a:ext cx="5895975" cy="3601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77903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3. Aim and 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867265"/>
            <a:ext cx="8314441" cy="5870705"/>
          </a:xfrm>
        </p:spPr>
        <p:txBody>
          <a:bodyPr numCol="1">
            <a:normAutofit/>
          </a:bodyPr>
          <a:lstStyle/>
          <a:p>
            <a:pPr marL="0" lvl="0" indent="0" algn="l">
              <a:spcAft>
                <a:spcPts val="400"/>
              </a:spcAft>
              <a:buNone/>
            </a:pPr>
            <a:r>
              <a:rPr lang="en-US" sz="2200" b="1" i="1" dirty="0">
                <a:solidFill>
                  <a:srgbClr val="C00000"/>
                </a:solidFill>
                <a:latin typeface="Calisto MT" panose="02040603050505030304" pitchFamily="18" charset="0"/>
              </a:rPr>
              <a:t>Aim</a:t>
            </a:r>
          </a:p>
          <a:p>
            <a:pPr marL="0" lvl="0" indent="0" algn="just">
              <a:spcAft>
                <a:spcPts val="700"/>
              </a:spcAft>
              <a:buNone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To build and evaluate a </a:t>
            </a: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genomic foundation model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whose </a:t>
            </a: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self-supervised pretraining is conditioned on 3D chromatin structure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(Hi-C), so that structural information shapes the learned sequence representation itself — not merely a layer added after training.</a:t>
            </a:r>
          </a:p>
          <a:p>
            <a:pPr marL="0" lvl="0" indent="0" algn="l">
              <a:spcAft>
                <a:spcPts val="400"/>
              </a:spcAft>
              <a:buNone/>
            </a:pPr>
            <a:r>
              <a:rPr lang="en-US" sz="2200" b="1" i="1" dirty="0">
                <a:solidFill>
                  <a:srgbClr val="C00000"/>
                </a:solidFill>
                <a:latin typeface="Calisto MT" panose="02040603050505030304" pitchFamily="18" charset="0"/>
              </a:rPr>
              <a:t>Motivation</a:t>
            </a:r>
          </a:p>
          <a:p>
            <a:pPr marL="457200" lvl="0" indent="-457200" algn="just">
              <a:spcAft>
                <a:spcPts val="60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The genome operates in 3D: </a:t>
            </a: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TADs and loops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physically decide which enhancers reach which promoters.</a:t>
            </a:r>
          </a:p>
          <a:p>
            <a:pPr marL="457200" lvl="0" indent="-457200" algn="just">
              <a:spcAft>
                <a:spcPts val="60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Current genomic FMs read DNA as a 1D string — and </a:t>
            </a: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Evo 2-7B provably misses TAD/loop-scale organization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despite 9.3T training tokens.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Existing fixes are </a:t>
            </a: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post-hoc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(CHROME) or </a:t>
            </a: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embedding alignment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(Evo2HiC) — the pretraining objective itself has never seen structure.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7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86371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71961"/>
            <a:ext cx="8738648" cy="634115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4. Research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377" y="631596"/>
            <a:ext cx="8578391" cy="6106375"/>
          </a:xfrm>
        </p:spPr>
        <p:txBody>
          <a:bodyPr numCol="1">
            <a:normAutofit/>
          </a:bodyPr>
          <a:lstStyle/>
          <a:p>
            <a:pPr marL="457200" lvl="0" indent="-457200" algn="just">
              <a:spcAft>
                <a:spcPts val="90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Does conditioning self-supervised masked-token pretraining on Hi-C-derived structural features improve a DNA language model over a sequence-only baseline at matched parameters and compute?</a:t>
            </a:r>
          </a:p>
          <a:p>
            <a:pPr marL="457200" lvl="0" indent="-457200" algn="just">
              <a:spcAft>
                <a:spcPts val="90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Does structure entering the SSM recurrence during pretraining outperform post-hoc integration (CHROME-style) and contrastive distillation (Evo2HiC-style) on regulatory and variant-effect transfer tasks?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Are the observed gains attributable to genuine locus-specific 3D structure rather than to genomic distance decay — i.e., do shuffled-structure and distance-matched controls (S0–S3) degrade performance?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8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11460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5. Title Justification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867265"/>
            <a:ext cx="8314441" cy="5870705"/>
          </a:xfrm>
        </p:spPr>
        <p:txBody>
          <a:bodyPr numCol="1">
            <a:normAutofit/>
          </a:bodyPr>
          <a:lstStyle/>
          <a:p>
            <a:pPr marL="457200" lvl="0" indent="-457200" algn="just">
              <a:spcAft>
                <a:spcPts val="700"/>
              </a:spcAft>
              <a:buFont typeface="+mj-lt"/>
              <a:buAutoNum type="arabicPeriod"/>
            </a:pP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"3D-Chromatin-Aware"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— the model consumes measured Hi-C contact structure (insulation, directionality, contact density, A/B compartments), not just the linear sequence.</a:t>
            </a:r>
          </a:p>
          <a:p>
            <a:pPr marL="457200" lvl="0" indent="-457200" algn="just">
              <a:spcAft>
                <a:spcPts val="700"/>
              </a:spcAft>
              <a:buFont typeface="+mj-lt"/>
              <a:buAutoNum type="arabicPeriod"/>
            </a:pP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"Genomic"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— it operates on nucleotide-resolution DNA, where CTCF motif orientation — the actual loop grammar — is representable (impossible at CHROME’s 5 kb bins).</a:t>
            </a:r>
          </a:p>
          <a:p>
            <a:pPr marL="457200" lvl="0" indent="-457200" algn="just">
              <a:spcAft>
                <a:spcPts val="700"/>
              </a:spcAft>
              <a:buFont typeface="+mj-lt"/>
              <a:buAutoNum type="arabicPeriod"/>
            </a:pP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"Foundation Model"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— general-purpose self-supervised pretraining evaluated by transfer, unlike supervised single-task predictors (Akita, Orca, CHROME).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The title states the mechanism precisely: awareness of 3D chromatin </a:t>
            </a: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during pretraining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is what no alternative title in this space already covers.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9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63011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6.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867265"/>
            <a:ext cx="8314441" cy="5870705"/>
          </a:xfrm>
        </p:spPr>
        <p:txBody>
          <a:bodyPr numCol="1">
            <a:normAutofit/>
          </a:bodyPr>
          <a:lstStyle/>
          <a:p>
            <a:pPr marL="457200" lvl="0" indent="-457200" algn="just">
              <a:spcAft>
                <a:spcPts val="80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To construct a paired sequence + Hi-C pilot dataset (GM12878, chr9, GRCh38) with an 8-feature per-bin structural vector validated against independent 4D Nucleome tracks (target r &gt; 0.95).</a:t>
            </a:r>
          </a:p>
          <a:p>
            <a:pPr marL="457200" lvl="0" indent="-457200" algn="just">
              <a:spcAft>
                <a:spcPts val="80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To design and implement a structural-bias mechanism inside a bidirectional Mamba recurrence, matching the sequence-only baseline’s parameter count within 5% (achieved: +0.43%).</a:t>
            </a:r>
          </a:p>
          <a:p>
            <a:pPr marL="457200" lvl="0" indent="-457200" algn="just">
              <a:spcAft>
                <a:spcPts val="80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To pretrain and compare four matched arms — sequence-only, CHROME-style post-hoc, Evo2HiC-style distillation, and the proposed model — with at least 3 seeds per configuration.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To verify via shuffled-structure controls (S0–S3) that any gain derives from genuine 3D structure, and to evaluate transfer on DNALongBench-style regulatory and variant tasks.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10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10887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7. 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1018094"/>
            <a:ext cx="8314441" cy="5338257"/>
          </a:xfrm>
        </p:spPr>
        <p:txBody>
          <a:bodyPr numCol="1">
            <a:normAutofit/>
          </a:bodyPr>
          <a:lstStyle/>
          <a:p>
            <a:pPr marL="457200" lvl="0" indent="-457200" algn="just">
              <a:spcAft>
                <a:spcPts val="90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The pilot is restricted to one chromosome of one cell line of one species — human GM12878, chr9, 5 kb Hi-C resolution; every claim inherits this limitation and is stated accordingly.</a:t>
            </a:r>
          </a:p>
          <a:p>
            <a:pPr marL="457200" lvl="0" indent="-457200" algn="just">
              <a:spcAft>
                <a:spcPts val="90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Model scale is bounded by the available compute (2× NVIDIA L40S, 96 GB total): a ~7.7 M-parameter backbone on 32,768-bp windows — the small-model regime, not a 7B-scale reproduction.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Evaluation covers masked-token loss plus selected regulatory/variant transfer tasks; cross-species modeling (DNA Zoo) and genome-wide scaling are explicitly out of scope for this phase.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11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47448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9047" y="270858"/>
            <a:ext cx="8006303" cy="549273"/>
          </a:xfrm>
        </p:spPr>
        <p:txBody>
          <a:bodyPr>
            <a:normAutofit fontScale="90000"/>
          </a:bodyPr>
          <a:lstStyle/>
          <a:p>
            <a:r>
              <a:rPr lang="en-US" sz="4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8. Timeline Chart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2232" y="950000"/>
            <a:ext cx="8564253" cy="400000"/>
          </a:xfrm>
        </p:spPr>
        <p:txBody>
          <a:bodyPr numCol="1">
            <a:normAutofit fontScale="92500" lnSpcReduction="20000"/>
          </a:bodyPr>
          <a:lstStyle/>
          <a:p>
            <a:pPr marL="0" lvl="0" indent="0" algn="ctr">
              <a:buNone/>
            </a:pPr>
            <a:r>
              <a:rPr lang="en-US" sz="1400" b="1" dirty="0">
                <a:solidFill>
                  <a:srgbClr val="252525"/>
                </a:solidFill>
                <a:latin typeface="Calisto MT" panose="02040603050505030304" pitchFamily="18" charset="0"/>
              </a:rPr>
              <a:t>Table 1. Timeline chart for the Mini Project work (August – November 2026)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12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  <p:graphicFrame>
        <p:nvGraphicFramePr>
          <p:cNvPr id="950" name="Table 950"/>
          <p:cNvGraphicFramePr>
            <a:graphicFrameLocks noGrp="1"/>
          </p:cNvGraphicFramePr>
          <p:nvPr/>
        </p:nvGraphicFramePr>
        <p:xfrm>
          <a:off x="962000" y="1450000"/>
          <a:ext cx="7220000" cy="473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60000"/>
                <a:gridCol w="3340000"/>
                <a:gridCol w="830000"/>
                <a:gridCol w="830000"/>
                <a:gridCol w="830000"/>
                <a:gridCol w="830000"/>
              </a:tblGrid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2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S. No.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2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Action Plan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2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AUG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2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SEP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2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OCT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2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NOV</a:t>
                      </a:r>
                    </a:p>
                  </a:txBody>
                  <a:tcPr marL="36576" marR="36576" marT="18288" marB="18288" anchor="ctr"/>
                </a:tc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1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Literature survey and gap analysis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2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Pilot data acquisition (Hi-C + genome + GTF)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3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Structural features (φ) and validation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4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Mechanism design and architecture spec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5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Model implementation and unit tests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6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Baseline and comparison-arm training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7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Ablations (S0–S3) and downstream evaluation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8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Results analysis and comparison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9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Report writing and paper draft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10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Project reviews (0th / 1st / 2nd / End Sem.)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9C3D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9C3D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9C3D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9C3D2E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6174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28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9.1. Introduction — The 3D Genome and Hi-C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2675" y="763571"/>
            <a:ext cx="8738647" cy="5974399"/>
          </a:xfrm>
        </p:spPr>
        <p:txBody>
          <a:bodyPr numCol="1">
            <a:normAutofit/>
          </a:bodyPr>
          <a:lstStyle/>
          <a:p>
            <a:pPr marL="457200" lvl="0" indent="-457200" algn="just">
              <a:spcAft>
                <a:spcPts val="700"/>
              </a:spcAft>
              <a:buFont typeface="+mj-lt"/>
              <a:buAutoNum type="arabicPeriod"/>
            </a:pP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Two metres of DNA fold into a ~10 μm nucleus — the genome is a </a:t>
            </a:r>
            <a:r>
              <a:rPr lang="en-US" sz="1700" b="1" dirty="0">
                <a:solidFill>
                  <a:srgbClr val="252525"/>
                </a:solidFill>
                <a:latin typeface="Calisto MT" panose="02040603050505030304" pitchFamily="18" charset="0"/>
              </a:rPr>
              <a:t>3D object read as 1D text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>.</a:t>
            </a:r>
          </a:p>
          <a:p>
            <a:pPr marL="457200" lvl="0" indent="-457200" algn="just">
              <a:spcAft>
                <a:spcPts val="700"/>
              </a:spcAft>
              <a:buFont typeface="+mj-lt"/>
              <a:buAutoNum type="arabicPeriod"/>
            </a:pPr>
            <a:r>
              <a:rPr lang="en-US" sz="1700" b="1" dirty="0">
                <a:solidFill>
                  <a:srgbClr val="252525"/>
                </a:solidFill>
                <a:latin typeface="Calisto MT" panose="02040603050505030304" pitchFamily="18" charset="0"/>
              </a:rPr>
              <a:t>Hi-C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(Lieberman-Aiden et al., 2009) [1] crosslinks spatially close loci and sequences the ligation junctions, producing a genome-wide </a:t>
            </a:r>
            <a:r>
              <a:rPr lang="en-US" sz="1700" b="1" dirty="0">
                <a:solidFill>
                  <a:srgbClr val="252525"/>
                </a:solidFill>
                <a:latin typeface="Calisto MT" panose="02040603050505030304" pitchFamily="18" charset="0"/>
              </a:rPr>
              <a:t>contact matrix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>.</a:t>
            </a:r>
          </a:p>
          <a:p>
            <a:pPr marL="457200" lvl="0" indent="-457200" algn="just">
              <a:spcAft>
                <a:spcPts val="700"/>
              </a:spcAft>
              <a:buFont typeface="+mj-lt"/>
              <a:buAutoNum type="arabicPeriod"/>
            </a:pP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Contact maps reveal a hierarchy: </a:t>
            </a:r>
            <a:r>
              <a:rPr lang="en-US" sz="1700" b="1" dirty="0">
                <a:solidFill>
                  <a:srgbClr val="252525"/>
                </a:solidFill>
                <a:latin typeface="Calisto MT" panose="02040603050505030304" pitchFamily="18" charset="0"/>
              </a:rPr>
              <a:t>A/B compartments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; </a:t>
            </a:r>
            <a:r>
              <a:rPr lang="en-US" sz="1700" b="1" dirty="0">
                <a:solidFill>
                  <a:srgbClr val="252525"/>
                </a:solidFill>
                <a:latin typeface="Calisto MT" panose="02040603050505030304" pitchFamily="18" charset="0"/>
              </a:rPr>
              <a:t>TADs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— megabase-scale self-interacting domains, largely cell-type invariant (Dixon et al., 2012) [2]; and </a:t>
            </a:r>
            <a:r>
              <a:rPr lang="en-US" sz="1700" b="1" dirty="0">
                <a:solidFill>
                  <a:srgbClr val="252525"/>
                </a:solidFill>
                <a:latin typeface="Calisto MT" panose="02040603050505030304" pitchFamily="18" charset="0"/>
              </a:rPr>
              <a:t>loops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joining promoter–enhancer pairs (Rao et al., 2014) [3].</a:t>
            </a:r>
          </a:p>
          <a:p>
            <a:pPr marL="457200" lvl="0" indent="-457200" algn="just">
              <a:spcAft>
                <a:spcPts val="700"/>
              </a:spcAft>
              <a:buFont typeface="+mj-lt"/>
              <a:buAutoNum type="arabicPeriod"/>
            </a:pP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Loop anchors bind CTCF in </a:t>
            </a:r>
            <a:r>
              <a:rPr lang="en-US" sz="1700" b="1" dirty="0">
                <a:solidFill>
                  <a:srgbClr val="252525"/>
                </a:solidFill>
                <a:latin typeface="Calisto MT" panose="02040603050505030304" pitchFamily="18" charset="0"/>
              </a:rPr>
              <a:t>convergent orientation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— a sequence-level grammar of 3D folding, visible only at nucleotide resolution.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TAD invariance across cell types is what makes a </a:t>
            </a:r>
            <a:r>
              <a:rPr lang="en-US" sz="1700" b="1" dirty="0">
                <a:solidFill>
                  <a:srgbClr val="252525"/>
                </a:solidFill>
                <a:latin typeface="Calisto MT" panose="02040603050505030304" pitchFamily="18" charset="0"/>
              </a:rPr>
              <a:t>pretraining-time structural prior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defensible: it is genome-intrinsic signal, not a cell-line artifact.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13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69150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-51079"/>
            <a:ext cx="8738648" cy="747237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10. Study on Existing Technologies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584462"/>
            <a:ext cx="8314441" cy="6273538"/>
          </a:xfrm>
        </p:spPr>
        <p:txBody>
          <a:bodyPr numCol="1">
            <a:normAutofit fontScale="85000" lnSpcReduction="20000"/>
          </a:bodyPr>
          <a:lstStyle/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Title: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A 3D Map of the Human Genome at Kilobase Resolution Reveals Principles of Chromatin Looping [3]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Journal Details: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Cell, Vol. 159, Issue 7, Elsevier, 2014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Dataset: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In situ Hi-C, 9 human cell types; GM12878 map with ~4.9B contacts at 1 kb resolution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Description:</a:t>
            </a:r>
          </a:p>
          <a:p>
            <a:pPr marL="0" lvl="0" indent="0" algn="just">
              <a:spcAft>
                <a:spcPts val="400"/>
              </a:spcAft>
              <a:buNone/>
            </a:pP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Introduced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in situ Hi-C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at kilobase resolution; identified ~10,000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chromatin loops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, contact domains (median ~185 kb) and six subcompartments. Loop anchors bind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CTCF in convergent orientation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— the sequence-level mechanism of loop formation. The GM12878 map is the densest public human Hi-C dataset and is this project’s pilot data source.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Gaps Addressed: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First kilobase-resolution genome-wide map of 3D genome folding.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Established loops and CTCF convergence as reproducible structural units.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Limitations: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Bulk, population-averaged contacts — no single-cell heterogeneity.</a:t>
            </a:r>
          </a:p>
          <a:p>
            <a:pPr marL="457200" lvl="0" indent="-457200" algn="just">
              <a:spcAft>
                <a:spcPts val="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Descriptive assay only: no predictive model linking sequence to structure.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14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68250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-42585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10. Study on Existing Technologies —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2232" y="620000"/>
            <a:ext cx="8564253" cy="350000"/>
          </a:xfrm>
        </p:spPr>
        <p:txBody>
          <a:bodyPr numCol="1">
            <a:normAutofit/>
          </a:bodyPr>
          <a:lstStyle/>
          <a:p>
            <a:pPr marL="0" lvl="0" indent="0" algn="ctr">
              <a:buNone/>
            </a:pPr>
            <a:r>
              <a:rPr lang="en-US" sz="1400" b="1" dirty="0">
                <a:solidFill>
                  <a:srgbClr val="252525"/>
                </a:solidFill>
                <a:latin typeface="Calisto MT" panose="02040603050505030304" pitchFamily="18" charset="0"/>
              </a:rPr>
              <a:t>Table 2. Summary of existing implementations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16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  <p:graphicFrame>
        <p:nvGraphicFramePr>
          <p:cNvPr id="951" name="Table 951"/>
          <p:cNvGraphicFramePr>
            <a:graphicFrameLocks noGrp="1"/>
          </p:cNvGraphicFramePr>
          <p:nvPr/>
        </p:nvGraphicFramePr>
        <p:xfrm>
          <a:off x="292232" y="1010000"/>
          <a:ext cx="8564253" cy="517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20000"/>
                <a:gridCol w="1710000"/>
                <a:gridCol w="1210000"/>
                <a:gridCol w="1500000"/>
                <a:gridCol w="1930000"/>
                <a:gridCol w="1794253"/>
              </a:tblGrid>
              <a:tr h="47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No.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Article / Model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Venue, Year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Data structure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Gap addressed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Limitation</a:t>
                      </a:r>
                    </a:p>
                  </a:txBody>
                  <a:tcPr marL="36576" marR="36576" marT="18288" marB="18288" anchor="ctr"/>
                </a:tc>
              </a:tr>
              <a:tr h="47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1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Rao et al. (in situ Hi-C) [3]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Cell, 2014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Hi-C, 9 cell types, 1 kb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Kilobase 3D map; loops + CTCF convergence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Bulk averages; descriptive only</a:t>
                      </a:r>
                    </a:p>
                  </a:txBody>
                  <a:tcPr marL="36576" marR="36576" marT="18288" marB="18288" anchor="ctr"/>
                </a:tc>
              </a:tr>
              <a:tr h="47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2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Caduceus (BiMamba) [4]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ICML, 2024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Sequence only (hg38)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Linear-time bidirectional RC-aware DNA LM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 structure at any stage</a:t>
                      </a:r>
                    </a:p>
                  </a:txBody>
                  <a:tcPr marL="36576" marR="36576" marT="18288" marB="18288" anchor="ctr"/>
                </a:tc>
              </a:tr>
              <a:tr h="47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3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Evo 2 (StripedHyena 2) [5]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Nature, 2026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Sequence only, 9.3T tokens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1M-token context; strongest sequence-only FM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Misses TAD/loop organization [13]</a:t>
                      </a:r>
                    </a:p>
                  </a:txBody>
                  <a:tcPr marL="36576" marR="36576" marT="18288" marB="18288" anchor="ctr"/>
                </a:tc>
              </a:tr>
              <a:tr h="47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4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HiCFoundation [6]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Nat. Methods, 2026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Hi-C only, 81 cell lines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Generalizable Hi-C foundation model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 sequence; cannot score variants</a:t>
                      </a:r>
                    </a:p>
                  </a:txBody>
                  <a:tcPr marL="36576" marR="36576" marT="18288" marB="18288" anchor="ctr"/>
                </a:tc>
              </a:tr>
              <a:tr h="47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5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Hi-Cformer [7]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bioRxiv, 2025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scHi-C only, 1 Mb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Multi-scale scHi-C representation (MLM)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 sequence; cell-level scope</a:t>
                      </a:r>
                    </a:p>
                  </a:txBody>
                  <a:tcPr marL="36576" marR="36576" marT="18288" marB="18288" anchor="ctr"/>
                </a:tc>
              </a:tr>
              <a:tr h="47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6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GraphReg (GAT) [8]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Genome Res., 2022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Seq. features + graph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Enhancer→gene attribution via attention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Supervised downstream only</a:t>
                      </a:r>
                    </a:p>
                  </a:txBody>
                  <a:tcPr marL="36576" marR="36576" marT="18288" marB="18288" anchor="ctr"/>
                </a:tc>
              </a:tr>
              <a:tr h="47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7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CHROME (GAT) [9]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Brief. Bioinf., 2026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Sequence + Hi-C graph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Non-random contact filtering; ClinVar/eQTL gains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Structure post-hoc; graph needed at inference</a:t>
                      </a:r>
                    </a:p>
                  </a:txBody>
                  <a:tcPr marL="36576" marR="36576" marT="18288" marB="18288" anchor="ctr"/>
                </a:tc>
              </a:tr>
              <a:tr h="47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8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Evo2HiC (distillation) [10]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bioRxiv, 2025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Sequence + Hi-C patches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Hi-C shapes a sequence encoder (contrastive)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 nucleotide objective; no variant eval</a:t>
                      </a:r>
                    </a:p>
                  </a:txBody>
                  <a:tcPr marL="36576" marR="36576" marT="18288" marB="18288" anchor="ctr"/>
                </a:tc>
              </a:tr>
              <a:tr h="47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9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Akita [11] / Orca [12]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Nat. Meth. 2020 / Nat. Genet. 2022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Sequence → contact map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Hi-C as supervised training target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Single-task; representations never transferred</a:t>
                      </a:r>
                    </a:p>
                  </a:txBody>
                  <a:tcPr marL="36576" marR="36576" marT="18288" marB="18288" anchor="ctr"/>
                </a:tc>
              </a:tr>
              <a:tr h="47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10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Evo2 3D probing (Lee) [13]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arXiv, 2026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Evo 2 likelihoods vs Micro-C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Shows Evo 2 fails higher-order 3D tests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Preprint; 7B only, CTCF structures only</a:t>
                      </a:r>
                    </a:p>
                  </a:txBody>
                  <a:tcPr marL="36576" marR="36576" marT="18288" marB="18288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18005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11. Gap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867265"/>
            <a:ext cx="8314441" cy="5870705"/>
          </a:xfrm>
        </p:spPr>
        <p:txBody>
          <a:bodyPr numCol="1">
            <a:normAutofit/>
          </a:bodyPr>
          <a:lstStyle/>
          <a:p>
            <a:pPr marL="457200" lvl="0" indent="-457200" algn="just">
              <a:spcAft>
                <a:spcPts val="550"/>
              </a:spcAft>
              <a:buFont typeface="+mj-lt"/>
              <a:buAutoNum type="arabicPeriod"/>
            </a:pP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>Sequence-only FMs (Evo 2, Caduceus) never see structure — and Evo 2-7B demonstrably fails TAD/loop-scale probes, so scale alone has not closed the gap.</a:t>
            </a:r>
          </a:p>
          <a:p>
            <a:pPr marL="457200" lvl="0" indent="-457200" algn="just">
              <a:spcAft>
                <a:spcPts val="550"/>
              </a:spcAft>
              <a:buFont typeface="+mj-lt"/>
              <a:buAutoNum type="arabicPeriod"/>
            </a:pP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>Hi-C-only FMs (HiCFoundation, Hi-Cformer) have no sequence channel, so a point mutation cannot change their input — variant scoring is impossible in principle.</a:t>
            </a:r>
          </a:p>
          <a:p>
            <a:pPr marL="457200" lvl="0" indent="-457200" algn="just">
              <a:spcAft>
                <a:spcPts val="550"/>
              </a:spcAft>
              <a:buFont typeface="+mj-lt"/>
              <a:buAutoNum type="arabicPeriod"/>
            </a:pP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>CHROME integrates structure only post-hoc: its encoder converges with no structure present, and the contact graph is required again at inference.</a:t>
            </a:r>
          </a:p>
          <a:p>
            <a:pPr marL="457200" lvl="0" indent="-457200" algn="just">
              <a:spcAft>
                <a:spcPts val="550"/>
              </a:spcAft>
              <a:buFont typeface="+mj-lt"/>
              <a:buAutoNum type="arabicPeriod"/>
            </a:pP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>Evo2HiC aligns a distilled encoder to Hi-C patches contrastively — no self-supervised nucleotide objective, no variant evaluation, and a frozen teacher as its ceiling.</a:t>
            </a:r>
          </a:p>
          <a:p>
            <a:pPr marL="457200" lvl="0" indent="-457200" algn="just">
              <a:spcAft>
                <a:spcPts val="550"/>
              </a:spcAft>
              <a:buFont typeface="+mj-lt"/>
              <a:buAutoNum type="arabicPeriod"/>
            </a:pP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>Akita/Orca use Hi-C as a supervised target, but a forward-citation sweep over 318 citing papers finds their representations have never been transferred to any non-folding task.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The empty cell: no published model combines an SSM sequence backbone with 3D structure inside a self-supervised pretraining objective — the cell this project occupies.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17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37850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3976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12. SDLC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9365" y="565608"/>
            <a:ext cx="8175984" cy="6155868"/>
          </a:xfrm>
        </p:spPr>
        <p:txBody>
          <a:bodyPr numCol="1">
            <a:normAutofit/>
          </a:bodyPr>
          <a:lstStyle/>
          <a:p>
            <a:pPr marL="0" lvl="0" indent="0" algn="just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Iterative ML life-cycle model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— chosen because pretraining research loops through data–model–evaluation cycles gated by diagnostics, not a linear waterfall. Stages instantiated for this project:</a:t>
            </a:r>
          </a:p>
          <a:p>
            <a:pPr marL="457200" lvl="0" indent="-457200" algn="just">
              <a:spcAft>
                <a:spcPts val="2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Problem definition — structure-conditioned pretraining hypothesis (Phase 0 literature gap).</a:t>
            </a:r>
          </a:p>
          <a:p>
            <a:pPr marL="457200" lvl="0" indent="-457200" algn="just">
              <a:spcAft>
                <a:spcPts val="2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Data collection — 4DN Hi-C + Ensembl GRCh38 + GENCODE v47 (chr9 pilot).</a:t>
            </a:r>
          </a:p>
          <a:p>
            <a:pPr marL="457200" lvl="0" indent="-457200" algn="just">
              <a:spcAft>
                <a:spcPts val="2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Data preparation — band extraction, O/E correction, φ features, tokenization, leakage-free splits.</a:t>
            </a:r>
          </a:p>
          <a:p>
            <a:pPr marL="457200" lvl="0" indent="-457200" algn="just">
              <a:spcAft>
                <a:spcPts val="2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Modeling — BiMamba backbone + structural bias at matched parameters.</a:t>
            </a:r>
          </a:p>
          <a:p>
            <a:pPr marL="457200" lvl="0" indent="-457200" algn="just">
              <a:spcAft>
                <a:spcPts val="2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Evaluation — masked-token loss, ablation ladder S0–S3, DNALongBench transfer, ≥3 seeds.</a:t>
            </a:r>
          </a:p>
          <a:p>
            <a:pPr marL="457200" lvl="0" indent="-457200" algn="just">
              <a:spcAft>
                <a:spcPts val="2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Deployment — reproducible pipeline, released code/weights and paper draft as research artifacts.</a:t>
            </a:r>
          </a:p>
          <a:p>
            <a:pPr marL="457200" lvl="0" indent="-457200" algn="just">
              <a:spcAft>
                <a:spcPts val="2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Monitoring — training-time diagnostics D1–D4 catch a silently-inert mechanism within hours.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18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  <p:pic>
        <p:nvPicPr>
          <p:cNvPr id="9" name="Picture 8" descr="Diagram&#10;&#10;Description automatically generated">
            <a:extLst>
              <a:ext uri="{FF2B5EF4-FFF2-40B4-BE49-F238E27FC236}">
                <a16:creationId xmlns:a16="http://schemas.microsoft.com/office/drawing/2014/main" id="{30A4B5C7-79C4-AE2B-C3E2-4632FDF632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489" y="4309107"/>
            <a:ext cx="2507528" cy="2317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4563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36" y="136524"/>
            <a:ext cx="8738648" cy="549273"/>
          </a:xfrm>
        </p:spPr>
        <p:txBody>
          <a:bodyPr>
            <a:noAutofit/>
          </a:bodyPr>
          <a:lstStyle/>
          <a:p>
            <a:r>
              <a:rPr lang="en-US" sz="28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13. Functional and Non-Functional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2232" y="990000"/>
            <a:ext cx="8564253" cy="350000"/>
          </a:xfrm>
        </p:spPr>
        <p:txBody>
          <a:bodyPr numCol="1">
            <a:normAutofit lnSpcReduction="10000"/>
          </a:bodyPr>
          <a:lstStyle/>
          <a:p>
            <a:pPr marL="0" lvl="0" indent="0" algn="ctr">
              <a:buNone/>
            </a:pPr>
            <a:r>
              <a:rPr lang="en-US" sz="1400" b="1" dirty="0">
                <a:solidFill>
                  <a:srgbClr val="252525"/>
                </a:solidFill>
                <a:latin typeface="Calisto MT" panose="02040603050505030304" pitchFamily="18" charset="0"/>
              </a:rPr>
              <a:t>Table 3. Functional and non-functional requirements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22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  <p:graphicFrame>
        <p:nvGraphicFramePr>
          <p:cNvPr id="952" name="Table 952"/>
          <p:cNvGraphicFramePr>
            <a:graphicFrameLocks noGrp="1"/>
          </p:cNvGraphicFramePr>
          <p:nvPr/>
        </p:nvGraphicFramePr>
        <p:xfrm>
          <a:off x="292232" y="1260000"/>
          <a:ext cx="8564253" cy="480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50000"/>
                <a:gridCol w="6154253"/>
                <a:gridCol w="1660000"/>
              </a:tblGrid>
              <a:tr h="40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ID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Requirement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Category</a:t>
                      </a:r>
                    </a:p>
                  </a:txBody>
                  <a:tcPr marL="36576" marR="36576" marT="18288" marB="18288" anchor="ctr"/>
                </a:tc>
              </a:tr>
              <a:tr h="40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FR1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Acquire and align Hi-C, reference sequence and annotation on GRCh38 (chr9 pilot), with md5-verified provenance manifest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Functional</a:t>
                      </a:r>
                    </a:p>
                  </a:txBody>
                  <a:tcPr marL="36576" marR="36576" marT="18288" marB="18288" anchor="ctr"/>
                </a:tc>
              </a:tr>
              <a:tr h="40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FR2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Compute the 8-feature per-bin structural vector φ with O/E correction and validate it against independent 4DN tracks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Functional</a:t>
                      </a:r>
                    </a:p>
                  </a:txBody>
                  <a:tcPr marL="36576" marR="36576" marT="18288" marB="18288" anchor="ctr"/>
                </a:tc>
              </a:tr>
              <a:tr h="40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FR3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Tokenize 32,768-bp windows with an explicit N policy and leakage-free buffered train/val/test splits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Functional</a:t>
                      </a:r>
                    </a:p>
                  </a:txBody>
                  <a:tcPr marL="36576" marR="36576" marT="18288" marB="18288" anchor="ctr"/>
                </a:tc>
              </a:tr>
              <a:tr h="40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FR4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Train baseline and structural arms at matched parameters (≤5%) and matched compute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Functional</a:t>
                      </a:r>
                    </a:p>
                  </a:txBody>
                  <a:tcPr marL="36576" marR="36576" marT="18288" marB="18288" anchor="ctr"/>
                </a:tc>
              </a:tr>
              <a:tr h="40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FR5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Run shuffled-structure controls S0–S3 and mechanistic diagnostics D1–D4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Functional</a:t>
                      </a:r>
                    </a:p>
                  </a:txBody>
                  <a:tcPr marL="36576" marR="36576" marT="18288" marB="18288" anchor="ctr"/>
                </a:tc>
              </a:tr>
              <a:tr h="40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FR6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Log every hyperparameter, seed and metric to results/ before any number is reported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Functional</a:t>
                      </a:r>
                    </a:p>
                  </a:txBody>
                  <a:tcPr marL="36576" marR="36576" marT="18288" marB="18288" anchor="ctr"/>
                </a:tc>
              </a:tr>
              <a:tr h="40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NFR1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Reproducibility — fixed seeds, versioned configs, fully scripted pipeline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Non-Functional</a:t>
                      </a:r>
                    </a:p>
                  </a:txBody>
                  <a:tcPr marL="36576" marR="36576" marT="18288" marB="18288" anchor="ctr"/>
                </a:tc>
              </a:tr>
              <a:tr h="40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NFR2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Compute budget — all runs fit 2× NVIDIA L40S (96 GB total)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Non-Functional</a:t>
                      </a:r>
                    </a:p>
                  </a:txBody>
                  <a:tcPr marL="36576" marR="36576" marT="18288" marB="18288" anchor="ctr"/>
                </a:tc>
              </a:tr>
              <a:tr h="40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NFR3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Numerical safety — no NaN may reach the recurrence; invalid φ masked with validity flags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Non-Functional</a:t>
                      </a:r>
                    </a:p>
                  </a:txBody>
                  <a:tcPr marL="36576" marR="36576" marT="18288" marB="18288" anchor="ctr"/>
                </a:tc>
              </a:tr>
              <a:tr h="40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NFR4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Fairness — identical data, N policy and scan kernel across all comparison arms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Non-Functional</a:t>
                      </a:r>
                    </a:p>
                  </a:txBody>
                  <a:tcPr marL="36576" marR="36576" marT="18288" marB="18288" anchor="ctr"/>
                </a:tc>
              </a:tr>
              <a:tr h="40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NFR5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Honesty — no unlogged number may appear in any report, slide or draft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Non-Functional</a:t>
                      </a:r>
                    </a:p>
                  </a:txBody>
                  <a:tcPr marL="36576" marR="36576" marT="18288" marB="18288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256083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218" y="136524"/>
            <a:ext cx="8006303" cy="549273"/>
          </a:xfrm>
        </p:spPr>
        <p:txBody>
          <a:bodyPr>
            <a:normAutofit fontScale="90000"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14. Data Collection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685797"/>
            <a:ext cx="8314441" cy="6052174"/>
          </a:xfrm>
        </p:spPr>
        <p:txBody>
          <a:bodyPr numCol="1">
            <a:normAutofit fontScale="92500" lnSpcReduction="10000"/>
          </a:bodyPr>
          <a:lstStyle/>
          <a:p>
            <a:pPr marL="0" lvl="0" indent="0" algn="l">
              <a:spcAft>
                <a:spcPts val="35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Name of the Dataset: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4D Nucleome experiment set 4DNES3JX38V5 — in situ Hi-C, GM12878 lymphoblastoid cell line (Rao et al., 2014) [3], assembly GRCh38</a:t>
            </a:r>
          </a:p>
          <a:p>
            <a:pPr marL="0" lvl="0" indent="0" algn="just">
              <a:spcAft>
                <a:spcPts val="450"/>
              </a:spcAft>
              <a:buNone/>
            </a:pPr>
            <a:r>
              <a:rPr lang="en-US" sz="1400" i="1" dirty="0">
                <a:solidFill>
                  <a:srgbClr val="252525"/>
                </a:solidFill>
                <a:latin typeface="Calisto MT" panose="02040603050505030304" pitchFamily="18" charset="0"/>
              </a:rPr>
              <a:t>Selected because it is the densest public human Hi-C map, and GM12878 is one of CHROME’s training cell lines — keeping our pilot directly comparable.</a:t>
            </a:r>
          </a:p>
          <a:p>
            <a:pPr marL="457200" lvl="0" indent="-457200" algn="just">
              <a:spcAft>
                <a:spcPts val="350"/>
              </a:spcAft>
              <a:buFont typeface="+mj-lt"/>
              <a:buAutoNum type="arabicPeriod"/>
            </a:pP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Hi-C: 4DNFIXP4QG5B multiresolution .mcool (27.4 GB) — never downloaded; read remotely via HTTP range requests; ICE-balanced; 5 kb default (1–2 kb available for ablation).</a:t>
            </a:r>
          </a:p>
          <a:p>
            <a:pPr marL="457200" lvl="0" indent="-457200" algn="just">
              <a:spcAft>
                <a:spcPts val="350"/>
              </a:spcAft>
              <a:buFont typeface="+mj-lt"/>
              <a:buAutoNum type="arabicPeriod"/>
            </a:pP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Sequence: GRCh38 chr9 (Ensembl release 113). Annotation: GENCODE v47 — 169,668 chr9 rows; 3,190 genes.</a:t>
            </a:r>
          </a:p>
          <a:p>
            <a:pPr marL="457200" lvl="0" indent="-457200" algn="just">
              <a:spcAft>
                <a:spcPts val="350"/>
              </a:spcAft>
              <a:buFont typeface="+mj-lt"/>
              <a:buAutoNum type="arabicPeriod"/>
            </a:pP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Validation-only tracks (never model inputs): 4DN TAD boundaries, insulation score, A/B compartments; CTCF ChIA-PET loops as an independent assay.</a:t>
            </a:r>
          </a:p>
          <a:p>
            <a:pPr marL="457200" lvl="0" indent="-457200" algn="just">
              <a:spcAft>
                <a:spcPts val="350"/>
              </a:spcAft>
              <a:buFont typeface="+mj-lt"/>
              <a:buAutoNum type="arabicPeriod"/>
            </a:pP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Scale: chr9 = 138,394,717 bp (cooler and FASTA agree exactly); 27,679 bins @ 5 kb; ±2 Mb band = 7,108,483 retained entries (occupancy 0.645).</a:t>
            </a:r>
          </a:p>
          <a:p>
            <a:pPr marL="457200" lvl="0" indent="-457200" algn="just">
              <a:spcAft>
                <a:spcPts val="350"/>
              </a:spcAft>
              <a:buFont typeface="+mj-lt"/>
              <a:buAutoNum type="arabicPeriod"/>
            </a:pP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Known holes, recorded up front: 19.31% of bins carry no balancing weight — dominated by a 17.25 Mb centromeric gap; 12.0% of chr9 sequence is N.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Windows (32,768 bp): train 5,422 / validation 273 / test 242 — disjoint genomic intervals with 1 Mb buffers; verified zero leakage.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23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0164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218" y="136524"/>
            <a:ext cx="8006303" cy="549273"/>
          </a:xfrm>
        </p:spPr>
        <p:txBody>
          <a:bodyPr>
            <a:normAutofit fontScale="90000"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15. Data Preparation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685797"/>
            <a:ext cx="8314441" cy="6052174"/>
          </a:xfrm>
        </p:spPr>
        <p:txBody>
          <a:bodyPr numCol="1">
            <a:normAutofit/>
          </a:bodyPr>
          <a:lstStyle/>
          <a:p>
            <a:pPr marL="457200" lvl="0" indent="-457200" algn="just">
              <a:spcAft>
                <a:spcPts val="450"/>
              </a:spcAft>
              <a:buFont typeface="+mj-lt"/>
              <a:buAutoNum type="arabicPeriod"/>
            </a:pP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Band extraction: ±2 Mb around the diagonal at 5 kb, tiled in 10 Mb windows with 2 Mb overlap (no seam loss), deduplicated; separate 250 kb whole-chromosome matrix for compartments.</a:t>
            </a:r>
          </a:p>
          <a:p>
            <a:pPr marL="457200" lvl="0" indent="-457200" algn="just">
              <a:spcAft>
                <a:spcPts val="450"/>
              </a:spcAft>
              <a:buFont typeface="+mj-lt"/>
              <a:buAutoNum type="arabicPeriod"/>
            </a:pP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Distance-decay (O/E) correction before any feature is built — raw contact frequency is dominated by 1D distance, and uncorrected "structure" would be a positional prior in disguise (control S3 exists to catch exactly this).</a:t>
            </a:r>
          </a:p>
          <a:p>
            <a:pPr marL="457200" lvl="0" indent="-457200" algn="just">
              <a:spcAft>
                <a:spcPts val="450"/>
              </a:spcAft>
              <a:buFont typeface="+mj-lt"/>
              <a:buAutoNum type="arabicPeriod"/>
            </a:pP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φ per bin (8 features): insulation @ 100/250/500 kb, directionality index, log contact density, upstream mass fraction, short/long-range ratio, compartment PC1 — each tagged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symmetric or antisymmetric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under reverse complement.</a:t>
            </a:r>
          </a:p>
          <a:p>
            <a:pPr marL="457200" lvl="0" indent="-457200" algn="just">
              <a:spcAft>
                <a:spcPts val="450"/>
              </a:spcAft>
              <a:buFont typeface="+mj-lt"/>
              <a:buAutoNum type="arabicPeriod"/>
            </a:pP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Genome-wide standardization (failure-mode F1 mitigation); coverage: 21,519 / 27,679 bins (77.7%) have complete φ.</a:t>
            </a:r>
          </a:p>
          <a:p>
            <a:pPr marL="457200" lvl="0" indent="-457200" algn="just">
              <a:spcAft>
                <a:spcPts val="450"/>
              </a:spcAft>
              <a:buFont typeface="+mj-lt"/>
              <a:buAutoNum type="arabicPeriod"/>
            </a:pP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Validation against 4DN’s independently derived tracks: insulation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r = +0.9969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; compartments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r = +0.9759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.</a:t>
            </a:r>
          </a:p>
          <a:p>
            <a:pPr marL="457200" lvl="0" indent="-457200" algn="just">
              <a:spcAft>
                <a:spcPts val="450"/>
              </a:spcAft>
              <a:buFont typeface="+mj-lt"/>
              <a:buAutoNum type="arabicPeriod"/>
            </a:pP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Tokenization A/C/G/T/N with N ≤ 10% per window; φ linearly interpolated bin→token (7 → 32,757 distinct values per window — F4 mitigation); invalid positions get the standardized mean + validity flag, so no NaN can reach the recurrence.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Reverse-complement augmentation reverses tokens and φ and negates the two antisymmetric coordinates (F7 safeguard) — verified against independently computed expectations.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24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07357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F6D41-8B00-DE8F-7F82-9281F7F13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B4518-4D1A-BA7B-0FD9-70F4CE313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218" y="126999"/>
            <a:ext cx="8006303" cy="549273"/>
          </a:xfrm>
        </p:spPr>
        <p:txBody>
          <a:bodyPr>
            <a:normAutofit fontScale="90000"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16.1. Proposed System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F70F8-B6B8-9FE3-3F23-6A22925B23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5352" y="1005840"/>
            <a:ext cx="8334953" cy="1500000"/>
          </a:xfrm>
        </p:spPr>
        <p:txBody>
          <a:bodyPr numCol="1">
            <a:normAutofit/>
          </a:bodyPr>
          <a:lstStyle/>
          <a:p>
            <a:pPr marL="457200" lvl="0" indent="-457200" algn="just">
              <a:spcAft>
                <a:spcPts val="2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Two input pathways — sequence tokens and Hi-C-derived structural context sₜ — merge </a:t>
            </a:r>
            <a:r>
              <a:rPr lang="en-US" sz="1400" b="1" dirty="0">
                <a:solidFill>
                  <a:srgbClr val="252525"/>
                </a:solidFill>
                <a:latin typeface="Calisto MT" panose="02040603050505030304" pitchFamily="18" charset="0"/>
              </a:rPr>
              <a:t>inside the BiMamba recurrence</a:t>
            </a: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, not by input concatenation.</a:t>
            </a:r>
          </a:p>
          <a:p>
            <a:pPr marL="457200" lvl="0" indent="-457200" algn="just">
              <a:spcAft>
                <a:spcPts val="2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Structure is a </a:t>
            </a:r>
            <a:r>
              <a:rPr lang="en-US" sz="1400" b="1" dirty="0">
                <a:solidFill>
                  <a:srgbClr val="252525"/>
                </a:solidFill>
                <a:latin typeface="Calisto MT" panose="02040603050505030304" pitchFamily="18" charset="0"/>
              </a:rPr>
              <a:t>training-time signal</a:t>
            </a: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; inference needs sequence only (CHROME, by contrast, needs the contact graph at inference).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All four comparison arms share data, N policy, splits and scan kernel — differences isolate the mechanism.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CD88F9-79B5-CB9F-9F1A-C474A415E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25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D92B58-CE67-EADF-CD79-2A36AAD48082}"/>
              </a:ext>
            </a:extLst>
          </p:cNvPr>
          <p:cNvSpPr txBox="1"/>
          <p:nvPr/>
        </p:nvSpPr>
        <p:spPr>
          <a:xfrm>
            <a:off x="372000" y="6100000"/>
            <a:ext cx="8400000" cy="38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0" indent="0" algn="ctr"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>Figure 1. Proposed system architecture: structure-conditioned self-supervised pretraining pipeline.</a:t>
            </a:r>
          </a:p>
        </p:txBody>
      </p:sp>
      <p:pic>
        <p:nvPicPr>
          <p:cNvPr id="930" name="Figure 93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000" y="2620000"/>
            <a:ext cx="8400000" cy="33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48276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-49654"/>
            <a:ext cx="8738648" cy="747237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16.2. Different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9937" y="697582"/>
            <a:ext cx="8314441" cy="5740925"/>
          </a:xfrm>
        </p:spPr>
        <p:txBody>
          <a:bodyPr numCol="1">
            <a:normAutofit fontScale="92500" lnSpcReduction="20000"/>
          </a:bodyPr>
          <a:lstStyle/>
          <a:p>
            <a:pPr marL="0" lvl="0" indent="0" algn="l">
              <a:spcAft>
                <a:spcPts val="15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Module 1 — Data Acquisition (scripts/phase1_acquire.py):</a:t>
            </a:r>
          </a:p>
          <a:p>
            <a:pPr marL="457200" lvl="0" indent="-457200" algn="just">
              <a:spcAft>
                <a:spcPts val="3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Resolves 4DN accessions via the public API; extracts the contact band remotely from the 27.4 GB .mcool; mirrors FASTA/GTF; writes an md5-verified provenance manifest.</a:t>
            </a:r>
          </a:p>
          <a:p>
            <a:pPr marL="0" lvl="0" indent="0" algn="l">
              <a:spcAft>
                <a:spcPts val="15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Module 2 — Structural Features (scripts/phase1_features.py):</a:t>
            </a:r>
          </a:p>
          <a:p>
            <a:pPr marL="457200" lvl="0" indent="-457200" algn="just">
              <a:spcAft>
                <a:spcPts val="3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Builds and standardizes the 8-feature φ vector with O/E correction; validates against 4DN’s independent tracks (r = 0.997 insulation, r = 0.976 compartments).</a:t>
            </a:r>
          </a:p>
          <a:p>
            <a:pPr marL="0" lvl="0" indent="0" algn="l">
              <a:spcAft>
                <a:spcPts val="15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Module 3 — Dataset Builder (scripts/phase1_dataset.py):</a:t>
            </a:r>
          </a:p>
          <a:p>
            <a:pPr marL="457200" lvl="0" indent="-457200" algn="just">
              <a:spcAft>
                <a:spcPts val="3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Tokenizes windows, enforces the N policy, builds buffered leakage-free splits, interpolates φ to token resolution, applies RC augmentation with antisymmetric sign flips.</a:t>
            </a:r>
          </a:p>
          <a:p>
            <a:pPr marL="0" lvl="0" indent="0" algn="l">
              <a:spcAft>
                <a:spcPts val="15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Module 4 — Model and Verification (src/chromfm/model.py, scripts/test_model.py):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BiMamba backbone with structural Δ-bias and permeability gate; parameter accounting by instantiation; 16/16 unit tests including exact baseline equivalence at initialization.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26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32437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0"/>
            <a:ext cx="8738648" cy="747237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16.3. Proposed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5352" y="1005840"/>
            <a:ext cx="8334953" cy="1500000"/>
          </a:xfrm>
        </p:spPr>
        <p:txBody>
          <a:bodyPr numCol="1">
            <a:normAutofit/>
          </a:bodyPr>
          <a:lstStyle/>
          <a:p>
            <a:pPr marL="457200" lvl="0" indent="-457200" algn="just">
              <a:spcAft>
                <a:spcPts val="250"/>
              </a:spcAft>
              <a:buFont typeface="+mj-lt"/>
              <a:buAutoNum type="arabicPeriod"/>
            </a:pPr>
            <a:r>
              <a:rPr lang="en-US" sz="14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(i) Δ-bias: </a:t>
            </a: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WΔs·sₜ shifts each channel’s timescale — structural context changes how quickly state decays.</a:t>
            </a:r>
          </a:p>
          <a:p>
            <a:pPr marL="457200" lvl="0" indent="-457200" algn="just">
              <a:spcAft>
                <a:spcPts val="250"/>
              </a:spcAft>
              <a:buFont typeface="+mj-lt"/>
              <a:buAutoNum type="arabicPeriod"/>
            </a:pPr>
            <a:r>
              <a:rPr lang="en-US" sz="14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(ii) Permeability gate: </a:t>
            </a: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pₜ ≥ 0 adds uniform extra decay — boundary/low-contact regions damp information flow across them.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Init WΔs = 0, b_g = −4 → exactly the baseline at step 0 — any divergence is learned structural signal.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27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  <p:pic>
        <p:nvPicPr>
          <p:cNvPr id="931" name="Figure 93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000" y="2620000"/>
            <a:ext cx="8300000" cy="3366000"/>
          </a:xfrm>
          <a:prstGeom prst="rect">
            <a:avLst/>
          </a:prstGeom>
        </p:spPr>
      </p:pic>
      <p:sp>
        <p:nvSpPr>
          <p:cNvPr id="932" name="CaptionBox 932"/>
          <p:cNvSpPr txBox="1"/>
          <p:nvPr/>
        </p:nvSpPr>
        <p:spPr>
          <a:xfrm>
            <a:off x="422000" y="6100000"/>
            <a:ext cx="8300000" cy="3800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 marL="0" lvl="0" indent="0" algn="ctr"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>Figure 2. Structural bias in the SSM recurrence — mechanism (a) of docs/architecture_spec.md.</a:t>
            </a:r>
          </a:p>
        </p:txBody>
      </p:sp>
    </p:spTree>
    <p:extLst>
      <p:ext uri="{BB962C8B-B14F-4D97-AF65-F5344CB8AC3E}">
        <p14:creationId xmlns:p14="http://schemas.microsoft.com/office/powerpoint/2010/main" val="8523330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3976"/>
            <a:ext cx="8738648" cy="747237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16.3. Algorithm / 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5352" y="950000"/>
            <a:ext cx="8334953" cy="5500000"/>
          </a:xfrm>
        </p:spPr>
        <p:txBody>
          <a:bodyPr numCol="1">
            <a:normAutofit/>
          </a:bodyPr>
          <a:lstStyle/>
          <a:p>
            <a:pPr marL="0" lvl="0" indent="0" algn="l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252525"/>
                </a:solidFill>
                <a:latin typeface="Courier New" panose="02070309020205020404" pitchFamily="49" charset="0"/>
              </a:rPr>
              <a:t>Algorithm 1: one training step of structure-conditioned masked-token pretraining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250" dirty="0">
                <a:solidFill>
                  <a:srgbClr val="252525"/>
                </a:solidFill>
                <a:latin typeface="Courier New" panose="02070309020205020404" pitchFamily="49" charset="0"/>
              </a:rPr>
              <a:t>Input:  tokens x[1..L]; structural features φ (per 5 kb bin); mask ratio m = 0.15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250" dirty="0">
                <a:solidFill>
                  <a:srgbClr val="252525"/>
                </a:solidFill>
                <a:latin typeface="Courier New" panose="02070309020205020404" pitchFamily="49" charset="0"/>
              </a:rPr>
              <a:t>Output: updated parameters θ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250" dirty="0">
                <a:solidFill>
                  <a:srgbClr val="252525"/>
                </a:solidFill>
                <a:latin typeface="Courier New" panose="02070309020205020404" pitchFamily="49" charset="0"/>
              </a:rPr>
              <a:t>1:  s &lt;- interpolate(standardize(φ))     # token resolution; invalid bins -&gt; 0 + flag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250" dirty="0">
                <a:solidFill>
                  <a:srgbClr val="252525"/>
                </a:solidFill>
                <a:latin typeface="Courier New" panose="02070309020205020404" pitchFamily="49" charset="0"/>
              </a:rPr>
              <a:t>2:  (x_masked, M) &lt;- mask(x, m)          # BERT-style masking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250" dirty="0">
                <a:solidFill>
                  <a:srgbClr val="252525"/>
                </a:solidFill>
                <a:latin typeface="Courier New" panose="02070309020205020404" pitchFamily="49" charset="0"/>
              </a:rPr>
              <a:t>3:  for layer l = 1..16, direction d in {fwd, rev}: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250" dirty="0">
                <a:solidFill>
                  <a:srgbClr val="252525"/>
                </a:solidFill>
                <a:latin typeface="Courier New" panose="02070309020205020404" pitchFamily="49" charset="0"/>
              </a:rPr>
              <a:t>4:      Δ &lt;- softplus(W_dt δ′ + b_dt + W_Δs s)      # (i) structural Δ-bias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250" dirty="0">
                <a:solidFill>
                  <a:srgbClr val="252525"/>
                </a:solidFill>
                <a:latin typeface="Courier New" panose="02070309020205020404" pitchFamily="49" charset="0"/>
              </a:rPr>
              <a:t>5:      p &lt;- softplus(w_gᵀ s + b_g)                 # (ii) permeability gate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250" dirty="0">
                <a:solidFill>
                  <a:srgbClr val="252525"/>
                </a:solidFill>
                <a:latin typeface="Courier New" panose="02070309020205020404" pitchFamily="49" charset="0"/>
              </a:rPr>
              <a:t>6:      A_bar &lt;- exp(Δ·A − p)                      # structure modulates retention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250" dirty="0">
                <a:solidFill>
                  <a:srgbClr val="252525"/>
                </a:solidFill>
                <a:latin typeface="Courier New" panose="02070309020205020404" pitchFamily="49" charset="0"/>
              </a:rPr>
              <a:t>7:      h_t &lt;- A_bar * h_(t−1) + Δ·B_t x_t ;   y_t &lt;- C_t·h_t + D·x_t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250" dirty="0">
                <a:solidFill>
                  <a:srgbClr val="252525"/>
                </a:solidFill>
                <a:latin typeface="Courier New" panose="02070309020205020404" pitchFamily="49" charset="0"/>
              </a:rPr>
              <a:t>8:  loss &lt;- CrossEntropy(logits[M], x[M])   # loss only on masked positions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250" dirty="0">
                <a:solidFill>
                  <a:srgbClr val="252525"/>
                </a:solidFill>
                <a:latin typeface="Courier New" panose="02070309020205020404" pitchFamily="49" charset="0"/>
              </a:rPr>
              <a:t>9:  θ &lt;- AdamW(θ, ∇loss); log Δ/τ distributions + diagnostics D1–D4</a:t>
            </a:r>
          </a:p>
          <a:p>
            <a:pPr marL="0" lvl="0" indent="0" algn="just">
              <a:buNone/>
            </a:pPr>
            <a:r>
              <a:rPr lang="en-US" sz="1300" i="1" dirty="0">
                <a:solidFill>
                  <a:srgbClr val="252525"/>
                </a:solidFill>
                <a:latin typeface="Calisto MT" panose="02040603050505030304" pitchFamily="18" charset="0"/>
              </a:rPr>
              <a:t>RC augmentation flips the antisymmetric φ coordinates (F7 safeguard). Structural pathway adds 33,042 parameters (+0.43%).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28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16112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9047" y="270858"/>
            <a:ext cx="8006303" cy="549273"/>
          </a:xfrm>
        </p:spPr>
        <p:txBody>
          <a:bodyPr>
            <a:normAutofit fontScale="90000"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17.1. Experimental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9047" y="989813"/>
            <a:ext cx="8006303" cy="5748157"/>
          </a:xfrm>
        </p:spPr>
        <p:txBody>
          <a:bodyPr numCol="1">
            <a:normAutofit/>
          </a:bodyPr>
          <a:lstStyle/>
          <a:p>
            <a:pPr marL="457200" lvl="0" indent="-457200" algn="just">
              <a:spcAft>
                <a:spcPts val="300"/>
              </a:spcAft>
              <a:buFont typeface="+mj-lt"/>
              <a:buAutoNum type="arabicPeriod"/>
            </a:pP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Hardware: 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2× NVIDIA L40S (48 GB each, 96 GB total); mixed-precision training.</a:t>
            </a:r>
          </a:p>
          <a:p>
            <a:pPr marL="457200" lvl="0" indent="-457200" algn="just">
              <a:spcAft>
                <a:spcPts val="300"/>
              </a:spcAft>
              <a:buFont typeface="+mj-lt"/>
              <a:buAutoNum type="arabicPeriod"/>
            </a:pP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Software: 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Python 3.10, PyTorch, mamba-ssm, cooler, pyBigWig, NumPy/SciPy, Matplotlib.</a:t>
            </a:r>
          </a:p>
          <a:p>
            <a:pPr marL="457200" lvl="0" indent="-457200" algn="just">
              <a:spcAft>
                <a:spcPts val="300"/>
              </a:spcAft>
              <a:buFont typeface="+mj-lt"/>
              <a:buAutoNum type="arabicPeriod"/>
            </a:pP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Data: 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chr9 GM12878 pilot — 5,422 train / 273 val / 242 test windows of 32,768 bp; N policy and splits fixed in the dataset layer so no arm can diverge.</a:t>
            </a:r>
          </a:p>
          <a:p>
            <a:pPr marL="457200" lvl="0" indent="-457200" algn="just">
              <a:spcAft>
                <a:spcPts val="300"/>
              </a:spcAft>
              <a:buFont typeface="+mj-lt"/>
              <a:buAutoNum type="arabicPeriod"/>
            </a:pP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Model config: 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d_model 256, 16 BiMamba layers, d_state 16, vocab 16; baseline 7,725,312 vs structural 7,758,354 parameters (+0.43%, within the 5% budget).</a:t>
            </a:r>
          </a:p>
          <a:p>
            <a:pPr marL="457200" lvl="0" indent="-457200" algn="just">
              <a:spcAft>
                <a:spcPts val="300"/>
              </a:spcAft>
              <a:buFont typeface="+mj-lt"/>
              <a:buAutoNum type="arabicPeriod"/>
            </a:pP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Objective / metric: 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masked-token prediction (15%); bits per nucleotide on held-out regions.</a:t>
            </a:r>
          </a:p>
          <a:p>
            <a:pPr marL="457200" lvl="0" indent="-457200" algn="just">
              <a:spcAft>
                <a:spcPts val="300"/>
              </a:spcAft>
              <a:buFont typeface="+mj-lt"/>
              <a:buAutoNum type="arabicPeriod"/>
            </a:pP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Comparison arms: 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sequence-only; CHROME-style post-hoc; Evo2HiC-style distillation; proposed structure-in-pretraining.</a:t>
            </a:r>
          </a:p>
          <a:p>
            <a:pPr marL="457200" lvl="0" indent="-457200" algn="just">
              <a:spcAft>
                <a:spcPts val="300"/>
              </a:spcAft>
              <a:buFont typeface="+mj-lt"/>
              <a:buAutoNum type="arabicPeriod"/>
            </a:pP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Ablation controls: 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S0 zeroed φ, S1 global permutation, S2 circular shift (≥10 Mb), S3 distance-matched rewire; diagnostics D1–D4; ≥3 seeds per configuration.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Downstream: 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DNALongBench tasks (enhancer–target-gene, eQTL, contact map) [14] + perturbation sensitivity: TAD-boundary deletions and CTCF inversions vs matched controls [13].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29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38278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A963D-20FF-89A3-626A-7C90795E2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DBB23-4EC6-964D-994F-D83B5C1A2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9047" y="270858"/>
            <a:ext cx="8006303" cy="549273"/>
          </a:xfrm>
        </p:spPr>
        <p:txBody>
          <a:bodyPr>
            <a:normAutofit fontScale="90000"/>
          </a:bodyPr>
          <a:lstStyle/>
          <a:p>
            <a:r>
              <a:rPr lang="en-US" sz="28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17.2. Results and Analysis — Verified to Date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F799C-6FD4-A88F-98B0-7C07482F0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9046" y="955250"/>
            <a:ext cx="8006303" cy="5748157"/>
          </a:xfrm>
        </p:spPr>
        <p:txBody>
          <a:bodyPr numCol="1">
            <a:normAutofit fontScale="92500" lnSpcReduction="20000"/>
          </a:bodyPr>
          <a:lstStyle/>
          <a:p>
            <a:pPr marL="457200" lvl="0" indent="-457200" algn="just">
              <a:spcAft>
                <a:spcPts val="450"/>
              </a:spcAft>
              <a:buFont typeface="+mj-lt"/>
              <a:buAutoNum type="arabicPeriod"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Pipeline validation: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our insulation vs 4DN’s independent track r = +0.9969 (100 kb); compartment PC1 r = +0.9759 — the feature pipeline reproduces reference tracks it never saw.</a:t>
            </a:r>
          </a:p>
          <a:p>
            <a:pPr marL="457200" lvl="0" indent="-457200" algn="just">
              <a:spcAft>
                <a:spcPts val="450"/>
              </a:spcAft>
              <a:buFont typeface="+mj-lt"/>
              <a:buAutoNum type="arabicPeriod"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Visual gate: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a TAD (chr9:132.59–132.98 Mb) and the NOTCH1 loop (chr9:136.485↔136.625 Mb, O/E = 7.5, supported by 6 CTCF ChIA-PET PETs from an independent assay) confirmed in our processed matrix — next slide.</a:t>
            </a:r>
          </a:p>
          <a:p>
            <a:pPr marL="457200" lvl="0" indent="-457200" algn="just">
              <a:spcAft>
                <a:spcPts val="450"/>
              </a:spcAft>
              <a:buFont typeface="+mj-lt"/>
              <a:buAutoNum type="arabicPeriod"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Coordinate alignment, three ways: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exact chr9 length match (138,394,717 bp); centromere gap coincides between FASTA N-content and Hi-C dead zone; landmark genes at expected contact coordinates.</a:t>
            </a:r>
          </a:p>
          <a:p>
            <a:pPr marL="457200" lvl="0" indent="-457200" algn="just">
              <a:spcAft>
                <a:spcPts val="450"/>
              </a:spcAft>
              <a:buFont typeface="+mj-lt"/>
              <a:buAutoNum type="arabicPeriod"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Parameter accounting (by instantiation, not citation):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7,758,354 vs 7,725,312 = +0.43% — matched-parameter constraint passes with ~11× headroom.</a:t>
            </a:r>
          </a:p>
          <a:p>
            <a:pPr marL="457200" lvl="0" indent="-457200" algn="just">
              <a:spcAft>
                <a:spcPts val="450"/>
              </a:spcAft>
              <a:buFont typeface="+mj-lt"/>
              <a:buAutoNum type="arabicPeriod"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Implementation: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16/16 unit tests pass; structural model numerically identical to baseline at init (max gap 0.0); gradients verified to reach WΔs and the gate.</a:t>
            </a:r>
          </a:p>
          <a:p>
            <a:pPr marL="457200" lvl="0" indent="-457200" algn="just">
              <a:spcAft>
                <a:spcPts val="450"/>
              </a:spcAft>
              <a:buFont typeface="+mj-lt"/>
              <a:buAutoNum type="arabicPeriod"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Risk measured (F4):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max per-layer memory horizon at init ≈ 994 tokens &lt; one 5 kb bin → φ interpolation now mandatory; trained-τ gate added before Phase-4 compute.</a:t>
            </a:r>
          </a:p>
          <a:p>
            <a:pPr marL="0" lvl="0" indent="0" algn="just">
              <a:buNone/>
            </a:pPr>
            <a:r>
              <a:rPr lang="en-US" sz="1300" i="1" dirty="0">
                <a:solidFill>
                  <a:srgbClr val="252525"/>
                </a:solidFill>
                <a:latin typeface="Calisto MT" panose="02040603050505030304" pitchFamily="18" charset="0"/>
              </a:rPr>
              <a:t>Every number on this slide comes from logged script output (docs/data_card.md, scripts/).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E3830B-FD85-D774-8D77-0970594AD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30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55803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61BA5-B76C-3560-28B4-7EDD12666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BB1CC2-B3BF-31D2-D2AA-441536C570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9047" y="136524"/>
            <a:ext cx="8006303" cy="549273"/>
          </a:xfrm>
        </p:spPr>
        <p:txBody>
          <a:bodyPr>
            <a:normAutofit fontScale="90000"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17.2. Results and Analysis (contd.)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FE3988-0402-0966-3916-D73212C42F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0000" y="1250000"/>
            <a:ext cx="4400000" cy="4900000"/>
          </a:xfrm>
        </p:spPr>
        <p:txBody>
          <a:bodyPr numCol="1">
            <a:normAutofit/>
          </a:bodyPr>
          <a:lstStyle/>
          <a:p>
            <a:pPr marL="0" lvl="0" indent="0" algn="l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Phase-1 visual validation (chr9:132–138 Mb):</a:t>
            </a:r>
          </a:p>
          <a:p>
            <a:pPr marL="457200" lvl="0" indent="-457200" algn="just">
              <a:spcAft>
                <a:spcPts val="3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Contact matrix with 4DN TAD-boundary calls falling at block edges, not interiors.</a:t>
            </a:r>
          </a:p>
          <a:p>
            <a:pPr marL="457200" lvl="0" indent="-457200" algn="just">
              <a:spcAft>
                <a:spcPts val="3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TAD panel: chr9:132.59–132.98 Mb — visibly brighter inside the block than outside.</a:t>
            </a:r>
          </a:p>
          <a:p>
            <a:pPr marL="457200" lvl="0" indent="-457200" algn="just">
              <a:spcAft>
                <a:spcPts val="3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Loop panel: NOTCH1 anchor pair at 140 kb separation, O/E = 7.5, corroborated by 6 CTCF ChIA-PET PETs from an independent assay.</a:t>
            </a:r>
          </a:p>
          <a:p>
            <a:pPr marL="457200" lvl="0" indent="-457200" algn="just">
              <a:spcAft>
                <a:spcPts val="3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Whole-chromosome A/B compartment alternation; the 43–60 Mb centromeric gap shows as a blank interval — itself a coordinate-alignment check.</a:t>
            </a:r>
          </a:p>
          <a:p>
            <a:pPr marL="457200" lvl="0" indent="-457200" algn="just">
              <a:spcAft>
                <a:spcPts val="4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Gene landmarks (VAV2, COL5A1, NOTCH1, TRAF2, GRIN1) read from our GTF at runtime and positioned against contact coordinates.</a:t>
            </a:r>
          </a:p>
          <a:p>
            <a:pPr marL="0" lvl="0" indent="0" algn="just">
              <a:buNone/>
            </a:pPr>
            <a:r>
              <a:rPr lang="en-US" sz="1300" i="1" dirty="0">
                <a:solidFill>
                  <a:srgbClr val="252525"/>
                </a:solidFill>
                <a:latin typeface="Calisto MT" panose="02040603050505030304" pitchFamily="18" charset="0"/>
              </a:rPr>
              <a:t>Every annotation is externally sourced — boundaries from 4DN’s caller, loops from ChIA-PET, genes from GENCODE.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AECB16-FF64-C4B2-FA25-FA7FA2027C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31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  <p:pic>
        <p:nvPicPr>
          <p:cNvPr id="933" name="Figure 93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223" y="1250000"/>
            <a:ext cx="3700000" cy="4527000"/>
          </a:xfrm>
          <a:prstGeom prst="rect">
            <a:avLst/>
          </a:prstGeom>
        </p:spPr>
      </p:pic>
      <p:sp>
        <p:nvSpPr>
          <p:cNvPr id="934" name="CaptionBox 934"/>
          <p:cNvSpPr txBox="1"/>
          <p:nvPr/>
        </p:nvSpPr>
        <p:spPr>
          <a:xfrm>
            <a:off x="550223" y="5850000"/>
            <a:ext cx="3700000" cy="6000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 marL="0" lvl="0" indent="0" algn="ctr">
              <a:buNone/>
            </a:pPr>
            <a:r>
              <a:rPr lang="en-US" sz="1100" b="1" dirty="0">
                <a:solidFill>
                  <a:srgbClr val="252525"/>
                </a:solidFill>
                <a:latin typeface="Calisto MT" panose="02040603050505030304" pitchFamily="18" charset="0"/>
              </a:rPr>
              <a:t>Figure 3. Phase-1 validation (real pipeline output: figures/phase1_validation.png).</a:t>
            </a:r>
          </a:p>
        </p:txBody>
      </p:sp>
    </p:spTree>
    <p:extLst>
      <p:ext uri="{BB962C8B-B14F-4D97-AF65-F5344CB8AC3E}">
        <p14:creationId xmlns:p14="http://schemas.microsoft.com/office/powerpoint/2010/main" val="314989130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C07AB-A2E5-2E8F-3A5A-6D1CC51C1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51E8B-BCDB-C6CB-F661-CE013227F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9509" y="103690"/>
            <a:ext cx="8006303" cy="549273"/>
          </a:xfrm>
        </p:spPr>
        <p:txBody>
          <a:bodyPr>
            <a:normAutofit fontScale="90000"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17.3. Comparison with Previous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04B72A-C8CE-40CA-3374-072A594278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2232" y="620000"/>
            <a:ext cx="8564253" cy="350000"/>
          </a:xfrm>
        </p:spPr>
        <p:txBody>
          <a:bodyPr numCol="1">
            <a:normAutofit/>
          </a:bodyPr>
          <a:lstStyle/>
          <a:p>
            <a:pPr marL="0" lvl="0" indent="0" algn="ctr">
              <a:buNone/>
            </a:pPr>
            <a:r>
              <a:rPr lang="en-US" sz="1400" b="1" dirty="0">
                <a:solidFill>
                  <a:srgbClr val="252525"/>
                </a:solidFill>
                <a:latin typeface="Calisto MT" panose="02040603050505030304" pitchFamily="18" charset="0"/>
              </a:rPr>
              <a:t>Table 5. Where structure enters — capability comparison with previous work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6CCE2A-DC09-7B4C-6CA5-048A47A28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34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  <p:graphicFrame>
        <p:nvGraphicFramePr>
          <p:cNvPr id="954" name="Table 954"/>
          <p:cNvGraphicFramePr>
            <a:graphicFrameLocks noGrp="1"/>
          </p:cNvGraphicFramePr>
          <p:nvPr/>
        </p:nvGraphicFramePr>
        <p:xfrm>
          <a:off x="292232" y="1010000"/>
          <a:ext cx="8564253" cy="460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00000"/>
                <a:gridCol w="1170000"/>
                <a:gridCol w="1170000"/>
                <a:gridCol w="1810000"/>
                <a:gridCol w="1560000"/>
                <a:gridCol w="1354253"/>
              </a:tblGrid>
              <a:tr h="46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Work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Sequence input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Structure input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Structure enters at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Self-supervised?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Structure needed at inference?</a:t>
                      </a:r>
                    </a:p>
                  </a:txBody>
                  <a:tcPr marL="36576" marR="36576" marT="18288" marB="18288" anchor="ctr"/>
                </a:tc>
              </a:tr>
              <a:tr h="460000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HiCFoundation [6]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Yes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pretraining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Yes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Yes</a:t>
                      </a:r>
                    </a:p>
                  </a:txBody>
                  <a:tcPr marL="36576" marR="36576" marT="18288" marB="18288" anchor="ctr"/>
                </a:tc>
              </a:tr>
              <a:tr h="460000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Hi-Cformer [7]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Yes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pretraining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Yes (MLM on blocks)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Yes</a:t>
                      </a:r>
                    </a:p>
                  </a:txBody>
                  <a:tcPr marL="36576" marR="36576" marT="18288" marB="18288" anchor="ctr"/>
                </a:tc>
              </a:tr>
              <a:tr h="460000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Evo 2 [5]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Yes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—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Yes (next-token)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</a:t>
                      </a:r>
                    </a:p>
                  </a:txBody>
                  <a:tcPr marL="36576" marR="36576" marT="18288" marB="18288" anchor="ctr"/>
                </a:tc>
              </a:tr>
              <a:tr h="460000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Caduceus [4]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Yes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—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Yes (MLM)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</a:t>
                      </a:r>
                    </a:p>
                  </a:txBody>
                  <a:tcPr marL="36576" marR="36576" marT="18288" marB="18288" anchor="ctr"/>
                </a:tc>
              </a:tr>
              <a:tr h="460000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GraphReg [8]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Yes (features)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Yes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supervised downstream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Yes</a:t>
                      </a:r>
                    </a:p>
                  </a:txBody>
                  <a:tcPr marL="36576" marR="36576" marT="18288" marB="18288" anchor="ctr"/>
                </a:tc>
              </a:tr>
              <a:tr h="460000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CHROME [9]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Yes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Yes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stage 2, post-hoc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 (supervised)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Yes</a:t>
                      </a:r>
                    </a:p>
                  </a:txBody>
                  <a:tcPr marL="36576" marR="36576" marT="18288" marB="18288" anchor="ctr"/>
                </a:tc>
              </a:tr>
              <a:tr h="460000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Akita [11] / Orca [12]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Yes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Yes (as target)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supervised target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</a:t>
                      </a:r>
                    </a:p>
                  </a:txBody>
                  <a:tcPr marL="36576" marR="36576" marT="18288" marB="18288" anchor="ctr"/>
                </a:tc>
              </a:tr>
              <a:tr h="460000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Evo2HiC [10]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Yes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Yes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contrastive distillation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 (no nucleotide obj.)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</a:t>
                      </a:r>
                    </a:p>
                  </a:txBody>
                  <a:tcPr marL="36576" marR="36576" marT="18288" marB="18288" anchor="ctr"/>
                </a:tc>
              </a:tr>
              <a:tr h="460000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This project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Yes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Yes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inside self-supervised pretraining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Yes (MLM + structure)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 (design target)</a:t>
                      </a:r>
                    </a:p>
                  </a:txBody>
                  <a:tcPr marL="36576" marR="36576" marT="18288" marB="18288" anchor="ctr"/>
                </a:tc>
              </a:tr>
            </a:tbl>
          </a:graphicData>
        </a:graphic>
      </p:graphicFrame>
      <p:sp>
        <p:nvSpPr>
          <p:cNvPr id="936" name="NoteBox 936"/>
          <p:cNvSpPr txBox="1"/>
          <p:nvPr/>
        </p:nvSpPr>
        <p:spPr>
          <a:xfrm>
            <a:off x="292232" y="5750000"/>
            <a:ext cx="8564253" cy="7000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 marL="0" lvl="0" indent="0" algn="just">
              <a:buNone/>
            </a:pPr>
            <a:r>
              <a:rPr lang="en-US" sz="1300" i="1" dirty="0">
                <a:solidFill>
                  <a:srgbClr val="252525"/>
                </a:solidFill>
                <a:latin typeface="Calisto MT" panose="02040603050505030304" pitchFamily="18" charset="0"/>
              </a:rPr>
              <a:t>The bottom row is the unoccupied cell in the literature. Quantitative comparison against these works follows Phase 4–5 runs (results/final_comparison.csv) — no performance number is claimed before it is logged.</a:t>
            </a:r>
          </a:p>
        </p:txBody>
      </p:sp>
    </p:spTree>
    <p:extLst>
      <p:ext uri="{BB962C8B-B14F-4D97-AF65-F5344CB8AC3E}">
        <p14:creationId xmlns:p14="http://schemas.microsoft.com/office/powerpoint/2010/main" val="172614796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A0D91B-89E5-189E-ACA5-53EA44243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6ABCA5-3923-5190-F81B-0511CF7E8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5751" y="280383"/>
            <a:ext cx="8006303" cy="549273"/>
          </a:xfrm>
        </p:spPr>
        <p:txBody>
          <a:bodyPr>
            <a:normAutofit fontScale="90000"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18. Project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932742-19BD-2920-BFAF-8911E16618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751" y="989813"/>
            <a:ext cx="8458200" cy="5748157"/>
          </a:xfrm>
        </p:spPr>
        <p:txBody>
          <a:bodyPr numCol="1">
            <a:normAutofit lnSpcReduction="10000"/>
          </a:bodyPr>
          <a:lstStyle/>
          <a:p>
            <a:pPr marL="0" lvl="0" indent="0" algn="l">
              <a:spcAft>
                <a:spcPts val="400"/>
              </a:spcAft>
              <a:buNone/>
            </a:pPr>
            <a:r>
              <a:rPr lang="en-US" sz="2200" b="1" i="1" dirty="0">
                <a:solidFill>
                  <a:srgbClr val="833C00"/>
                </a:solidFill>
                <a:latin typeface="Calisto MT" panose="02040603050505030304" pitchFamily="18" charset="0"/>
              </a:rPr>
              <a:t>Mini Project</a:t>
            </a:r>
          </a:p>
          <a:p>
            <a:pPr marL="457200" lvl="0" indent="-457200" algn="just">
              <a:spcAft>
                <a:spcPts val="450"/>
              </a:spcAft>
              <a:buFont typeface="+mj-lt"/>
              <a:buAutoNum type="arabicPeriod"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Title: </a:t>
            </a: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"Structure in the Recurrence: Conditioning Genomic Foundation-Model Pretraining on 3D Chromatin Contacts" (working title)</a:t>
            </a:r>
          </a:p>
          <a:p>
            <a:pPr marL="457200" lvl="0" indent="-457200" algn="just">
              <a:spcAft>
                <a:spcPts val="450"/>
              </a:spcAft>
              <a:buFont typeface="+mj-lt"/>
              <a:buAutoNum type="arabicPeriod"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Type: </a:t>
            </a: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Conference / journal paper in machine learning for genomics</a:t>
            </a:r>
          </a:p>
          <a:p>
            <a:pPr marL="457200" lvl="0" indent="-457200" algn="just">
              <a:spcAft>
                <a:spcPts val="450"/>
              </a:spcAft>
              <a:buFont typeface="+mj-lt"/>
              <a:buAutoNum type="arabicPeriod"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Status: </a:t>
            </a: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In preparation — the draft is gated on logged Phase 4–5 results (results/final_comparison.csv); a negative result is publishable and will be reported honestly.</a:t>
            </a:r>
          </a:p>
          <a:p>
            <a:pPr marL="457200" lvl="0" indent="-457200" algn="just">
              <a:spcAft>
                <a:spcPts val="600"/>
              </a:spcAft>
              <a:buFont typeface="+mj-lt"/>
              <a:buAutoNum type="arabicPeriod"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Artifacts already produced: </a:t>
            </a: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reproducible acquisition/feature/dataset pipeline (scripts/), verified model implementation (src/chromfm/), literature map, architecture spec and data card (docs/).</a:t>
            </a:r>
          </a:p>
          <a:p>
            <a:pPr marL="0" lvl="0" indent="0" algn="l">
              <a:spcAft>
                <a:spcPts val="400"/>
              </a:spcAft>
              <a:buNone/>
            </a:pPr>
            <a:r>
              <a:rPr lang="en-US" sz="2200" b="1" i="1" dirty="0">
                <a:solidFill>
                  <a:srgbClr val="833C00"/>
                </a:solidFill>
                <a:latin typeface="Calisto MT" panose="02040603050505030304" pitchFamily="18" charset="0"/>
              </a:rPr>
              <a:t>EPICS</a:t>
            </a:r>
          </a:p>
          <a:p>
            <a:pPr marL="0" lvl="0" indent="0" algn="just">
              <a:buNone/>
            </a:pP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>Not applicable to this batch.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026D9F-A8E0-8DF9-E86E-2E4594799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36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60777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30335-CE52-15B2-B23A-61DE5AEDC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4A369-88B7-8BAE-FCEC-AD8E807C1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9047" y="270858"/>
            <a:ext cx="8006303" cy="549273"/>
          </a:xfrm>
        </p:spPr>
        <p:txBody>
          <a:bodyPr>
            <a:normAutofit fontScale="90000"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19. Conclusion &amp; 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32D841-5EAC-964D-B444-B7E25133E4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9047" y="989813"/>
            <a:ext cx="8006303" cy="5748157"/>
          </a:xfrm>
        </p:spPr>
        <p:txBody>
          <a:bodyPr numCol="1">
            <a:normAutofit/>
          </a:bodyPr>
          <a:lstStyle/>
          <a:p>
            <a:pPr marL="0" lvl="0" indent="0" algn="l"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Here, we have discussed</a:t>
            </a:r>
          </a:p>
          <a:p>
            <a:pPr marL="457200" lvl="0" indent="-457200" algn="just">
              <a:spcAft>
                <a:spcPts val="3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The gap: across sequence-only FMs, Hi-C-only FMs, post-hoc graphs (CHROME) and contrastive distillation (Evo2HiC), no published model lets 3D structure shape a self-supervised nucleotide objective — and SSM + Hi-C is unoccupied.</a:t>
            </a:r>
          </a:p>
          <a:p>
            <a:pPr marL="457200" lvl="0" indent="-457200" algn="just">
              <a:spcAft>
                <a:spcPts val="3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Why it matters: Evo 2-7B penalises TAD-boundary deletions less than matched random controls — scale alone has not bought 3D awareness.</a:t>
            </a:r>
          </a:p>
          <a:p>
            <a:pPr marL="457200" lvl="0" indent="-457200" algn="just">
              <a:spcAft>
                <a:spcPts val="3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A validated pilot: GM12878 chr9 paired sequence + Hi-C; features reproduce independent 4DN tracks (insulation r = 0.997, compartments r = 0.976); a TAD and the NOTCH1 loop confirmed visually.</a:t>
            </a:r>
          </a:p>
          <a:p>
            <a:pPr marL="457200" lvl="0" indent="-457200" algn="just">
              <a:spcAft>
                <a:spcPts val="3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A mechanism: structural Δ-bias + permeability gate inside the BiMamba recurrence — structure sets how far information propagates; +0.43% parameters; provably inert at initialization.</a:t>
            </a:r>
          </a:p>
          <a:p>
            <a:pPr marL="457200" lvl="0" indent="-457200" algn="just">
              <a:spcAft>
                <a:spcPts val="3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A falsification-first plan: S0–S3 controls (S3 kills the claim if "structure" is just distance), D1–D4 diagnostics, ≥3 seeds, DNALongBench + perturbation-sensitivity evaluation.</a:t>
            </a:r>
          </a:p>
          <a:p>
            <a:pPr marL="457200" lvl="0" indent="-457200" algn="just">
              <a:spcAft>
                <a:spcPts val="4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Honest status: pretraining runs (Phases 3–5) are pending; every number reported so far is from logged pipeline output.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Future Work</a:t>
            </a:r>
          </a:p>
          <a:p>
            <a:pPr marL="457200" lvl="0" indent="-457200" algn="just">
              <a:spcAft>
                <a:spcPts val="3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Complete the four-arm comparison and ablation ladder; then scale beyond the pilot — genome-wide, more cell lines, true cross-chromosome splits.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Revisit hard TAD-boundary state resets (mechanism (c)) if the learned gate turns bimodal; add a cross-species arm (DNA Zoo) and a learned boundary predictor for structure-free inference.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4345BD-7715-5CB3-45A7-6CEB49B27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37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947510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9166" y="155378"/>
            <a:ext cx="8006303" cy="549273"/>
          </a:xfrm>
        </p:spPr>
        <p:txBody>
          <a:bodyPr>
            <a:normAutofit fontScale="90000"/>
          </a:bodyPr>
          <a:lstStyle/>
          <a:p>
            <a:r>
              <a:rPr lang="en-US" sz="4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9047" y="790756"/>
            <a:ext cx="8006303" cy="5748157"/>
          </a:xfrm>
        </p:spPr>
        <p:txBody>
          <a:bodyPr numCol="1">
            <a:normAutofit/>
          </a:bodyPr>
          <a:lstStyle/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[1]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Lieberman-Aiden, E., et al. (2009). Comprehensive mapping of long-range interactions reveals folding principles of the human genome. Science, 326(5950), 289–293.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[2]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Dixon, J. R., et al. (2012). Topological domains in mammalian genomes identified by analysis of chromatin interactions. Nature, 485, 376–380.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[3]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Rao, S. S. P., et al. (2014). A 3D map of the human genome at kilobase resolution reveals principles of chromatin looping. Cell, 159(7), 1665–1680.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[4]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Schiff, Y., Kao, C.-H., et al. (2024). Caduceus: Bi-directional equivariant long-range DNA sequence modeling. Proceedings of ICML 2024, PMLR 235. arXiv:2403.03234.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[5]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Brixi, G., et al. (2026). Genome modelling and design across all domains of life with Evo 2. Nature. (Preprint: bioRxiv 10.1101/2025.02.18.638918).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[6]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Wang, X., et al. (2026). A generalizable Hi-C foundation model for chromatin architecture, single-cell and multi-omics analysis across species. Nature Methods. (Preprint: bioRxiv 10.1101/2024.12.16.628821).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[7]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Wu, X., Chen, X., &amp; Jiang, R. (2025). Hi-Cformer enables multi-scale chromatin contact map modeling for single-cell Hi-C data analysis. bioRxiv 10.1101/2025.08.04.668453.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[8]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Karbalayghareh, A., et al. (2022). Chromatin interaction–aware gene regulatory modeling with graph attention networks. Genome Research, 32(5), 930–944.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[9]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Ye, F., et al. (2026). A chromatin-structure-guided framework for predictive and interpretable regulatory genomics. Briefings in Bioinformatics, 27(4), bbag360.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[10]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Fang, T., Wang, X., Xiao, Z., et al. (2025). Evo2HiC: A multimodal foundation model for integrative analysis of genome sequence and architecture. bioRxiv 10.1101/2025.11.18.689171.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[11]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Fudenberg, G., Kelley, D. R., &amp; Pollard, K. S. (2020). Predicting 3D genome folding from DNA sequence with Akita. Nature Methods, 17, 1111–1117.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[12]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Zhou, J. (2022). Sequence-based modeling of three-dimensional genome architecture from kilobase to chromosome scale. Nature Genetics, 54, 725–734.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[13]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Lee, U. (2026). Probing 3D chromatin structure awareness in Evo2 DNA language model. arXiv:2604.07196.</a:t>
            </a:r>
          </a:p>
          <a:p>
            <a:pPr marL="342900" lvl="0" indent="-342900" algn="l">
              <a:spcAft>
                <a:spcPts val="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[14]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Cheng, W., et al. (2025). DNALongBench: A benchmark suite for long-range DNA prediction tasks. Nature Communications, 16(1), 10108.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9ED706-BAAD-007D-D4CC-247F422DF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38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705089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28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9.2. Introduction — Genomic FMs and SSMs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2675" y="763571"/>
            <a:ext cx="8738647" cy="5974399"/>
          </a:xfrm>
        </p:spPr>
        <p:txBody>
          <a:bodyPr numCol="1">
            <a:normAutofit/>
          </a:bodyPr>
          <a:lstStyle/>
          <a:p>
            <a:pPr marL="457200" lvl="0" indent="-457200" algn="just">
              <a:spcAft>
                <a:spcPts val="700"/>
              </a:spcAft>
              <a:buFont typeface="+mj-lt"/>
              <a:buAutoNum type="arabicPeriod"/>
            </a:pPr>
            <a:r>
              <a:rPr lang="en-US" sz="1700" b="1" dirty="0">
                <a:solidFill>
                  <a:srgbClr val="252525"/>
                </a:solidFill>
                <a:latin typeface="Calisto MT" panose="02040603050505030304" pitchFamily="18" charset="0"/>
              </a:rPr>
              <a:t>Genomic foundation models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learn from raw DNA by self-supervision — masked-token (Caduceus) or next-token (Evo 2) objectives — and are judged by </a:t>
            </a:r>
            <a:r>
              <a:rPr lang="en-US" sz="1700" b="1" dirty="0">
                <a:solidFill>
                  <a:srgbClr val="252525"/>
                </a:solidFill>
                <a:latin typeface="Calisto MT" panose="02040603050505030304" pitchFamily="18" charset="0"/>
              </a:rPr>
              <a:t>transfer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to regulatory and variant tasks.</a:t>
            </a:r>
          </a:p>
          <a:p>
            <a:pPr marL="457200" lvl="0" indent="-457200" algn="just">
              <a:spcAft>
                <a:spcPts val="700"/>
              </a:spcAft>
              <a:buFont typeface="+mj-lt"/>
              <a:buAutoNum type="arabicPeriod"/>
            </a:pP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Transformers cost O(L²) in sequence length; </a:t>
            </a:r>
            <a:r>
              <a:rPr lang="en-US" sz="1700" b="1" dirty="0">
                <a:solidFill>
                  <a:srgbClr val="252525"/>
                </a:solidFill>
                <a:latin typeface="Calisto MT" panose="02040603050505030304" pitchFamily="18" charset="0"/>
              </a:rPr>
              <a:t>state space models (Mamba)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run in linear time, making 100 kb–1 Mb genomic contexts practical.</a:t>
            </a:r>
          </a:p>
          <a:p>
            <a:pPr marL="457200" lvl="0" indent="-457200" algn="just">
              <a:spcAft>
                <a:spcPts val="700"/>
              </a:spcAft>
              <a:buFont typeface="+mj-lt"/>
              <a:buAutoNum type="arabicPeriod"/>
            </a:pPr>
            <a:r>
              <a:rPr lang="en-US" sz="1700" b="1" dirty="0">
                <a:solidFill>
                  <a:srgbClr val="252525"/>
                </a:solidFill>
                <a:latin typeface="Calisto MT" panose="02040603050505030304" pitchFamily="18" charset="0"/>
              </a:rPr>
              <a:t>Caduceus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[4]: bidirectional, reverse-complement-aware Mamba DNA LM — our baseline architecture class (~7.7 M parameters, trainable on 2× L40S).</a:t>
            </a:r>
          </a:p>
          <a:p>
            <a:pPr marL="457200" lvl="0" indent="-457200" algn="just">
              <a:spcAft>
                <a:spcPts val="700"/>
              </a:spcAft>
              <a:buFont typeface="+mj-lt"/>
              <a:buAutoNum type="arabicPeriod"/>
            </a:pPr>
            <a:r>
              <a:rPr lang="en-US" sz="1700" b="1" dirty="0">
                <a:solidFill>
                  <a:srgbClr val="252525"/>
                </a:solidFill>
                <a:latin typeface="Calisto MT" panose="02040603050505030304" pitchFamily="18" charset="0"/>
              </a:rPr>
              <a:t>Evo 2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[5]: 7B/40B StripedHyena-2, 1M-token context, 9.3T tokens — the sequence-only state of the art.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Yet Evo 2 penalises TAD-boundary deletions </a:t>
            </a:r>
            <a:r>
              <a:rPr lang="en-US" sz="1700" b="1" u="sng" dirty="0">
                <a:solidFill>
                  <a:srgbClr val="252525"/>
                </a:solidFill>
                <a:latin typeface="Calisto MT" panose="02040603050505030304" pitchFamily="18" charset="0"/>
              </a:rPr>
              <a:t>less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than matched random controls (Lee, 2026) [13] — sequence-only pretraining does not discover higher-order 3D structure on its own.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13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691506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-51079"/>
            <a:ext cx="8738648" cy="747237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10. Study on Existing Technologies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584462"/>
            <a:ext cx="8314441" cy="6273538"/>
          </a:xfrm>
        </p:spPr>
        <p:txBody>
          <a:bodyPr numCol="1">
            <a:normAutofit fontScale="85000" lnSpcReduction="20000"/>
          </a:bodyPr>
          <a:lstStyle/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Title: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Caduceus: Bi-Directional Equivariant Long-Range DNA Sequence Modeling [4]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Journal Details: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Proc. ICML 2024, PMLR Vol. 235, 2024 (arXiv:2403.03234)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Dataset: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Human reference genome hg38; GenomicBenchmarks, Nucleotide-Transformer tasks, Long Range Benchmark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Description:</a:t>
            </a:r>
          </a:p>
          <a:p>
            <a:pPr marL="0" lvl="0" indent="0" algn="just">
              <a:spcAft>
                <a:spcPts val="400"/>
              </a:spcAft>
              <a:buNone/>
            </a:pP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Extends the Mamba SSM block to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BiMamba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(bidirectional) and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MambaDNA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(reverse-complement equivariant) — the first RC-equivariant bidirectional long-range DNA language model, pretrained by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masked-token prediction (15%)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at up to 131 kb context. Beats models ~10× larger on long-range eQTL variant-effect prediction.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Gaps Addressed: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Linear-time long-context DNA modeling beyond transformer O(L²).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Principled reverse-complement handling (PH augmentation / PS equivariance).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Limitations: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Sequence-only — no chromatin-structure signal at any stage.</a:t>
            </a:r>
          </a:p>
          <a:p>
            <a:pPr marL="457200" lvl="0" indent="-457200" algn="just">
              <a:spcAft>
                <a:spcPts val="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Evaluated in the small-model regime only; our baseline inherits this scale.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14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682508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-51079"/>
            <a:ext cx="8738648" cy="747237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10. Study on Existing Technologies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584462"/>
            <a:ext cx="8314441" cy="6273538"/>
          </a:xfrm>
        </p:spPr>
        <p:txBody>
          <a:bodyPr numCol="1">
            <a:normAutofit fontScale="85000" lnSpcReduction="20000"/>
          </a:bodyPr>
          <a:lstStyle/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Title: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Genome Modelling and Design Across All Domains of Life with Evo 2 [5]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Journal Details: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Nature, Springer Nature, 2026 (preprint bioRxiv 10.1101/2025.02.18.638918)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Dataset: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OpenGenome2 — 8.8–9.3T tokens from &gt;128,000 genomes across all domains of life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Description:</a:t>
            </a:r>
          </a:p>
          <a:p>
            <a:pPr marL="0" lvl="0" indent="0" algn="just">
              <a:spcAft>
                <a:spcPts val="400"/>
              </a:spcAft>
              <a:buNone/>
            </a:pP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Autoregressive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StripedHyena 2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models at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7B and 40B parameters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with context up to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1M tokens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at single-nucleotide resolution; demonstrates chromosome-scale generation and &gt;90% accuracy on BRCA1 benign-vs-pathogenic classification — the strongest sequence-only genomic FM.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Gaps Addressed: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Long-context nucleotide modeling at unprecedented scale.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Cross-domain-of-life generalization from a single model.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Limitations: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No 3D structure anywhere — probing (Lee, 2026 [13]) shows it misses TAD/loop-scale organization.</a:t>
            </a:r>
          </a:p>
          <a:p>
            <a:pPr marL="457200" lvl="0" indent="-457200" algn="just">
              <a:spcAft>
                <a:spcPts val="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7B/40B scale is not reproducible on academic compute (enters this project only as a frozen-embedding reference).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14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682508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-51079"/>
            <a:ext cx="8738648" cy="747237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10. Study on Existing Technologies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584462"/>
            <a:ext cx="8314441" cy="6273538"/>
          </a:xfrm>
        </p:spPr>
        <p:txBody>
          <a:bodyPr numCol="1">
            <a:normAutofit fontScale="85000" lnSpcReduction="20000"/>
          </a:bodyPr>
          <a:lstStyle/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Title: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A Generalizable Hi-C Foundation Model for Chromatin Architecture, Single-Cell and Multi-Omics Analysis Across Species [6]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Journal Details: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Nature Methods, Springer Nature, 2026 (preprint bioRxiv 10.1101/2024.12.16.628821)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Dataset: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Hundreds of Hi-C assays: 81 human cell lines/tissues, ~118M contact submatrices; validated on 316 species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Description:</a:t>
            </a:r>
          </a:p>
          <a:p>
            <a:pPr marL="0" lvl="0" indent="0" algn="just">
              <a:spcAft>
                <a:spcPts val="400"/>
              </a:spcAft>
              <a:buNone/>
            </a:pP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Self-supervised pretraining on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Hi-C submatrix patches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; produces embeddings at chromosome, loci and locus levels; fine-tuned decoders handle reproducibility scoring, resolution enhancement, loop detection, single-cell Hi-C and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epigenomic-activity prediction from Hi-C alone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Gaps Addressed: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First generalizable foundation model over Hi-C contact maps.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Cross-species structural transfer at scale.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Limitations: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No DNA sequence channel — a point mutation does not change its input, so variants cannot be scored.</a:t>
            </a:r>
          </a:p>
          <a:p>
            <a:pPr marL="457200" lvl="0" indent="-457200" algn="just">
              <a:spcAft>
                <a:spcPts val="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Requires Hi-C at inference; inapplicable to cell types without Hi-C.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14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682508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-51079"/>
            <a:ext cx="8738648" cy="747237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10. Study on Existing Technologies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584462"/>
            <a:ext cx="8314441" cy="6273538"/>
          </a:xfrm>
        </p:spPr>
        <p:txBody>
          <a:bodyPr numCol="1">
            <a:normAutofit fontScale="85000" lnSpcReduction="20000"/>
          </a:bodyPr>
          <a:lstStyle/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Title: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Hi-Cformer Enables Multi-Scale Chromatin Contact Map Modeling for Single-Cell Hi-C Data Analysis [7]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Journal Details: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bioRxiv 10.1101/2025.08.04.668453, 2025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Dataset: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Single-cell Hi-C: Ramani2017, Lee2019, Tan2021, Wu2024 (1 Mb resolution)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Description:</a:t>
            </a:r>
          </a:p>
          <a:p>
            <a:pPr marL="0" lvl="0" indent="0" algn="just">
              <a:spcAft>
                <a:spcPts val="400"/>
              </a:spcAft>
              <a:buNone/>
            </a:pP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Transformer with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multi-scale block attention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over single-cell contact maps, pretrained with an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MLM objective over contact-map block embeddings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(20% masking, three-scale reconstruction loss); yields per-cell embeddings for clustering, cell-type annotation and imputation.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Gaps Addressed: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Multi-scale modeling of extremely sparse scHi-C data.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Self-supervised structural representation at single-cell level.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Limitations: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No sequence channel — "general-purpose" scope is cells, not loci or variants.</a:t>
            </a:r>
          </a:p>
          <a:p>
            <a:pPr marL="457200" lvl="0" indent="-457200" algn="just">
              <a:spcAft>
                <a:spcPts val="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1 Mb resolution is far above regulatory-element scale.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14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682508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-51079"/>
            <a:ext cx="8738648" cy="747237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10. Study on Existing Technologies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584462"/>
            <a:ext cx="8314441" cy="6273538"/>
          </a:xfrm>
        </p:spPr>
        <p:txBody>
          <a:bodyPr numCol="1">
            <a:normAutofit fontScale="85000" lnSpcReduction="20000"/>
          </a:bodyPr>
          <a:lstStyle/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Title: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Chromatin Interaction–Aware Gene Regulatory Modeling with Graph Attention Networks [8]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Journal Details: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Genome Research, Vol. 32, Issue 5, CSHL Press, 2022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Dataset: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HiChIP/Hi-C interaction graphs + 1D epigenomic tracks (CAGE, ChIP-seq)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Description:</a:t>
            </a:r>
          </a:p>
          <a:p>
            <a:pPr marL="0" lvl="0" indent="0" algn="just"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Graph attention networks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over chromatin-interaction graphs predict gene expression; attention weights provide interpretable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enhancer→gene attribution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. Established the GAT-over-contact-graph pattern that CHROME later refined.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Gaps Addressed: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Long-range enhancer attribution beyond fixed 1D windows.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Interpretable structure-aware regulatory prediction.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Limitations: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Structure used only in supervised downstream training — never in pretraining.</a:t>
            </a:r>
          </a:p>
          <a:p>
            <a:pPr marL="457200" lvl="0" indent="-457200" algn="just">
              <a:spcAft>
                <a:spcPts val="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Interaction graph required at inference.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14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682508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-51079"/>
            <a:ext cx="8738648" cy="747237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10. Study on Existing Technologies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584462"/>
            <a:ext cx="8314441" cy="6273538"/>
          </a:xfrm>
        </p:spPr>
        <p:txBody>
          <a:bodyPr numCol="1">
            <a:normAutofit fontScale="85000" lnSpcReduction="20000"/>
          </a:bodyPr>
          <a:lstStyle/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Title: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A Chromatin-Structure-Guided Framework for Predictive and Interpretable Regulatory Genomics (CHROME) [9]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Journal Details: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Briefings in Bioinformatics, Vol. 27, Issue 4, Oxford University Press, 2026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Dataset: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4DN Hi-C at 5 kb (GM12878, K562, IMR-90); 751 ENCODE ChIP-seq assays; GTEx eQTL; ClinVar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Description:</a:t>
            </a:r>
          </a:p>
          <a:p>
            <a:pPr marL="0" lvl="0" indent="0" algn="just">
              <a:spcAft>
                <a:spcPts val="400"/>
              </a:spcAft>
              <a:buNone/>
            </a:pP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Filters Hi-C to physically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non-random contacts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via a polymer null model (~2–6% kept); builds signal-centered subgraphs (≤4 Mb) over 5 kb loci;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two GAT layers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propagate neighbor information. Encoders are trained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structure-free to convergence in stage 1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; structure enters only in stage-2 fine-tuning. Improves ChIP-seq, eQTL and ClinVar performance.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Gaps Addressed: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Physically-grounded filtering separates specific contacts from polymer noise.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Structure-aware variant interpretation evaluated on ClinVar and eQTL.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Limitations: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Structure is strictly post-hoc — the sequence representation is fixed before structure exists; supervised only, no self-supervised pretraining.</a:t>
            </a:r>
          </a:p>
          <a:p>
            <a:pPr marL="457200" lvl="0" indent="-457200" algn="just">
              <a:spcAft>
                <a:spcPts val="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Needs the contact graph at inference; 5 kb bins cannot represent CTCF motif orientation.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14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682508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-51079"/>
            <a:ext cx="8738648" cy="747237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10. Study on Existing Technologies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584462"/>
            <a:ext cx="8314441" cy="6273538"/>
          </a:xfrm>
        </p:spPr>
        <p:txBody>
          <a:bodyPr numCol="1">
            <a:normAutofit fontScale="85000" lnSpcReduction="20000"/>
          </a:bodyPr>
          <a:lstStyle/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Title: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Evo2HiC: A Multimodal Foundation Model for Integrative Analysis of Genome Sequence and Architecture [10]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Journal Details: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bioRxiv 10.1101/2025.11.18.689171, 2025 (Noble Lab, Univ. of Washington)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Dataset: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1.2M × 2 kb human genomic bins; Hi-C contact maps; 177 DNA Zoo species (resolution enhancement)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Description:</a:t>
            </a:r>
          </a:p>
          <a:p>
            <a:pPr marL="0" lvl="0" indent="0" algn="just">
              <a:spcAft>
                <a:spcPts val="400"/>
              </a:spcAft>
              <a:buNone/>
            </a:pP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Distills frozen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Evo 2 (7B)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into a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3.6M-parameter CNN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via two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SigLIP-style contrastive objectives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: student ↔ Evo 2 embeddings, then student ↔ Hi-C patch embeddings — transferring TAD/loop knowledge into a DNA encoder. +10.9% Spearman over Orca on contact prediction at ~500× cheaper inference than Evo 2.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Gaps Addressed: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First work where Hi-C shapes a sequence encoder during representation learning.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Compute-efficient alternative to running a 7B genomic FM.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Limitations: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Contrastive alignment to a frozen teacher — no self-supervised objective over nucleotides (keyword count in paper: MLM = 0); the student’s ceiling is the teacher.</a:t>
            </a:r>
          </a:p>
          <a:p>
            <a:pPr marL="457200" lvl="0" indent="-457200" algn="just">
              <a:spcAft>
                <a:spcPts val="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No variant-level evaluation at all (ClinVar/eQTL/variant = 0 occurrences); CNN only — no SSM.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14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682508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A963D-20FF-89A3-626A-7C90795E2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DBB23-4EC6-964D-994F-D83B5C1A2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9047" y="270858"/>
            <a:ext cx="8006303" cy="549273"/>
          </a:xfrm>
        </p:spPr>
        <p:txBody>
          <a:bodyPr>
            <a:normAutofit fontScale="90000"/>
          </a:bodyPr>
          <a:lstStyle/>
          <a:p>
            <a:r>
              <a:rPr lang="en-US" sz="28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17.2. Results — Pretraining Comparison (Pending)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F799C-6FD4-A88F-98B0-7C07482F0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2232" y="1000000"/>
            <a:ext cx="8564253" cy="350000"/>
          </a:xfrm>
        </p:spPr>
        <p:txBody>
          <a:bodyPr numCol="1">
            <a:normAutofit fontScale="92500" lnSpcReduction="20000"/>
          </a:bodyPr>
          <a:lstStyle/>
          <a:p>
            <a:pPr marL="0" lvl="0" indent="0" algn="ctr">
              <a:buNone/>
            </a:pPr>
            <a:r>
              <a:rPr lang="en-US" sz="1400" b="1" dirty="0">
                <a:solidFill>
                  <a:srgbClr val="252525"/>
                </a:solidFill>
                <a:latin typeface="Calisto MT" panose="02040603050505030304" pitchFamily="18" charset="0"/>
              </a:rPr>
              <a:t>Table 4. Three-way + distillation comparison — intentionally unfilled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E3830B-FD85-D774-8D77-0970594AD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30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  <p:graphicFrame>
        <p:nvGraphicFramePr>
          <p:cNvPr id="953" name="Table 953"/>
          <p:cNvGraphicFramePr>
            <a:graphicFrameLocks noGrp="1"/>
          </p:cNvGraphicFramePr>
          <p:nvPr/>
        </p:nvGraphicFramePr>
        <p:xfrm>
          <a:off x="292232" y="1420000"/>
          <a:ext cx="8564253" cy="250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100000"/>
                <a:gridCol w="1450000"/>
                <a:gridCol w="1900000"/>
                <a:gridCol w="1300000"/>
                <a:gridCol w="814253"/>
              </a:tblGrid>
              <a:tr h="50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Model arm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Val. loss (bits/nt)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DNALongBench (ETG / eQTL)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ClinVar AUROC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Seeds</a:t>
                      </a:r>
                    </a:p>
                  </a:txBody>
                  <a:tcPr marL="36576" marR="36576" marT="18288" marB="18288" anchor="ctr"/>
                </a:tc>
              </a:tr>
              <a:tr h="500000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Sequence-only baseline (Caduceus-class)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??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??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??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≥3</a:t>
                      </a:r>
                    </a:p>
                  </a:txBody>
                  <a:tcPr marL="36576" marR="36576" marT="18288" marB="18288" anchor="ctr"/>
                </a:tc>
              </a:tr>
              <a:tr h="500000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CHROME-style post-hoc structure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??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??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??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≥3</a:t>
                      </a:r>
                    </a:p>
                  </a:txBody>
                  <a:tcPr marL="36576" marR="36576" marT="18288" marB="18288" anchor="ctr"/>
                </a:tc>
              </a:tr>
              <a:tr h="500000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Evo2HiC-style contrastive distillation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??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??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??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≥3</a:t>
                      </a:r>
                    </a:p>
                  </a:txBody>
                  <a:tcPr marL="36576" marR="36576" marT="18288" marB="18288" anchor="ctr"/>
                </a:tc>
              </a:tr>
              <a:tr h="500000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Structure-in-pretraining (proposed)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??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??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??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≥3</a:t>
                      </a:r>
                    </a:p>
                  </a:txBody>
                  <a:tcPr marL="36576" marR="36576" marT="18288" marB="18288" anchor="ctr"/>
                </a:tc>
              </a:tr>
            </a:tbl>
          </a:graphicData>
        </a:graphic>
      </p:graphicFrame>
      <p:sp>
        <p:nvSpPr>
          <p:cNvPr id="935" name="NoteBox 935"/>
          <p:cNvSpPr txBox="1"/>
          <p:nvPr/>
        </p:nvSpPr>
        <p:spPr>
          <a:xfrm>
            <a:off x="292232" y="4200000"/>
            <a:ext cx="8564253" cy="21000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 marL="0" lvl="0" indent="0" algn="just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C00000"/>
                </a:solidFill>
                <a:latin typeface="Calisto MT" panose="02040603050505030304" pitchFamily="18" charset="0"/>
              </a:rPr>
              <a:t xml:space="preserve">Why is this table empty?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Per the project’s no-hallucination rule (CLAUDE.md), a number may appear here only after it exists in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results/final_comparison.csv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from completed Phase 4–5 runs with ≥3 seeds. Pretraining had not started at the time this deck was prepared.</a:t>
            </a:r>
          </a:p>
          <a:p>
            <a:pPr marL="0" lvl="0" indent="0" algn="just">
              <a:buNone/>
            </a:pPr>
            <a:r>
              <a:rPr lang="en-US" sz="1400" i="1" dirty="0">
                <a:solidFill>
                  <a:srgbClr val="252525"/>
                </a:solidFill>
                <a:latin typeface="Calisto MT" panose="02040603050505030304" pitchFamily="18" charset="0"/>
              </a:rPr>
              <a:t>Decision rule already fixed (pre-registered in docs/architecture_spec.md §4.1.3): the mechanism passes only if the S1 control degrades performance with a 95% bootstrap CI excluding 0 and an effect ≥ 2σ across seeds; if S3 ≈ real, the structural claim is abandoned regardless of headline numbers.</a:t>
            </a:r>
          </a:p>
        </p:txBody>
      </p:sp>
    </p:spTree>
    <p:extLst>
      <p:ext uri="{BB962C8B-B14F-4D97-AF65-F5344CB8AC3E}">
        <p14:creationId xmlns:p14="http://schemas.microsoft.com/office/powerpoint/2010/main" val="3655580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