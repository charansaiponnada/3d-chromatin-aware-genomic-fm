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93" r:id="rId13"/>
  </p:sldIdLst>
  <p:sldSz cx="9144000" cy="6858000" type="screen4x3"/>
  <p:notesSz cx="6954838" cy="93091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1386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71B727E3-9991-4B0C-8167-23E35F3043C3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4300" y="1163638"/>
            <a:ext cx="4186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80004"/>
            <a:ext cx="5563870" cy="366545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78B3C13F-8C70-4967-B114-F8782C3B91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10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A3A6F-B049-4A3C-A314-6C5DC6ABA413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8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A0579-E4EA-4069-8E9E-A5661942CE83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4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C4A0-A0AB-494A-9349-6940CE23F0BB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4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9F13F-E3C0-47E7-81E7-2D67CDFD97CE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B4F48-C21C-4E8E-AA43-BB8E3BD2F306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0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0D7BC-B940-4993-A11F-8FBB77BA204E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7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4854-92A4-4BB6-9F1F-69BBC71788FF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46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CBDC-D391-4FA9-8D6F-9BC119CA0B97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2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212E-DE5B-4D49-B277-6F5AF26D6AF0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F1400-0AF8-4881-9500-1BCE077EF02C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50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0AC9-8025-43C3-9D7A-B30453D05E68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C9A0F-356B-4543-BBC4-6729314C25D3}" type="datetime1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2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46DB-D9D6-99F1-B8FD-FBA99021C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457484"/>
            <a:ext cx="7772400" cy="884259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Calisto MT" panose="02040603050505030304" pitchFamily="18" charset="0"/>
                <a:cs typeface="JasmineUPC" panose="02020603050405020304" pitchFamily="18" charset="-34"/>
              </a:rPr>
              <a:t>3D-Chromatin-Aware Genomic Foundation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D8221-192B-76DF-DF92-A9F15F83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24" y="4516258"/>
            <a:ext cx="3675512" cy="197363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Batch Members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Charan Sai (238W1A5447)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G. Karthik (248W5A5404)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Sanath (238W1A5446)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E82CFBC-36EF-B095-71E8-4AA9D64C0EFE}"/>
              </a:ext>
            </a:extLst>
          </p:cNvPr>
          <p:cNvSpPr txBox="1">
            <a:spLocks/>
          </p:cNvSpPr>
          <p:nvPr/>
        </p:nvSpPr>
        <p:spPr>
          <a:xfrm>
            <a:off x="4794945" y="4516258"/>
            <a:ext cx="4178431" cy="22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Under the Guidance of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Mrs. K. Divya Kothapali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Assistant Professor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D2FCE7-A20E-157E-20FA-2B09A5121833}"/>
              </a:ext>
            </a:extLst>
          </p:cNvPr>
          <p:cNvSpPr txBox="1">
            <a:spLocks/>
          </p:cNvSpPr>
          <p:nvPr/>
        </p:nvSpPr>
        <p:spPr>
          <a:xfrm>
            <a:off x="685800" y="3026573"/>
            <a:ext cx="7772400" cy="10584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lv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23CS7552: B. Tech Mini Project (0</a:t>
            </a:r>
            <a:r>
              <a:rPr lang="en-US" sz="2000" b="1" baseline="30000" dirty="0">
                <a:solidFill>
                  <a:srgbClr val="252525"/>
                </a:solidFill>
                <a:latin typeface="Calisto MT" panose="02040603050505030304" pitchFamily="18" charset="0"/>
              </a:rPr>
              <a:t>th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 Review)</a:t>
            </a:r>
          </a:p>
          <a:p>
            <a:pPr marL="0" lv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August 18, 2026</a:t>
            </a:r>
          </a:p>
          <a:p>
            <a:pPr marL="0" lvl="0" indent="0" algn="ctr"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Batch No: </a:t>
            </a:r>
            <a:r>
              <a:rPr lang="en-US" b="1" dirty="0">
                <a:solidFill>
                  <a:srgbClr val="252525"/>
                </a:solidFill>
                <a:latin typeface="Calisto MT" panose="02040603050505030304" pitchFamily="18" charset="0"/>
              </a:rPr>
              <a:t>19</a:t>
            </a:r>
            <a:endParaRPr lang="en-US" sz="1800" b="1" dirty="0">
              <a:solidFill>
                <a:srgbClr val="252525"/>
              </a:solidFill>
              <a:latin typeface="Calisto MT" panose="02040603050505030304" pitchFamily="18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0E7157D-0ED4-652A-8A59-DCC1031DA9E7}"/>
              </a:ext>
            </a:extLst>
          </p:cNvPr>
          <p:cNvSpPr txBox="1">
            <a:spLocks/>
          </p:cNvSpPr>
          <p:nvPr/>
        </p:nvSpPr>
        <p:spPr>
          <a:xfrm>
            <a:off x="906670" y="60484"/>
            <a:ext cx="7126664" cy="11259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VR SIDDHARTHA ENGINEERING COLLEGE, VIJAYAWADA</a:t>
            </a:r>
          </a:p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Department of Computer Science and Engineering</a:t>
            </a:r>
          </a:p>
        </p:txBody>
      </p:sp>
      <p:pic>
        <p:nvPicPr>
          <p:cNvPr id="11" name="Picture 10" descr="A picture containing diagram&#10;&#10;Description automatically generated">
            <a:extLst>
              <a:ext uri="{FF2B5EF4-FFF2-40B4-BE49-F238E27FC236}">
                <a16:creationId xmlns:a16="http://schemas.microsoft.com/office/drawing/2014/main" id="{2F0778DE-E80B-339F-BA7E-B056A9251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78" y="161404"/>
            <a:ext cx="950349" cy="1118057"/>
          </a:xfrm>
          <a:prstGeom prst="rect">
            <a:avLst/>
          </a:prstGeom>
        </p:spPr>
      </p:pic>
      <p:pic>
        <p:nvPicPr>
          <p:cNvPr id="13" name="Picture 12" descr="Logo&#10;&#10;Description automatically generated">
            <a:extLst>
              <a:ext uri="{FF2B5EF4-FFF2-40B4-BE49-F238E27FC236}">
                <a16:creationId xmlns:a16="http://schemas.microsoft.com/office/drawing/2014/main" id="{1D9962D5-2778-4C7F-FC4C-2CB25B317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301" y="153465"/>
            <a:ext cx="1118057" cy="111805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C680849-8AC5-7306-7F26-02AD56BF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637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4298"/>
            <a:ext cx="7886700" cy="709530"/>
          </a:xfrm>
        </p:spPr>
        <p:txBody>
          <a:bodyPr/>
          <a:lstStyle/>
          <a:p>
            <a:r>
              <a:rPr lang="en-US" sz="36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Abstract</a:t>
            </a:r>
            <a:endParaRPr lang="en-US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46376"/>
            <a:ext cx="8062863" cy="5253135"/>
          </a:xfrm>
        </p:spPr>
        <p:txBody>
          <a:bodyPr>
            <a:normAutofit/>
          </a:bodyPr>
          <a:lstStyle/>
          <a:p>
            <a:pPr marL="0" lvl="0" indent="0" algn="just">
              <a:spcAft>
                <a:spcPts val="800"/>
              </a:spcAft>
              <a:buNone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models such as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and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learn powerful representations of DNA, yet they read the genome as a one-dimensional string. Inside the nucleus, chromatin folds into compartments,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topologically associating domains (TADs)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and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that physically decide which enhancers can reach which promoters and recent probing shows that even a 7-billion-parameter sequence-only model fails to capture this higher-order organization. Existing structure-aware methods bolt a graph module onto an already-trained encoder (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CHROME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) or align embeddings to Hi-C patches by contrastive distillation (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Evo2HiC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); in no published model does 3D structure shape a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objective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over nucleotides. This project fills that gap: a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bidirectional Mamba DNA language model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whose recurrence is modulated by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Hi-C-derived structural features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, so that structure controls how far information propagates during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pretraining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. On a GM12878 chromosome-9 pilot, the model is compared against sequence-only, post-hoc and distillation arms at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matched parameters (+0.43%) and compute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, with </a:t>
            </a: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shuffled-structure controls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verifying that gains reflect genuine 3D structure rather than genomic distance.</a:t>
            </a:r>
          </a:p>
          <a:p>
            <a:pPr marL="0" lvl="0" indent="0" algn="just">
              <a:buNone/>
            </a:pPr>
            <a:r>
              <a:rPr lang="en-US" sz="1600" b="1" dirty="0">
                <a:solidFill>
                  <a:srgbClr val="833C00"/>
                </a:solidFill>
                <a:latin typeface="Calisto MT" panose="02040603050505030304" pitchFamily="18" charset="0"/>
              </a:rPr>
              <a:t>Keywords: </a:t>
            </a:r>
            <a:r>
              <a:rPr lang="en-US" sz="1600" i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model; 3D chromatin structure; Hi-C; topologically associating domains; state space models (Mamba); self-supervised pretraining; variant effect prediction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3089C-7D4B-76D0-EDD6-D1FEEE85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6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52" y="120030"/>
            <a:ext cx="7886700" cy="549273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Presentation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687062"/>
            <a:ext cx="8634953" cy="5851851"/>
          </a:xfrm>
        </p:spPr>
        <p:txBody>
          <a:bodyPr numCol="2">
            <a:normAutofit/>
          </a:bodyPr>
          <a:lstStyle/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1. Research Domain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2. SDG Categories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3. Aim and Motivation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4. Research Questions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5. Title Justification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6. Objectives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7. Scope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8. Timeline Chart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2400" b="1" dirty="0">
                <a:solidFill>
                  <a:srgbClr val="252525"/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3DE6-22F4-4655-E43D-E5183840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598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E336-ABF5-A846-DE08-38640CE5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0ACF-C0A4-F059-E3E6-80EBC5505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1. Research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AD35-D206-4743-0207-C6CD2E794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43" y="772015"/>
            <a:ext cx="8314441" cy="5870705"/>
          </a:xfrm>
        </p:spPr>
        <p:txBody>
          <a:bodyPr numCol="1">
            <a:normAutofit/>
          </a:bodyPr>
          <a:lstStyle/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Primary 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Artificial Intelligence and Machine Learning — Foundation Models and Self-Supervised Learning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Sub-Domain: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Computational Genomics and Long-Range DNA Sequence Modeling with State Space Models (Mamba/SSM)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Application Area: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Regulatory genomics enhancer–promoter interaction, regulatory element association and clinical variant-effect interpretation (ClinVar)</a:t>
            </a:r>
          </a:p>
          <a:p>
            <a:pPr lvl="0" algn="just"/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Interdisciplinary basis: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> 3D genome biology (Hi-C, TADs, chromatin loops) supplies the structural signal that the machine-learning contribution conditions 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CD8A0-D22F-28CB-6DA4-2B5A203C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77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B8B0-6FA6-1A9D-CBD0-94855C5A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4B460-8C98-C0EC-7B6F-08A2E00DE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2. SDG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BAAF-ACF3-ADF2-52AE-80536527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0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Mapped SDGs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SDG 3 — Good Health and Well-Being: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improved interpretation of non-coding and pathogenic variants (ClinVar evaluation) supports precision-medicine and disease-mechanism research.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SDG 9 — Industry, Innovation and Infrastructure: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 open, reproducible AI research infrastructure  released pipeline, data card and matched-compute benchmark protocol.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*Only SDGs directly aligned with the project objectives and outcomes are claimed.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B90BE-2D81-5E43-3A1E-442D1D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0F15D0-BE51-3FBD-56FD-F97A2B91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012" y="3119552"/>
            <a:ext cx="5895975" cy="36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9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3. Aim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Aim</a:t>
            </a:r>
          </a:p>
          <a:p>
            <a:pPr marL="0" lvl="0" indent="0" algn="just">
              <a:spcAft>
                <a:spcPts val="700"/>
              </a:spcAft>
              <a:buNone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build and evaluate a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whose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is conditioned on 3D chromatin structure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(Hi-C), so that structural information shapes the learned sequence representation itself not merely a layer added after training.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Motivation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genome operates in 3D: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 and loops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physically decide which enhancers reach which promoters.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Current genomic FMs read DNA as a 1D string and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2-7B provably misses TAD/loop-scale organization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despite 9.3T training tokens.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Existing fixes are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post-hoc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(CHROME) or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embedding alignment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(Evo2HiC) the pretraining objective itself has never seen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637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71961"/>
            <a:ext cx="8738648" cy="634115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4.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377" y="631596"/>
            <a:ext cx="8578391" cy="610637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conditioning self-supervised masked-token pretraining on Hi-C-derived structural features improve a DNA language model over a sequence-only baseline at matched parameters and compute?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structure entering the SSM recurrence during pretraining outperform post-hoc integration (CHROME-style) and contrastive distillation (Evo2HiC-style) on regulatory and variant-effect transfer tasks?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Are the observed gains attributable to genuine locus-specific 3D structure rather than to genomic distance decay  i.e., do shuffled-structure and distance-matched controls (S0–S3) degrade performance?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6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5. Title 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"3D-Chromatin-Aware"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— the model consumes measured Hi-C contact structure (insulation, directionality, contact density, A/B compartments), not just the linear sequence.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"Genomic"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— it operates on nucleotide-resolution DNA, where CTCF motif orientation the actual loop grammar is representable (impossible at CHROME’s 5 kb bins).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"Foundation Model"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— general-purpose self-supervised pretraining evaluated by transfer, unlike supervised single-task predictors (Akita, Orca, CHROME).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title states the mechanism precisely that is awareness of 3D chromatin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during pretraining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 is what no alternative title in this space already covers.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30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6.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construct a paired sequence + Hi-C pilot dataset (GM12878, chr9, GRCh38) with an 8-feature per-bin structural vector validated against independent 4D Nucleome tracks (target r &gt; 0.95).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design and implement a structural-bias mechanism inside a bidirectional Mamba recurrence, matching the sequence-only baseline’s parameter count within 5% (achieved: +0.43%).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pretrain and compare four matched arms — sequence-only, CHROME-style post-hoc, Evo2HiC-style distillation, and the proposed model — with at least 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verify via shuffled-structure controls (S0–S3) that any gain derives from genuine 3D structure, and to evaluate transfer on DNALongBench-style regulatory and variant tasks.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08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7.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1018094"/>
            <a:ext cx="8314441" cy="53382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pilot is restricted to one chromosome of one cell line of one species human GM12878, chr9, 5 kb Hi-C resolution; every claim inherits this limitation and is stated accordingly.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Model scale is bounded by the available compute (2× NVIDIA L40S, 96 GB total): a ~7.7 M-parameter backbone on 32,768-bp windows — the small-model regime, not a 7B-scale reproduction.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covers masked-token loss plus selected regulatory/variant transfer tasks; cross-species modeling (DNA Zoo) and genome-wide scaling are explicitly out of scope for this phase.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744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8. Timeline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50000"/>
            <a:ext cx="8564253" cy="400000"/>
          </a:xfrm>
        </p:spPr>
        <p:txBody>
          <a:bodyPr numCol="1">
            <a:normAutofit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1. Timeline chart for the Mini Project work (August – November 2026)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0" name="Table 950"/>
          <p:cNvGraphicFramePr>
            <a:graphicFrameLocks noGrp="1"/>
          </p:cNvGraphicFramePr>
          <p:nvPr/>
        </p:nvGraphicFramePr>
        <p:xfrm>
          <a:off x="962000" y="1450000"/>
          <a:ext cx="7220000" cy="47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S. 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Action Plan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AUG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OCT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NOV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Literature survey and gap analysis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Pilot data acquisition (Hi-C + genome + GTF)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Structural features (φ) and validation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Mechanism design and architecture spec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implementation and unit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Baseline and comparison-arm 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Ablations (S0–S3) and downstream evaluation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Results analysis and comparison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Report writing and paper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Project reviews (0th / 1st / 2nd / End Sem.)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7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166" y="15537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64" y="790755"/>
            <a:ext cx="4268899" cy="5748157"/>
          </a:xfrm>
        </p:spPr>
        <p:txBody>
          <a:bodyPr numCol="1">
            <a:normAutofit/>
          </a:bodyPr>
          <a:lstStyle/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Lieberman-Aiden, E., et al. (2009). Comprehensive mapping of long-range interactions reveals folding principles of the human genome. Science, 326(5950), 289–293.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Dixon, J. R., et al. (2012). Topological domains in mammalian genomes identified by analysis of chromatin interactions. Nature, 485, 376–380.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Rao, S. S. P., et al. (2014). A 3D map of the human genome at kilobase resolution reveals principles of chromatin looping. Cell, 159(7), 1665–1680.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Schiff, Y., Kao, C.-H., et al. (2024). Caduceus: Bi-directional equivariant long-range DNA sequence modeling. Proceedings of ICML 2024, PMLR 235. arXiv:2403.03234.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[5]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Brixi, G., et al. (2026). Genome modelling and design across all domains of life with Evo 2. Nature. (Preprint: bioRxiv 10.1101/2025.02.18.638918).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[6]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Wang, X., et al. (2026). A generalizable Hi-C foundation model for chromatin architecture, single-cell and multi-omics analysis across species. Nature Methods. (Preprint: bioRxiv 10.1101/2024.12.16.628821).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[7]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Wu, X., Chen, X., &amp; Jiang, R. (2025). Hi-Cformer enables multi-scale chromatin contact map modeling for single-cell Hi-C data analysis. bioRxiv 10.1101/2025.08.04.668453.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D706-BAAD-007D-D4CC-247F422D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13500B2-5D78-46B4-2E7E-95274C6B8F42}"/>
              </a:ext>
            </a:extLst>
          </p:cNvPr>
          <p:cNvSpPr txBox="1">
            <a:spLocks/>
          </p:cNvSpPr>
          <p:nvPr/>
        </p:nvSpPr>
        <p:spPr>
          <a:xfrm>
            <a:off x="4714463" y="790755"/>
            <a:ext cx="4268899" cy="5748157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[8] </a:t>
            </a:r>
            <a:r>
              <a:rPr lang="en-US" sz="1200" dirty="0" err="1">
                <a:solidFill>
                  <a:srgbClr val="252525"/>
                </a:solidFill>
                <a:latin typeface="Calisto MT" panose="02040603050505030304" pitchFamily="18" charset="0"/>
              </a:rPr>
              <a:t>Karbalayghareh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, A., et al. (2022). Chromatin interaction–aware gene regulatory modeling with graph attention networks. Genome Research, 32(5), 930–944.</a:t>
            </a:r>
          </a:p>
          <a:p>
            <a:pPr marL="342900" lvl="0" indent="-342900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[9]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Ye, F., et al. (2026). A chromatin-structure-guided framework for predictive and interpretable regulatory genomics. Briefings in Bioinformatics, 27(4), bbag360.</a:t>
            </a:r>
          </a:p>
          <a:p>
            <a:pPr marL="342900" lvl="0" indent="-342900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[10]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Fang, T., Wang, X., Xiao, Z., et al. (2025). Evo2HiC: A multimodal foundation model for integrative analysis of genome sequence and architecture. bioRxiv 10.1101/2025.11.18.689171.</a:t>
            </a:r>
          </a:p>
          <a:p>
            <a:pPr marL="342900" lvl="0" indent="-342900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[11] </a:t>
            </a:r>
            <a:r>
              <a:rPr lang="en-US" sz="1200" dirty="0" err="1">
                <a:solidFill>
                  <a:srgbClr val="252525"/>
                </a:solidFill>
                <a:latin typeface="Calisto MT" panose="02040603050505030304" pitchFamily="18" charset="0"/>
              </a:rPr>
              <a:t>Fudenberg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, G., Kelley, D. R., &amp; Pollard, K. S. (2020). Predicting 3D genome folding from DNA sequence with Akita. Nature Methods, 17, 1111–1117.</a:t>
            </a:r>
          </a:p>
          <a:p>
            <a:pPr marL="342900" lvl="0" indent="-342900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Zhou, J. (2022). Sequence-based modeling of three-dimensional genome architecture from kilobase to chromosome scale. Nature Genetics, 54, 725–734.</a:t>
            </a:r>
          </a:p>
          <a:p>
            <a:pPr marL="342900" lvl="0" indent="-342900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Lee, U. (2026). Probing 3D chromatin structure awareness in Evo2 DNA language model. arXiv:2604.07196.</a:t>
            </a:r>
          </a:p>
          <a:p>
            <a:pPr marL="342900" lvl="0" indent="-342900"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[14]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Cheng, W., et al. (2025). </a:t>
            </a:r>
            <a:r>
              <a:rPr lang="en-US" sz="1200" dirty="0" err="1">
                <a:solidFill>
                  <a:srgbClr val="252525"/>
                </a:solidFill>
                <a:latin typeface="Calisto MT" panose="02040603050505030304" pitchFamily="18" charset="0"/>
              </a:rPr>
              <a:t>DNALongBench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: A benchmark suite for long-range DNA prediction tasks. Nature Communications, 16(1), 10108.</a:t>
            </a:r>
          </a:p>
        </p:txBody>
      </p:sp>
    </p:spTree>
    <p:extLst>
      <p:ext uri="{BB962C8B-B14F-4D97-AF65-F5344CB8AC3E}">
        <p14:creationId xmlns:p14="http://schemas.microsoft.com/office/powerpoint/2010/main" val="4037050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1634</Words>
  <Application>Microsoft Office PowerPoint</Application>
  <PresentationFormat>On-screen Show (4:3)</PresentationFormat>
  <Paragraphs>157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Calisto MT</vt:lpstr>
      <vt:lpstr>Office Theme</vt:lpstr>
      <vt:lpstr>3D-Chromatin-Aware Genomic Foundation Model</vt:lpstr>
      <vt:lpstr>Abstract</vt:lpstr>
      <vt:lpstr>Presentation Outline</vt:lpstr>
      <vt:lpstr>1. Research Domain</vt:lpstr>
      <vt:lpstr>2. SDG Categories</vt:lpstr>
      <vt:lpstr>3. Aim and Motivation</vt:lpstr>
      <vt:lpstr>4. Research Questions</vt:lpstr>
      <vt:lpstr>5. Title Justification</vt:lpstr>
      <vt:lpstr>6. Objectives</vt:lpstr>
      <vt:lpstr>7. Scope</vt:lpstr>
      <vt:lpstr>8. Timeline Chart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Charan Sai Ponnada</cp:lastModifiedBy>
  <cp:revision>5</cp:revision>
  <dcterms:modified xsi:type="dcterms:W3CDTF">2026-08-25T14:35:58Z</dcterms:modified>
</cp:coreProperties>
</file>