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1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1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93" r:id="rId44"/>
  </p:sldIdLst>
  <p:sldSz cy="6858000" cx="9144000"/>
  <p:notesSz cx="6954825" cy="93091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940675A-B579-460E-94D1-54222C63F5DA}" styleName="No Style, Table Grid">
    <a:wholeTbl>
      <a:tcTxStyle>
        <a:fontRef idx="minor">
          <a:scrgbClr b="0" g="0" r="0"/>
        </a:fontRef>
        <a:schemeClr val="tx1"/>
      </a:tcTxStyle>
      <a:tcStyle>
        <a:tcBdr>
          <a:left>
            <a:ln cmpd="sng" w="12700">
              <a:solidFill>
                <a:schemeClr val="tx1"/>
              </a:solidFill>
            </a:ln>
          </a:left>
          <a:right>
            <a:ln cmpd="sng" w="12700">
              <a:solidFill>
                <a:schemeClr val="tx1"/>
              </a:solidFill>
            </a:ln>
          </a:right>
          <a:top>
            <a:ln cmpd="sng" w="12700">
              <a:solidFill>
                <a:schemeClr val="tx1"/>
              </a:solidFill>
            </a:ln>
          </a:top>
          <a:bottom>
            <a:ln cmpd="sng" w="12700">
              <a:solidFill>
                <a:schemeClr val="tx1"/>
              </a:solidFill>
            </a:ln>
          </a:bottom>
          <a:insideH>
            <a:ln cmpd="sng" w="12700">
              <a:solidFill>
                <a:schemeClr val="tx1"/>
              </a:solidFill>
            </a:ln>
          </a:insideH>
          <a:insideV>
            <a:ln cmpd="sng" w="12700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44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71B727E3-9991-4B0C-8167-23E35F3043C3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78B3C13F-8C70-4967-B114-F8782C3B91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010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 lists for [5], [6] and [7] are to be completed against the published record before submission. They are cited here by title and identifier so that every entry is verifiable exactly as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3A6F-B049-4A3C-A314-6C5DC6ABA413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8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A0579-E4EA-4069-8E9E-A5661942CE83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46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C4A0-A0AB-494A-9349-6940CE23F0BB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4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9F13F-E3C0-47E7-81E7-2D67CDFD97CE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36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4F48-C21C-4E8E-AA43-BB8E3BD2F306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00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0D7BC-B940-4993-A11F-8FBB77BA204E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74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94854-92A4-4BB6-9F1F-69BBC71788FF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46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6CBDC-D391-4FA9-8D6F-9BC119CA0B97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0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F212E-DE5B-4D49-B277-6F5AF26D6AF0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5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1400-0AF8-4881-9500-1BCE077EF02C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04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0AC9-8025-43C3-9D7A-B30453D05E68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15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C9A0F-356B-4543-BBC4-6729314C25D3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20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cribbr.com/research-process/research-question-examples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cribbr.com/citation/generator/apa/" TargetMode="Externa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C46DB-D9D6-99F1-B8FD-FBA99021C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457484"/>
            <a:ext cx="7772400" cy="884259"/>
          </a:xfrm>
        </p:spPr>
        <p:txBody>
          <a:bodyPr>
            <a:noAutofit/>
          </a:bodyPr>
          <a:lstStyle/>
          <a:p>
            <a:pPr algn="ctr"/>
            <a:r>
              <a:rPr sz="2000" b="1"/>
              <a:t>ChromGraphFM: An End-to-End 3D Chromatin-Conditioned Genomic Foundation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D8221-192B-76DF-DF92-A9F15F837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24" y="4516258"/>
            <a:ext cx="3675512" cy="1973635"/>
          </a:xfrm>
        </p:spPr>
        <p:txBody>
          <a:bodyPr wrap="square">
            <a:normAutofit fontScale="40000" lnSpcReduction="20000"/>
          </a:bodyPr>
          <a:lstStyle/>
          <a:p>
            <a:pPr/>
            <a:r>
              <a:rPr sz="1400" b="1"/>
              <a:t>Batch Members</a:t>
            </a:r>
          </a:p>
          <a:p>
            <a:pPr/>
            <a:r>
              <a:rPr sz="1300" b="0"/>
              <a:t>P. Charan Sai (238W1A5447)</a:t>
            </a:r>
          </a:p>
          <a:p>
            <a:pPr/>
            <a:r>
              <a:rPr sz="1300" b="0"/>
              <a:t>G. Karthik (248W5A5404)</a:t>
            </a:r>
          </a:p>
          <a:p>
            <a:pPr/>
            <a:r>
              <a:rPr sz="1300" b="0"/>
              <a:t>P. Sanath (238W1A5446)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E82CFBC-36EF-B095-71E8-4AA9D64C0EFE}"/>
              </a:ext>
            </a:extLst>
          </p:cNvPr>
          <p:cNvSpPr txBox="1">
            <a:spLocks/>
          </p:cNvSpPr>
          <p:nvPr/>
        </p:nvSpPr>
        <p:spPr>
          <a:xfrm>
            <a:off x="4794945" y="4516258"/>
            <a:ext cx="4178431" cy="2220295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1400" b="1"/>
              <a:t>Under the Guidance of</a:t>
            </a:r>
          </a:p>
          <a:p>
            <a:pPr/>
            <a:r>
              <a:rPr sz="1300" b="0"/>
              <a:t>Mrs. K. Divya Kothapali</a:t>
            </a:r>
          </a:p>
          <a:p>
            <a:pPr/>
            <a:r>
              <a:rPr sz="1200" b="0"/>
              <a:t>Assistant Professor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D2FCE7-A20E-157E-20FA-2B09A5121833}"/>
              </a:ext>
            </a:extLst>
          </p:cNvPr>
          <p:cNvSpPr txBox="1">
            <a:spLocks/>
          </p:cNvSpPr>
          <p:nvPr/>
        </p:nvSpPr>
        <p:spPr>
          <a:xfrm>
            <a:off x="685800" y="3293700"/>
            <a:ext cx="7772400" cy="791278"/>
          </a:xfrm>
          <a:prstGeom prst="rect">
            <a:avLst/>
          </a:prstGeom>
        </p:spPr>
        <p:txBody>
          <a:bodyPr vert="horz" lIns="91440" tIns="45720" rIns="91440" bIns="45720" rtlCol="0" anchor="b" wrap="square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/>
            <a:r>
              <a:rPr sz="1400" b="0"/>
              <a:t>23CS7552: B. Tech Mini Project (0th Review)</a:t>
            </a:r>
          </a:p>
          <a:p>
            <a:pPr/>
            <a:r>
              <a:rPr sz="1300" b="0"/>
              <a:t>August 18, 2026</a:t>
            </a:r>
          </a:p>
          <a:p>
            <a:pPr/>
            <a:r>
              <a:rPr sz="1300" b="0"/>
              <a:t>Batch No: __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0E7157D-0ED4-652A-8A59-DCC1031DA9E7}"/>
              </a:ext>
            </a:extLst>
          </p:cNvPr>
          <p:cNvSpPr txBox="1">
            <a:spLocks/>
          </p:cNvSpPr>
          <p:nvPr/>
        </p:nvSpPr>
        <p:spPr>
          <a:xfrm>
            <a:off x="906670" y="60484"/>
            <a:ext cx="7126664" cy="11259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Calisto MT" panose="02040603050505030304" pitchFamily="18" charset="0"/>
                <a:cs typeface="JasmineUPC" panose="02020603050405020304" pitchFamily="18" charset="-34"/>
              </a:rPr>
              <a:t>VR SIDDHARTHA ENGINEERING COLLEGE, VIJAYAWADA</a:t>
            </a:r>
          </a:p>
          <a:p>
            <a:r>
              <a:rPr lang="en-US" sz="2000" b="1" dirty="0">
                <a:latin typeface="Calisto MT" panose="02040603050505030304" pitchFamily="18" charset="0"/>
                <a:cs typeface="JasmineUPC" panose="02020603050405020304" pitchFamily="18" charset="-34"/>
              </a:rPr>
              <a:t>Department of Computer Science and Engineering</a:t>
            </a:r>
          </a:p>
        </p:txBody>
      </p:sp>
      <p:pic>
        <p:nvPicPr>
          <p:cNvPr id="11" name="Picture 10" descr="A picture containing diagram&#10;&#10;Description automatically generated">
            <a:extLst>
              <a:ext uri="{FF2B5EF4-FFF2-40B4-BE49-F238E27FC236}">
                <a16:creationId xmlns:a16="http://schemas.microsoft.com/office/drawing/2014/main" id="{2F0778DE-E80B-339F-BA7E-B056A9251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78" y="161404"/>
            <a:ext cx="950349" cy="1118057"/>
          </a:xfrm>
          <a:prstGeom prst="rect">
            <a:avLst/>
          </a:prstGeom>
        </p:spPr>
      </p:pic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1D9962D5-2778-4C7F-FC4C-2CB25B317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301" y="153465"/>
            <a:ext cx="1118057" cy="1118057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C680849-8AC5-7306-7F26-02AD56BFE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637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4298"/>
            <a:ext cx="7886700" cy="709530"/>
          </a:xfrm>
        </p:spPr>
        <p:txBody>
          <a:bodyPr/>
          <a:lstStyle/>
          <a:p>
            <a:r>
              <a:rPr lang="en-US" sz="3600" b="1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Abstract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046376"/>
            <a:ext cx="8062863" cy="5253135"/>
          </a:xfrm>
        </p:spPr>
        <p:txBody>
          <a:bodyPr wrap="square">
            <a:normAutofit/>
          </a:bodyPr>
          <a:lstStyle/>
          <a:p>
            <a:pPr/>
            <a:r>
              <a:rPr sz="1400" b="0"/>
              <a:t>Three-dimensional chromatin organisation lets distal regulatory elements control gene expression, yet most genomic sequence models treat the genome as a one-dimensional string. This project develops ChromGraphFM, a compact 3D chromatin-conditioned genomic representation model trained from scratch on DNA sequence and Hi-C contact maps. Genomic regions become nodes in a sparse contact graph, and measured Hi-C contact strengths bias attention among distant DNA windows throughout self-supervised pretraining, so structure shapes the sequence representation instead of being appended after it. Pretraining combines masked DNA modelling, distance-matched contact-aware contrastive learning, and chromatin contact prediction. The model is evaluated against sequence-only, shuffled-contact, distance-only, random-graph and late-fusion controls trained at matched parameters, data and compute, using chromosome-level and cell-type held-out splits for contact-map prediction, chromatin loop detection, enhancer-promoter linking and Hi-C-free transfer. The central question is whether experimentally measured 3D structure can be internalised into a reusable DNA representation rather than supplied as an extra input at prediction time.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089C-7D4B-76D0-EDD6-D1FEEE85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68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52" y="120030"/>
            <a:ext cx="7886700" cy="549273"/>
          </a:xfrm>
        </p:spPr>
        <p:txBody>
          <a:bodyPr>
            <a:normAutofit fontScale="90000"/>
          </a:bodyPr>
          <a:lstStyle/>
          <a:p>
            <a:r>
              <a:rPr lang="en-US" sz="4000" b="1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Presentation Outline</a:t>
            </a: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352" y="687062"/>
            <a:ext cx="8634953" cy="5851851"/>
          </a:xfrm>
        </p:spPr>
        <p:txBody>
          <a:bodyPr numCol="2" wrap="square">
            <a:normAutofit fontScale="25000" lnSpcReduction="20000"/>
          </a:bodyPr>
          <a:lstStyle/>
          <a:p>
            <a:pPr/>
            <a:r>
              <a:rPr sz="1200" b="0"/>
              <a:t>1. Research Domain</a:t>
            </a:r>
          </a:p>
          <a:p>
            <a:pPr/>
            <a:r>
              <a:rPr sz="1200" b="0"/>
              <a:t>2. SDG Categories</a:t>
            </a:r>
          </a:p>
          <a:p>
            <a:pPr/>
            <a:r>
              <a:rPr sz="1200" b="0"/>
              <a:t>3. Aim and Motivation</a:t>
            </a:r>
          </a:p>
          <a:p>
            <a:pPr/>
            <a:r>
              <a:rPr sz="1200" b="0"/>
              <a:t>4. Research Questions</a:t>
            </a:r>
          </a:p>
          <a:p>
            <a:pPr/>
            <a:r>
              <a:rPr sz="1200" b="0"/>
              <a:t>5. Title Justification</a:t>
            </a:r>
          </a:p>
          <a:p>
            <a:pPr/>
            <a:r>
              <a:rPr sz="1200" b="0"/>
              <a:t>6. Objectives</a:t>
            </a:r>
          </a:p>
          <a:p>
            <a:pPr/>
            <a:r>
              <a:rPr sz="1200" b="0"/>
              <a:t>7. Scope</a:t>
            </a:r>
          </a:p>
          <a:p>
            <a:pPr/>
            <a:r>
              <a:rPr sz="1200" b="0"/>
              <a:t>8. Timeline Chart</a:t>
            </a:r>
          </a:p>
          <a:p>
            <a:pPr/>
            <a:r>
              <a:rPr sz="1200" b="0"/>
              <a:t>9. Introduction</a:t>
            </a:r>
          </a:p>
          <a:p>
            <a:pPr/>
            <a:r>
              <a:rPr sz="1200" b="0"/>
              <a:t>10. Study on Existing Technologies</a:t>
            </a:r>
          </a:p>
          <a:p>
            <a:pPr/>
            <a:r>
              <a:rPr sz="1200" b="0"/>
              <a:t>11. Gap Analysis</a:t>
            </a:r>
          </a:p>
          <a:p>
            <a:pPr/>
            <a:r>
              <a:rPr sz="1200" b="0"/>
              <a:t>12. SDLC Model</a:t>
            </a:r>
          </a:p>
          <a:p>
            <a:pPr/>
            <a:r>
              <a:rPr sz="1200" b="0"/>
              <a:t>13. UML Diagrams</a:t>
            </a:r>
          </a:p>
          <a:p>
            <a:pPr/>
            <a:r>
              <a:rPr sz="1200" b="0"/>
              <a:t>14. Functional and Non-Functional Requirements</a:t>
            </a:r>
          </a:p>
          <a:p>
            <a:pPr/>
            <a:r>
              <a:rPr sz="1200" b="0"/>
              <a:t>15. Data Collection</a:t>
            </a:r>
          </a:p>
          <a:p>
            <a:pPr/>
            <a:r>
              <a:rPr sz="1200" b="0"/>
              <a:t>16. Data Preparation</a:t>
            </a:r>
          </a:p>
          <a:p>
            <a:pPr/>
            <a:r>
              <a:rPr sz="1200" b="0"/>
              <a:t>17. Proposed System Architecture</a:t>
            </a:r>
          </a:p>
          <a:p>
            <a:pPr/>
            <a:r>
              <a:rPr sz="1200" b="0"/>
              <a:t>18. Experimental Setup and Results</a:t>
            </a:r>
          </a:p>
          <a:p>
            <a:pPr/>
            <a:r>
              <a:rPr sz="1200" b="0"/>
              <a:t>19. Project Outcomes</a:t>
            </a:r>
          </a:p>
          <a:p>
            <a:pPr/>
            <a:r>
              <a:rPr sz="1200" b="0"/>
              <a:t>20. Conclusion and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3DE6-22F4-4655-E43D-E5183840B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4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59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CE336-ABF5-A846-DE08-38640CE55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0ACF-C0A4-F059-E3E6-80EBC550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1. Research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4AD35-D206-4743-0207-C6CD2E794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643" y="77201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800" b="1"/>
              <a:t>Primary domain: Computational Genomics / Bioinformatics</a:t>
            </a:r>
          </a:p>
          <a:p>
            <a:pPr lvl="1"/>
            <a:r>
              <a:rPr sz="1600" b="0"/>
              <a:t>Three-dimensional genome organisation and gene regulation</a:t>
            </a:r>
          </a:p>
          <a:p>
            <a:pPr lvl="1"/>
            <a:r>
              <a:rPr sz="1600" b="0"/>
              <a:t>Chromosome conformation capture data (Hi-C, Micro-C)</a:t>
            </a:r>
          </a:p>
          <a:p>
            <a:pPr/>
            <a:r>
              <a:rPr sz="1800" b="1"/>
              <a:t>Secondary domain: Machine Learning / Representation Learning</a:t>
            </a:r>
          </a:p>
          <a:p>
            <a:pPr lvl="1"/>
            <a:r>
              <a:rPr sz="1600" b="0"/>
              <a:t>Self-supervised pretraining and foundation models for biological sequences</a:t>
            </a:r>
          </a:p>
          <a:p>
            <a:pPr lvl="1"/>
            <a:r>
              <a:rPr sz="1600" b="0"/>
              <a:t>Attention and graph neural networks with a structural inductive bias</a:t>
            </a:r>
          </a:p>
          <a:p>
            <a:pPr/>
            <a:r>
              <a:rPr sz="1800" b="1"/>
              <a:t>Where the two meet</a:t>
            </a:r>
          </a:p>
          <a:p>
            <a:pPr lvl="2"/>
            <a:r>
              <a:rPr sz="1400" b="0">
                <a:solidFill>
                  <a:srgbClr val="595959"/>
                </a:solidFill>
              </a:rPr>
              <a:t>The genome is read as a 1D string but folds in 3D. Regulatory elements act on genes megabases away in sequence yet nanometres away in space. This project asks whether measured folding can be built into how a model reads the sequence.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CD8A0-D22F-28CB-6DA4-2B5A203C9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5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477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0B8B0-6FA6-1A9D-CBD0-94855C5A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4B460-8C98-C0EC-7B6F-08A2E00DE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2. SDG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EBAAF-ACF3-ADF2-52AE-805365274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800" b="1"/>
              <a:t>SDG 3 - Good Health and Well-being</a:t>
            </a:r>
          </a:p>
          <a:p>
            <a:pPr lvl="1"/>
            <a:r>
              <a:rPr sz="1600" b="0"/>
              <a:t>Most disease-associated variants from genome-wide association studies fall in non-coding regions whose target genes are unknown</a:t>
            </a:r>
          </a:p>
          <a:p>
            <a:pPr lvl="1"/>
            <a:r>
              <a:rPr sz="1600" b="0"/>
              <a:t>Better enhancer-gene linking is a direct route to interpreting those variants</a:t>
            </a:r>
          </a:p>
          <a:p>
            <a:pPr/>
            <a:r>
              <a:rPr sz="1800" b="1"/>
              <a:t>SDG 9 - Industry, Innovation and Infrastructure</a:t>
            </a:r>
          </a:p>
          <a:p>
            <a:pPr lvl="1"/>
            <a:r>
              <a:rPr sz="1600" b="0"/>
              <a:t>A compact, openly released pretrained encoder lowers the compute barrier for labs that cannot train billion-parameter genomic models</a:t>
            </a:r>
          </a:p>
          <a:p>
            <a:pPr lvl="1"/>
            <a:r>
              <a:rPr sz="1600" b="0"/>
              <a:t>The Hi-C-free setting matters here: most labs have sequence but no Hi-C</a:t>
            </a:r>
          </a:p>
          <a:p>
            <a:pPr/>
            <a:r>
              <a:rPr sz="1800" b="1"/>
              <a:t>SDG 4 - Quality Education</a:t>
            </a:r>
          </a:p>
          <a:p>
            <a:pPr lvl="1"/>
            <a:r>
              <a:rPr sz="1600" b="0"/>
              <a:t>Fully reproducible pipeline, tracked data manifest and public repository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B90BE-2D81-5E43-3A1E-442D1D8B5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6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790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3. Aim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600" b="1"/>
              <a:t>Aim</a:t>
            </a:r>
          </a:p>
          <a:p>
            <a:pPr lvl="1"/>
            <a:r>
              <a:rPr sz="1400" b="0"/>
              <a:t>Develop and evaluate a genomic representation model trained from scratch in which Hi-C contact information directly biases how a DNA sequence encoder exchanges information across distant genomic regions during self-supervised pretraining.</a:t>
            </a:r>
          </a:p>
          <a:p>
            <a:pPr/>
            <a:r>
              <a:rPr sz="1600" b="1"/>
              <a:t>Motivation</a:t>
            </a:r>
          </a:p>
          <a:p>
            <a:pPr lvl="1"/>
            <a:r>
              <a:rPr sz="1400" b="0"/>
              <a:t>Sequence-only models must infer long-range regulatory relationships from sequence alone, though those relationships have already been measured experimentally</a:t>
            </a:r>
          </a:p>
          <a:p>
            <a:pPr lvl="1"/>
            <a:r>
              <a:rPr sz="1400" b="0"/>
              <a:t>Existing 3D-genome models either predict Hi-C from sequence, represent Hi-C maps themselves, or align a frozen encoder to Hi-C embeddings after the fact</a:t>
            </a:r>
          </a:p>
          <a:p>
            <a:pPr lvl="1"/>
            <a:r>
              <a:rPr sz="1400" b="0"/>
              <a:t>None lets the measured contact map decide which distal windows communicate while the representation is being learned</a:t>
            </a:r>
          </a:p>
          <a:p>
            <a:pPr/>
            <a:r>
              <a:rPr sz="1600" b="1"/>
              <a:t>The bet</a:t>
            </a:r>
          </a:p>
          <a:p>
            <a:pPr lvl="2"/>
            <a:r>
              <a:rPr sz="1200" b="0">
                <a:solidFill>
                  <a:srgbClr val="595959"/>
                </a:solidFill>
              </a:rPr>
              <a:t>If real contacts carry information a sequence model cannot recover alone, conditioning on them should beat a matched model given shuffled contacts. If it does not, that null is itself a result about the limits of the signal.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637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71961"/>
            <a:ext cx="8738648" cy="634115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4. 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" y="631596"/>
            <a:ext cx="8578391" cy="6106375"/>
          </a:xfrm>
        </p:spPr>
        <p:txBody>
          <a:bodyPr numCol="1" wrap="square">
            <a:normAutofit/>
          </a:bodyPr>
          <a:lstStyle/>
          <a:p>
            <a:pPr/>
            <a:r>
              <a:rPr sz="1700" b="1"/>
              <a:t>RQ1 - Does structural conditioning help at all?</a:t>
            </a:r>
          </a:p>
          <a:p>
            <a:pPr lvl="1"/>
            <a:r>
              <a:rPr sz="1500" b="0"/>
              <a:t>Does biasing attention with measured Hi-C improve held-out chromosome contact prediction over a matched sequence-only encoder?</a:t>
            </a:r>
          </a:p>
          <a:p>
            <a:pPr/>
            <a:r>
              <a:rPr sz="1700" b="1"/>
              <a:t>RQ2 - Is the gain from real biology or from any extra signal?</a:t>
            </a:r>
          </a:p>
          <a:p>
            <a:pPr lvl="1"/>
            <a:r>
              <a:rPr sz="1500" b="0"/>
              <a:t>Does it beat matched controls given shuffled Hi-C, distance-only edges and a random contact graph?</a:t>
            </a:r>
          </a:p>
          <a:p>
            <a:pPr/>
            <a:r>
              <a:rPr sz="1700" b="1"/>
              <a:t>RQ3 - Is conditioning better than fusion?</a:t>
            </a:r>
          </a:p>
          <a:p>
            <a:pPr lvl="1"/>
            <a:r>
              <a:rPr sz="1500" b="0"/>
              <a:t>Does contact-biased attention inside the encoder beat late fusion applied after the sequence has been encoded?</a:t>
            </a:r>
          </a:p>
          <a:p>
            <a:pPr/>
            <a:r>
              <a:rPr sz="1700" b="1"/>
              <a:t>RQ4 - Is the structure retained in the sequence representation?</a:t>
            </a:r>
          </a:p>
          <a:p>
            <a:pPr lvl="1"/>
            <a:r>
              <a:rPr sz="1500" b="0"/>
              <a:t>Does any improvement survive removing the contact graph at inference time?</a:t>
            </a:r>
          </a:p>
          <a:p>
            <a:pPr/>
            <a:r>
              <a:rPr sz="1700" b="1"/>
              <a:t>RQ5 - Does it transfer?</a:t>
            </a:r>
          </a:p>
          <a:p>
            <a:pPr lvl="1"/>
            <a:r>
              <a:rPr sz="1500" b="0"/>
              <a:t>Does the pretrained encoder beat a from-scratch model on loop detection and enhancer-promoter linking, including on a held-out cell line?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146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5. Title Justification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700" b="1"/>
              <a:t>"ChromGraphFM"</a:t>
            </a:r>
          </a:p>
          <a:p>
            <a:pPr lvl="1"/>
            <a:r>
              <a:rPr sz="1500" b="0"/>
              <a:t>Chrom - the object of study is chromatin, not sequence alone</a:t>
            </a:r>
          </a:p>
          <a:p>
            <a:pPr lvl="1"/>
            <a:r>
              <a:rPr sz="1500" b="0"/>
              <a:t>Graph - a contact is a relation between two loci, not a pixel in an image</a:t>
            </a:r>
          </a:p>
          <a:p>
            <a:pPr lvl="1"/>
            <a:r>
              <a:rPr sz="1500" b="0"/>
              <a:t>FM - the artefact is a pretrained encoder evaluated across several tasks</a:t>
            </a:r>
          </a:p>
          <a:p>
            <a:pPr/>
            <a:r>
              <a:rPr sz="1700" b="1"/>
              <a:t>"End-to-End"</a:t>
            </a:r>
          </a:p>
          <a:p>
            <a:pPr lvl="1"/>
            <a:r>
              <a:rPr sz="1500" b="0"/>
              <a:t>Distinguishes this work from Evo2HiC, which distils a frozen Evo 2 backbone; here the sequence encoder trains from scratch under the structural objectives</a:t>
            </a:r>
          </a:p>
          <a:p>
            <a:pPr/>
            <a:r>
              <a:rPr sz="1700" b="1"/>
              <a:t>"3D Chromatin-Conditioned"</a:t>
            </a:r>
          </a:p>
          <a:p>
            <a:pPr lvl="1"/>
            <a:r>
              <a:rPr sz="1500" b="0"/>
              <a:t>Conditioned, not fused: the contact map alters attention inside the encoder at every block rather than being concatenated to its output</a:t>
            </a:r>
          </a:p>
          <a:p>
            <a:pPr/>
            <a:r>
              <a:rPr sz="1700" b="1"/>
              <a:t>A deliberate restraint on the word "Foundation"</a:t>
            </a:r>
          </a:p>
          <a:p>
            <a:pPr lvl="2"/>
            <a:r>
              <a:rPr sz="1300" b="0">
                <a:solidFill>
                  <a:srgbClr val="595959"/>
                </a:solidFill>
              </a:rPr>
              <a:t>At 20-40M parameters this is a compact pretrained representation model, and the report will call it that unless multi-task transfer is demonstrated.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9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301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6.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600" b="1"/>
              <a:t>O1 - Reproducible data foundation</a:t>
            </a:r>
          </a:p>
          <a:p>
            <a:pPr lvl="1"/>
            <a:r>
              <a:rPr sz="1400" b="0"/>
              <a:t>Chromosome-split hg38 and Hi-C dataset at 5 kb, rebuildable from a tracked manifest</a:t>
            </a:r>
          </a:p>
          <a:p>
            <a:pPr/>
            <a:r>
              <a:rPr sz="1600" b="1"/>
              <a:t>O2 - Sparse contact graph construction</a:t>
            </a:r>
          </a:p>
          <a:p>
            <a:pPr lvl="1"/>
            <a:r>
              <a:rPr sz="1400" b="0"/>
              <a:t>640 kb regions as 128-node graphs, with target edges provably held out from the conditioning edges</a:t>
            </a:r>
          </a:p>
          <a:p>
            <a:pPr/>
            <a:r>
              <a:rPr sz="1600" b="1"/>
              <a:t>O3 - Contact-biased sequence encoder</a:t>
            </a:r>
          </a:p>
          <a:p>
            <a:pPr lvl="1"/>
            <a:r>
              <a:rPr sz="1400" b="0"/>
              <a:t>Bi-directional Mamba local encoder, contact-biased attention, structure dropout</a:t>
            </a:r>
          </a:p>
          <a:p>
            <a:pPr/>
            <a:r>
              <a:rPr sz="1600" b="1"/>
              <a:t>O4 - Structure-aware pretraining</a:t>
            </a:r>
          </a:p>
          <a:p>
            <a:pPr lvl="1"/>
            <a:r>
              <a:rPr sz="1400" b="0"/>
              <a:t>Masked DNA modelling, distance-matched contrastive learning, contact prediction</a:t>
            </a:r>
          </a:p>
          <a:p>
            <a:pPr/>
            <a:r>
              <a:rPr sz="1600" b="1"/>
              <a:t>O5 - Controlled evaluation</a:t>
            </a:r>
          </a:p>
          <a:p>
            <a:pPr lvl="1"/>
            <a:r>
              <a:rPr sz="1400" b="0"/>
              <a:t>B0-B5 controls at matched parameters, data and steps; held-out chromosomes, held-out cell line, Hi-C-free inference</a:t>
            </a:r>
          </a:p>
          <a:p>
            <a:pPr/>
            <a:r>
              <a:rPr sz="1600" b="1"/>
              <a:t>O6 - Biological interpretation</a:t>
            </a:r>
          </a:p>
          <a:p>
            <a:pPr lvl="1"/>
            <a:r>
              <a:rPr sz="1400" b="0"/>
              <a:t>Test whether high-attention contact anchors are enriched for CTCF motifs and overlap known loop anchors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10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088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7.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1018094"/>
            <a:ext cx="8314441" cy="5338257"/>
          </a:xfrm>
        </p:spPr>
        <p:txBody>
          <a:bodyPr numCol="1" wrap="square">
            <a:normAutofit/>
          </a:bodyPr>
          <a:lstStyle/>
          <a:p>
            <a:pPr/>
            <a:r>
              <a:rPr sz="1700" b="1"/>
              <a:t>In scope</a:t>
            </a:r>
          </a:p>
          <a:p>
            <a:pPr lvl="1"/>
            <a:r>
              <a:rPr sz="1500" b="0"/>
              <a:t>Human genome hg38; bulk Hi-C from 4DN and ENCODE</a:t>
            </a:r>
          </a:p>
          <a:p>
            <a:pPr lvl="1"/>
            <a:r>
              <a:rPr sz="1500" b="0"/>
              <a:t>5 kb contact resolution; 640 kb context (128 nodes x 5 kb)</a:t>
            </a:r>
          </a:p>
          <a:p>
            <a:pPr lvl="1"/>
            <a:r>
              <a:rPr sz="1500" b="0"/>
              <a:t>2-3 cell lines, one fully held out; 20-40M parameters; DNA and Hi-C only</a:t>
            </a:r>
          </a:p>
          <a:p>
            <a:pPr lvl="1"/>
            <a:r>
              <a:rPr sz="1500" b="0"/>
              <a:t>Controlled comparison against our own matched baselines B0-B5</a:t>
            </a:r>
          </a:p>
          <a:p>
            <a:pPr/>
            <a:r>
              <a:rPr sz="1700" b="1"/>
              <a:t>Out of scope</a:t>
            </a:r>
          </a:p>
          <a:p>
            <a:pPr lvl="1"/>
            <a:r>
              <a:rPr sz="1500" b="0"/>
              <a:t>Billion-parameter pretraining; million-base contexts</a:t>
            </a:r>
          </a:p>
          <a:p>
            <a:pPr lvl="1"/>
            <a:r>
              <a:rPr sz="1500" b="0"/>
              <a:t>ATAC-seq, DNase-seq or CTCF tracks as model inputs (stretch goal only)</a:t>
            </a:r>
          </a:p>
          <a:p>
            <a:pPr lvl="1"/>
            <a:r>
              <a:rPr sz="1500" b="0"/>
              <a:t>Single-cell Hi-C, cross-species transfer, variant-effect prediction (stretch)</a:t>
            </a:r>
          </a:p>
          <a:p>
            <a:pPr/>
            <a:r>
              <a:rPr sz="1700" b="1"/>
              <a:t>Claim discipline</a:t>
            </a:r>
          </a:p>
          <a:p>
            <a:pPr lvl="2"/>
            <a:r>
              <a:rPr sz="1300" b="0">
                <a:solidFill>
                  <a:srgbClr val="595959"/>
                </a:solidFill>
              </a:rPr>
              <a:t>No claim of superiority over a published model unless task, data, split, metric, resolution and input setting all match. Published numbers are reported as context, never as a head-to-head result.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11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744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27085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8. Timeline Chart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12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9047" y="854995"/>
            <a:ext cx="80063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Table 1: Timeline chart for the mini project. Phases 0-2 need no GPU and run on a laptop; Phases 3-6 require the L40S cluster.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9047" y="1239043"/>
          <a:ext cx="8006301" cy="26700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26449"/>
                <a:gridCol w="1026449"/>
                <a:gridCol w="4721665"/>
                <a:gridCol w="1231738"/>
              </a:tblGrid>
              <a:tr h="333756">
                <a:tc>
                  <a:txBody>
                    <a:bodyPr/>
                    <a:lstStyle/>
                    <a:p>
                      <a:r>
                        <a:rPr sz="1200" b="1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Scaffold, config system, split 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In progress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2-5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hg38 windows, streamed Hi-C, 5 kb bins, QC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Planned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6-8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Sparse contact graphs, held-out edges, control corruptions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Planned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9-11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Bi-Mamba encoder, B0 baseline, evaluation harness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Planned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12-15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Contact-biased attention, three pretraining losses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Planned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16-18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Matched B0-B5 sweep, held-out chromosome and cell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Planned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19-20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CTCF interpretation, report, poster, public repository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17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9.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75" y="763571"/>
            <a:ext cx="8738647" cy="5974399"/>
          </a:xfrm>
        </p:spPr>
        <p:txBody>
          <a:bodyPr numCol="1" wrap="square">
            <a:normAutofit/>
          </a:bodyPr>
          <a:lstStyle/>
          <a:p>
            <a:pPr/>
            <a:r>
              <a:rPr sz="1700" b="1"/>
              <a:t>The biology</a:t>
            </a:r>
          </a:p>
          <a:p>
            <a:pPr lvl="1"/>
            <a:r>
              <a:rPr sz="1500" b="0"/>
              <a:t>Human DNA is about 2 metres long and folds into a nucleus about 6 micrometres across. The folding is not random: it forms loops, domains and compartments.</a:t>
            </a:r>
          </a:p>
          <a:p>
            <a:pPr lvl="1"/>
            <a:r>
              <a:rPr sz="1500" b="0"/>
              <a:t>An enhancer can regulate a gene a megabase away because folding brings them into physical proximity. Sequence adjacency and functional adjacency differ.</a:t>
            </a:r>
          </a:p>
          <a:p>
            <a:pPr/>
            <a:r>
              <a:rPr sz="1700" b="1"/>
              <a:t>The measurement</a:t>
            </a:r>
          </a:p>
          <a:p>
            <a:pPr lvl="1"/>
            <a:r>
              <a:rPr sz="1500" b="0"/>
              <a:t>Hi-C sequences pairs of genomic fragments that were physically close, producing a contact matrix over genomic bins - the experimental readout of that folding.</a:t>
            </a:r>
          </a:p>
          <a:p>
            <a:pPr/>
            <a:r>
              <a:rPr sz="1700" b="1"/>
              <a:t>The modelling gap</a:t>
            </a:r>
          </a:p>
          <a:p>
            <a:pPr lvl="1"/>
            <a:r>
              <a:rPr sz="1500" b="0"/>
              <a:t>Genomic language models read the genome as text. Attention over sequence position cannot know two distant windows are neighbours in space unless it is told.</a:t>
            </a:r>
          </a:p>
          <a:p>
            <a:pPr/>
            <a:r>
              <a:rPr sz="1700" b="1"/>
              <a:t>This project</a:t>
            </a:r>
          </a:p>
          <a:p>
            <a:pPr lvl="2"/>
            <a:r>
              <a:rPr sz="1300" b="0">
                <a:solidFill>
                  <a:srgbClr val="595959"/>
                </a:solidFill>
              </a:rPr>
              <a:t>Tell it, during pretraining, and measure whether that changes what the encoder learns - with controls strong enough that a positive result means something.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13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915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-5107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10. Study on Existing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584462"/>
            <a:ext cx="8314441" cy="6273538"/>
          </a:xfrm>
        </p:spPr>
        <p:txBody>
          <a:bodyPr numCol="1" wrap="square">
            <a:normAutofit fontScale="85000" lnSpcReduction="20000"/>
          </a:bodyPr>
          <a:lstStyle/>
          <a:p>
            <a:pPr/>
            <a:r>
              <a:rPr sz="1400" b="1"/>
              <a:t>Title: Evo2HiC - a multimodal foundation model for integrative analysis of genome sequence and architecture [7]</a:t>
            </a:r>
          </a:p>
          <a:p>
            <a:pPr lvl="1"/>
            <a:r>
              <a:rPr sz="1200" b="0"/>
              <a:t>Venue: bioRxiv preprint, November 2025</a:t>
            </a:r>
          </a:p>
          <a:p>
            <a:pPr lvl="1"/>
            <a:r>
              <a:rPr sz="1200" b="0"/>
              <a:t>Method: contrastive distillation of a frozen 7B-parameter Evo 2 into a 3.6M parameter CNN sequence encoder, aligned against Hi-C patch embeddings</a:t>
            </a:r>
          </a:p>
          <a:p>
            <a:pPr lvl="1"/>
            <a:r>
              <a:rPr sz="1200" b="0"/>
              <a:t>Relevance: the closest precedent, and the reason this project cannot claim to be the first to use Hi-C in genomic representation learning</a:t>
            </a:r>
          </a:p>
          <a:p>
            <a:pPr lvl="1"/>
            <a:r>
              <a:rPr sz="1200" b="0"/>
              <a:t>Limitation we build on: the backbone stays frozen, and contacts never enter the encoder's own contextualisation</a:t>
            </a:r>
          </a:p>
          <a:p>
            <a:pPr/>
            <a:r>
              <a:rPr sz="1400" b="1"/>
              <a:t>Title: MIX-HIC - Multimodal 3D Genome Pre-training [6]</a:t>
            </a:r>
          </a:p>
          <a:p>
            <a:pPr lvl="1"/>
            <a:r>
              <a:rPr sz="1200" b="0"/>
              <a:t>Venue: NeurIPS 2025 (arXiv:2504.09060)</a:t>
            </a:r>
          </a:p>
          <a:p>
            <a:pPr lvl="1"/>
            <a:r>
              <a:rPr sz="1200" b="0"/>
              <a:t>Method: joint pretraining over Hi-C contact maps and epigenomic tracks, more than 1.2 million paired samples, 5 kb resolution, chromosome-level splits</a:t>
            </a:r>
          </a:p>
          <a:p>
            <a:pPr lvl="1"/>
            <a:r>
              <a:rPr sz="1200" b="0"/>
              <a:t>Limitation we build on: raw DNA sequence is not an input; the authors name sequence integration as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14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825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82320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10. Study on Existing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75" y="829558"/>
            <a:ext cx="8649093" cy="5891917"/>
          </a:xfrm>
        </p:spPr>
        <p:txBody>
          <a:bodyPr numCol="1" wrap="square">
            <a:normAutofit/>
          </a:bodyPr>
          <a:lstStyle/>
          <a:p>
            <a:pPr/>
            <a:r>
              <a:rPr sz="1500" b="1"/>
              <a:t>Three families of prior work</a:t>
            </a:r>
          </a:p>
          <a:p>
            <a:pPr lvl="1"/>
            <a:r>
              <a:rPr sz="1300" b="0"/>
              <a:t>Sequence-to-structure predictors - Akita, C.Origami, EPCOT. Sequence in, contact map out. Hi-C is the prediction target.</a:t>
            </a:r>
          </a:p>
          <a:p>
            <a:pPr lvl="1"/>
            <a:r>
              <a:rPr sz="1300" b="0"/>
              <a:t>Hi-C representation models - HiCFoundation, MIX-HIC. Hi-C in, Hi-C representation out. DNA sequence absent or secondary.</a:t>
            </a:r>
          </a:p>
          <a:p>
            <a:pPr lvl="1"/>
            <a:r>
              <a:rPr sz="1300" b="0"/>
              <a:t>Sequence foundation models - Caduceus, HyenaDNA, Evo 2. Long-range sequence modelling with no structural signal.</a:t>
            </a:r>
          </a:p>
          <a:p>
            <a:pPr/>
            <a:r>
              <a:rPr sz="1500" b="1"/>
              <a:t>What the field has already settled</a:t>
            </a:r>
          </a:p>
          <a:p>
            <a:pPr lvl="1"/>
            <a:r>
              <a:rPr sz="1300" b="0"/>
              <a:t>Hi-C can be predicted from sequence, and Hi-C maps can be pretrained on</a:t>
            </a:r>
          </a:p>
          <a:p>
            <a:pPr lvl="1"/>
            <a:r>
              <a:rPr sz="1300" b="0"/>
              <a:t>Hi-C can shape a sequence encoder by distillation (Evo2HiC)</a:t>
            </a:r>
          </a:p>
          <a:p>
            <a:pPr/>
            <a:r>
              <a:rPr sz="1500" b="1"/>
              <a:t>What this means for our claim</a:t>
            </a:r>
          </a:p>
          <a:p>
            <a:pPr lvl="2"/>
            <a:r>
              <a:rPr sz="1100" b="0">
                <a:solidFill>
                  <a:srgbClr val="595959"/>
                </a:solidFill>
              </a:rPr>
              <a:t>"First to use Hi-C in a genomic foundation model" is false and must not be claimed. The defensible contribution is the mechanism and the controls that isolate it.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15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534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-42585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10. Study on Existing Technologies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16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2675" y="584462"/>
            <a:ext cx="864909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Table 2: Summary of existing implementations and the gap each leaves open.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02675" y="968510"/>
          <a:ext cx="8649091" cy="26700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32619"/>
                <a:gridCol w="1441515"/>
                <a:gridCol w="2883030"/>
                <a:gridCol w="3191927"/>
              </a:tblGrid>
              <a:tr h="333756">
                <a:tc>
                  <a:txBody>
                    <a:bodyPr/>
                    <a:lstStyle/>
                    <a:p>
                      <a:r>
                        <a:rPr sz="10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Core 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What it does not do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Akita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Nature Methods,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CNN predicting 3D folding from DNA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Task-specific predictor; no reusable pretrained representation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C.Origami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Nature Biotech.,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Cell-type-specific 3D organisation from sequence, CTCF, ATAC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Hi-C is the target, not a signal shaping an encoder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EPCOT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Nucleic Acids Res.,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Pretrain/fine-tune for epigenome, contacts, transcription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Pretraining centres on epigenomic features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Caduceus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arXiv:2403.03234,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Bi-directional RC-equivariant long-range DNA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Strong sequence-only baseline; uses no Hi-C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HiCFoundation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Nature Methods,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Foundation model pretrained on Hi-C contact maps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Represents contact maps, not DNA sequence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MIX-HIC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NeurIPS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Multimodal Hi-C and epigenomic pretraining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No raw DNA input; names sequence integration as future work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Evo2HiC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bioRxiv,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Hi-C-guided contrastive distillation of Evo 2 into a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Closest precedent; frozen backbone, contacts never enter contextualisation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800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11. Gap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400" b="1"/>
              <a:t>Established in the literature</a:t>
            </a:r>
          </a:p>
          <a:p>
            <a:pPr lvl="1"/>
            <a:r>
              <a:rPr sz="1200" b="0"/>
              <a:t>Foundation models pretrained on Hi-C maps exist (HiCFoundation)</a:t>
            </a:r>
          </a:p>
          <a:p>
            <a:pPr lvl="1"/>
            <a:r>
              <a:rPr sz="1200" b="0"/>
              <a:t>Multimodal Hi-C and epigenomic pretraining exists (MIX-HIC)</a:t>
            </a:r>
          </a:p>
          <a:p>
            <a:pPr lvl="1"/>
            <a:r>
              <a:rPr sz="1200" b="0"/>
              <a:t>Hi-C-guided distillation into a DNA encoder exists (Evo2HiC)</a:t>
            </a:r>
          </a:p>
          <a:p>
            <a:pPr/>
            <a:r>
              <a:rPr sz="1400" b="1"/>
              <a:t>Still open</a:t>
            </a:r>
          </a:p>
          <a:p>
            <a:pPr lvl="1"/>
            <a:r>
              <a:rPr sz="1200" b="0"/>
              <a:t>No published model trains a DNA encoder end to end while measured contact graphs control which distal windows exchange information at every layer</a:t>
            </a:r>
          </a:p>
          <a:p>
            <a:pPr lvl="1"/>
            <a:r>
              <a:rPr sz="1200" b="0"/>
              <a:t>Post-hoc alignment and late fusion have not been separated from in-encoder conditioning under matched parameters, data and compute</a:t>
            </a:r>
          </a:p>
          <a:p>
            <a:pPr lvl="1"/>
            <a:r>
              <a:rPr sz="1200" b="0"/>
              <a:t>Whether structural knowledge survives removal of Hi-C at inference is asserted more often than it is tested against a shuffled-contact control</a:t>
            </a:r>
          </a:p>
          <a:p>
            <a:pPr/>
            <a:r>
              <a:rPr sz="1400" b="1"/>
              <a:t>Gap statement</a:t>
            </a:r>
          </a:p>
          <a:p>
            <a:pPr lvl="2"/>
            <a:r>
              <a:rPr sz="1000" b="0">
                <a:solidFill>
                  <a:srgbClr val="595959"/>
                </a:solidFill>
              </a:rPr>
              <a:t>It remains untested whether contact graphs conditioning sequence contextualisation throughout pretraining yield a more transferable DNA representation than the alternatives, measured against distance-matched and shuffled-contact controls.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7850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166" y="15537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790756"/>
            <a:ext cx="8006303" cy="5748157"/>
          </a:xfrm>
        </p:spPr>
        <p:txBody>
          <a:bodyPr numCol="1" wrap="square">
            <a:normAutofit/>
          </a:bodyPr>
          <a:lstStyle/>
          <a:p>
            <a:pPr/>
            <a:r>
              <a:rPr sz="900" b="0"/>
              <a:t>[1] Fudenberg, G., Kelley, D. R., &amp; Pollard, K. S. (2020). Predicting 3D genome folding from DNA sequence with Akita. Nature Methods, 17(11), 1111-1117.</a:t>
            </a:r>
          </a:p>
          <a:p>
            <a:pPr/>
            <a:r>
              <a:rPr sz="900" b="0"/>
              <a:t>[2] Tan, J., et al. (2023). Cell-type-specific prediction of 3D chromatin organization enables high-throughput in silico genetic screening. Nature Biotechnology, 41(8), 1140-1150.</a:t>
            </a:r>
          </a:p>
          <a:p>
            <a:pPr/>
            <a:r>
              <a:rPr sz="900" b="0"/>
              <a:t>[3] Zhang, Z., et al. (2023). A generalizable framework to comprehensively predict epigenome, chromatin organization, and transcriptome. Nucleic Acids Research, 51(12), 5931-5947.</a:t>
            </a:r>
          </a:p>
          <a:p>
            <a:pPr/>
            <a:r>
              <a:rPr sz="900" b="0"/>
              <a:t>[4] Schiff, Y., et al. (2024). Caduceus: Bi-directional equivariant long-range DNA sequence modeling. arXiv:2403.03234.</a:t>
            </a:r>
          </a:p>
          <a:p>
            <a:pPr/>
            <a:r>
              <a:rPr sz="900" b="0"/>
              <a:t>[5] A generalizable Hi-C foundation model for chromatin architecture, single-cell and multi-omics analysis across species (HiCFoundation). Nature Methods (2026).</a:t>
            </a:r>
          </a:p>
          <a:p>
            <a:pPr/>
            <a:r>
              <a:rPr sz="900" b="0"/>
              <a:t>[6] MIX-HIC: Multimodal 3D Genome Pre-training. arXiv:2504.09060 (2025).</a:t>
            </a:r>
          </a:p>
          <a:p>
            <a:pPr/>
            <a:r>
              <a:rPr sz="900" b="0"/>
              <a:t>[7] Evo2HiC: a multimodal foundation model for integrative analysis of genome sequence and architecture. bioRxiv 2025.11.18.689171 (2025).</a:t>
            </a:r>
          </a:p>
          <a:p>
            <a:pPr/>
            <a:r>
              <a:rPr sz="900" b="0"/>
              <a:t>[8] Gu, A., &amp; Dao, T. (2023). Mamba: Linear-time sequence modeling with selective state spaces. arXiv:2312.00752.</a:t>
            </a:r>
          </a:p>
          <a:p>
            <a:pPr/>
            <a:r>
              <a:rPr sz="900" b="0"/>
              <a:t>[9] Vaswani, A., et al. (2017). Attention is all you need. NeurIPS 2017.</a:t>
            </a:r>
          </a:p>
          <a:p>
            <a:pPr/>
            <a:r>
              <a:rPr sz="900" b="0"/>
              <a:t>[10] Rao, S. S. P., et al. (2014). A 3D map of the human genome at kilobase resolution reveals principles of chromatin looping. Cell, 159(7), 1665-1680.</a:t>
            </a:r>
          </a:p>
          <a:p>
            <a:pPr/>
            <a:r>
              <a:rPr sz="900" b="0"/>
              <a:t>[11] Abdennur, N., &amp; Mirny, L. A. (2020). Cooler: scalable storage for Hi-C data and other genomically labeled arrays. Bioinformatics, 36(1), 311-316.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ED706-BAAD-007D-D4CC-247F422D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050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