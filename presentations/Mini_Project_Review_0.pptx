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93" r:id="rId18"/>
  </p:sldIdLst>
  <p:sldSz cx="9144000" cy="6858000" type="screen4x3"/>
  <p:notesSz cx="6954838" cy="93091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34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Author lists for [5], [6] and [7] are to be completed against the published record before submission. They are cited here by title and identifier so that every entry is verifiable exactly as 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pPr algn="ctr"/>
            <a:r>
              <a:rPr sz="2000" b="1"/>
              <a:t>ChromGraphFM: An End-to-End 3D Chromatin-Conditioned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 wrap="square">
            <a:normAutofit fontScale="40000" lnSpcReduction="20000"/>
          </a:bodyPr>
          <a:lstStyle/>
          <a:p>
            <a:r>
              <a:rPr sz="1400" b="1"/>
              <a:t>Batch Members</a:t>
            </a:r>
          </a:p>
          <a:p>
            <a:r>
              <a:rPr sz="1300" b="0"/>
              <a:t>P. Charan Sai (238W1A5447)</a:t>
            </a:r>
          </a:p>
          <a:p>
            <a:r>
              <a:rPr sz="1300" b="0"/>
              <a:t>G. Karthik (248W5A5404)</a:t>
            </a:r>
          </a:p>
          <a:p>
            <a:r>
              <a:rPr sz="1300" b="0"/>
              <a:t>P. Sanath (238W1A5446)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1"/>
              <a:t>Under the Guidance of</a:t>
            </a:r>
          </a:p>
          <a:p>
            <a:r>
              <a:rPr sz="1300" b="0"/>
              <a:t>Mrs. K. Divya Kothapali</a:t>
            </a:r>
          </a:p>
          <a:p>
            <a:r>
              <a:rPr sz="1200" b="0"/>
              <a:t>Assistant Professor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1400" b="0"/>
              <a:t>23CS7552: B. Tech Mini Project (0th Review)</a:t>
            </a:r>
          </a:p>
          <a:p>
            <a:r>
              <a:rPr sz="1300" b="0"/>
              <a:t>August 18, 2026</a:t>
            </a:r>
          </a:p>
          <a:p>
            <a:r>
              <a:rPr sz="1300" b="0"/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 wrap="square">
            <a:normAutofit/>
          </a:bodyPr>
          <a:lstStyle/>
          <a:p>
            <a:r>
              <a:rPr sz="1400" b="0"/>
              <a:t>Three-dimensional chromatin organisation lets distal regulatory elements control gene expression, yet most genomic sequence models treat the genome as a one-dimensional string. This project develops ChromGraphFM, a compact 3D chromatin-conditioned genomic representation model trained from scratch on DNA sequence and Hi-C contact maps. Genomic regions become nodes in a sparse contact graph, and measured Hi-C contact strengths bias attention among distant DNA windows throughout self-supervised pretraining, so structure shapes the sequence representation instead of being appended after it. Pretraining combines masked DNA modelling, distance-matched contact-aware contrastive learning, and chromatin contact prediction. The model is evaluated against sequence-only, shuffled-contact, distance-only, random-graph and late-fusion controls trained at matched parameters, data and compute, using chromosome-level and cell-type held-out splits for contact-map prediction, chromatin loop detection, enhancer-promoter linking and Hi-C-free transfer. The central question is whether experimentally measured 3D structure can be internalised into a reusable DNA representation rather than supplied as an extra input at prediction time.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wrap="square" numCol="2">
            <a:normAutofit fontScale="25000" lnSpcReduction="20000"/>
          </a:bodyPr>
          <a:lstStyle/>
          <a:p>
            <a:r>
              <a:rPr sz="1200" b="0"/>
              <a:t>1. Research Domain</a:t>
            </a:r>
          </a:p>
          <a:p>
            <a:r>
              <a:rPr sz="1200" b="0"/>
              <a:t>2. SDG Categories</a:t>
            </a:r>
          </a:p>
          <a:p>
            <a:r>
              <a:rPr sz="1200" b="0"/>
              <a:t>3. Aim and Motivation</a:t>
            </a:r>
          </a:p>
          <a:p>
            <a:r>
              <a:rPr sz="1200" b="0"/>
              <a:t>4. Research Questions</a:t>
            </a:r>
          </a:p>
          <a:p>
            <a:r>
              <a:rPr sz="1200" b="0"/>
              <a:t>5. Title Justification</a:t>
            </a:r>
          </a:p>
          <a:p>
            <a:r>
              <a:rPr sz="1200" b="0"/>
              <a:t>6. Objectives</a:t>
            </a:r>
          </a:p>
          <a:p>
            <a:r>
              <a:rPr sz="1200" b="0"/>
              <a:t>7. Scope</a:t>
            </a:r>
          </a:p>
          <a:p>
            <a:r>
              <a:rPr sz="1200" b="0"/>
              <a:t>8. Timeline Chart</a:t>
            </a:r>
          </a:p>
          <a:p>
            <a:r>
              <a:rPr sz="1200" b="0"/>
              <a:t>9. Introduction</a:t>
            </a:r>
          </a:p>
          <a:p>
            <a:r>
              <a:rPr sz="1200" b="0"/>
              <a:t>10. Study on Existing Technologies</a:t>
            </a:r>
          </a:p>
          <a:p>
            <a:r>
              <a:rPr sz="1200" b="0"/>
              <a:t>11. Gap Analysis</a:t>
            </a:r>
          </a:p>
          <a:p>
            <a:r>
              <a:rPr sz="1200" b="0"/>
              <a:t>12. SDLC Model</a:t>
            </a:r>
          </a:p>
          <a:p>
            <a:r>
              <a:rPr sz="1200" b="0"/>
              <a:t>13. UML Diagrams</a:t>
            </a:r>
          </a:p>
          <a:p>
            <a:r>
              <a:rPr sz="1200" b="0"/>
              <a:t>14. Functional and Non-Functional Requirements</a:t>
            </a:r>
          </a:p>
          <a:p>
            <a:r>
              <a:rPr sz="1200" b="0"/>
              <a:t>15. Data Collection</a:t>
            </a:r>
          </a:p>
          <a:p>
            <a:r>
              <a:rPr sz="1200" b="0"/>
              <a:t>16. Data Preparation</a:t>
            </a:r>
          </a:p>
          <a:p>
            <a:r>
              <a:rPr sz="1200" b="0"/>
              <a:t>17. Proposed System Architecture</a:t>
            </a:r>
          </a:p>
          <a:p>
            <a:r>
              <a:rPr sz="1200" b="0"/>
              <a:t>18. Experimental Setup and Results</a:t>
            </a:r>
          </a:p>
          <a:p>
            <a:r>
              <a:rPr sz="1200" b="0"/>
              <a:t>19. Project Outcomes</a:t>
            </a:r>
          </a:p>
          <a:p>
            <a:r>
              <a:rPr sz="1200" b="0"/>
              <a:t>20. Conclusion and Future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800" b="1"/>
              <a:t>Primary domain: Computational Genomics / Bioinformatics</a:t>
            </a:r>
          </a:p>
          <a:p>
            <a:pPr lvl="1"/>
            <a:r>
              <a:rPr sz="1600" b="0"/>
              <a:t>Three-dimensional genome organisation and gene regulation</a:t>
            </a:r>
          </a:p>
          <a:p>
            <a:pPr lvl="1"/>
            <a:r>
              <a:rPr sz="1600" b="0"/>
              <a:t>Chromosome conformation capture data (Hi-C, Micro-C)</a:t>
            </a:r>
          </a:p>
          <a:p>
            <a:r>
              <a:rPr sz="1800" b="1"/>
              <a:t>Secondary domain: Machine Learning / Representation Learning</a:t>
            </a:r>
          </a:p>
          <a:p>
            <a:pPr lvl="1"/>
            <a:r>
              <a:rPr sz="1600" b="0"/>
              <a:t>Self-supervised pretraining and foundation models for biological sequences</a:t>
            </a:r>
          </a:p>
          <a:p>
            <a:pPr lvl="1"/>
            <a:r>
              <a:rPr sz="1600" b="0"/>
              <a:t>Attention and graph neural networks with a structural inductive bias</a:t>
            </a:r>
          </a:p>
          <a:p>
            <a:r>
              <a:rPr sz="1800" b="1"/>
              <a:t>Where the two meet</a:t>
            </a:r>
          </a:p>
          <a:p>
            <a:pPr lvl="2"/>
            <a:r>
              <a:rPr sz="1400" b="0">
                <a:solidFill>
                  <a:srgbClr val="595959"/>
                </a:solidFill>
              </a:rPr>
              <a:t>The genome is read as a 1D string but folds in 3D. Regulatory elements act on genes megabases away in sequence yet nanometres away in space. This project asks whether measured folding can be built into how a model reads the sequence.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800" b="1"/>
              <a:t>SDG 3 - Good Health and Well-being</a:t>
            </a:r>
          </a:p>
          <a:p>
            <a:pPr lvl="1"/>
            <a:r>
              <a:rPr sz="1600" b="0"/>
              <a:t>Most disease-associated variants from genome-wide association studies fall in non-coding regions whose target genes are unknown</a:t>
            </a:r>
          </a:p>
          <a:p>
            <a:pPr lvl="1"/>
            <a:r>
              <a:rPr sz="1600" b="0"/>
              <a:t>Better enhancer-gene linking is a direct route to interpreting those variants</a:t>
            </a:r>
          </a:p>
          <a:p>
            <a:r>
              <a:rPr sz="1800" b="1"/>
              <a:t>SDG 9 - Industry, Innovation and Infrastructure</a:t>
            </a:r>
          </a:p>
          <a:p>
            <a:pPr lvl="1"/>
            <a:r>
              <a:rPr sz="1600" b="0"/>
              <a:t>A compact, openly released pretrained encoder lowers the compute barrier for labs that cannot train billion-parameter genomic models</a:t>
            </a:r>
          </a:p>
          <a:p>
            <a:pPr lvl="1"/>
            <a:r>
              <a:rPr sz="1600" b="0"/>
              <a:t>The Hi-C-free setting matters here: most labs have sequence but no Hi-C</a:t>
            </a:r>
          </a:p>
          <a:p>
            <a:r>
              <a:rPr sz="1800" b="1"/>
              <a:t>SDG 4 - Quality Education</a:t>
            </a:r>
          </a:p>
          <a:p>
            <a:pPr lvl="1"/>
            <a:r>
              <a:rPr sz="1600" b="0"/>
              <a:t>Fully reproducible pipeline, tracked data manifest and public repository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600" b="1"/>
              <a:t>Aim</a:t>
            </a:r>
          </a:p>
          <a:p>
            <a:pPr lvl="1"/>
            <a:r>
              <a:rPr sz="1400" b="0"/>
              <a:t>Develop and evaluate a genomic representation model trained from scratch in which Hi-C contact information directly biases how a DNA sequence encoder exchanges information across distant genomic regions during self-supervised pretraining.</a:t>
            </a:r>
          </a:p>
          <a:p>
            <a:r>
              <a:rPr sz="1600" b="1"/>
              <a:t>Motivation</a:t>
            </a:r>
          </a:p>
          <a:p>
            <a:pPr lvl="1"/>
            <a:r>
              <a:rPr sz="1400" b="0"/>
              <a:t>Sequence-only models must infer long-range regulatory relationships from sequence alone, though those relationships have already been measured experimentally</a:t>
            </a:r>
          </a:p>
          <a:p>
            <a:pPr lvl="1"/>
            <a:r>
              <a:rPr sz="1400" b="0"/>
              <a:t>Existing 3D-genome models either predict Hi-C from sequence, represent Hi-C maps themselves, or align a frozen encoder to Hi-C embeddings after the fact</a:t>
            </a:r>
          </a:p>
          <a:p>
            <a:pPr lvl="1"/>
            <a:r>
              <a:rPr sz="1400" b="0"/>
              <a:t>None lets the measured contact map decide which distal windows communicate while the representation is being learned</a:t>
            </a:r>
          </a:p>
          <a:p>
            <a:r>
              <a:rPr sz="1600" b="1"/>
              <a:t>The bet</a:t>
            </a:r>
          </a:p>
          <a:p>
            <a:pPr lvl="2"/>
            <a:r>
              <a:rPr sz="1200" b="0">
                <a:solidFill>
                  <a:srgbClr val="595959"/>
                </a:solidFill>
              </a:rPr>
              <a:t>If real contacts carry information a sequence model cannot recover alone, conditioning on them should beat a matched model given shuffled contacts. If it does not, that null is itself a result about the limits of the signal.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wrap="square" numCol="1">
            <a:normAutofit/>
          </a:bodyPr>
          <a:lstStyle/>
          <a:p>
            <a:r>
              <a:rPr sz="1700" b="1"/>
              <a:t>RQ1 - Does structural conditioning help at all?</a:t>
            </a:r>
          </a:p>
          <a:p>
            <a:pPr lvl="1"/>
            <a:r>
              <a:rPr sz="1500" b="0"/>
              <a:t>Does biasing attention with measured Hi-C improve held-out chromosome contact prediction over a matched sequence-only encoder?</a:t>
            </a:r>
          </a:p>
          <a:p>
            <a:r>
              <a:rPr sz="1700" b="1"/>
              <a:t>RQ2 - Is the gain from real biology or from any extra signal?</a:t>
            </a:r>
          </a:p>
          <a:p>
            <a:pPr lvl="1"/>
            <a:r>
              <a:rPr sz="1500" b="0"/>
              <a:t>Does it beat matched controls given shuffled Hi-C, distance-only edges and a random contact graph?</a:t>
            </a:r>
          </a:p>
          <a:p>
            <a:r>
              <a:rPr sz="1700" b="1"/>
              <a:t>RQ3 - Is conditioning better than fusion?</a:t>
            </a:r>
          </a:p>
          <a:p>
            <a:pPr lvl="1"/>
            <a:r>
              <a:rPr sz="1500" b="0"/>
              <a:t>Does contact-biased attention inside the encoder beat late fusion applied after the sequence has been encoded?</a:t>
            </a:r>
          </a:p>
          <a:p>
            <a:r>
              <a:rPr sz="1700" b="1"/>
              <a:t>RQ4 - Is the structure retained in the sequence representation?</a:t>
            </a:r>
          </a:p>
          <a:p>
            <a:pPr lvl="1"/>
            <a:r>
              <a:rPr sz="1500" b="0"/>
              <a:t>Does any improvement survive removing the contact graph at inference time?</a:t>
            </a:r>
          </a:p>
          <a:p>
            <a:r>
              <a:rPr sz="1700" b="1"/>
              <a:t>RQ5 - Does it transfer?</a:t>
            </a:r>
          </a:p>
          <a:p>
            <a:pPr lvl="1"/>
            <a:r>
              <a:rPr sz="1500" b="0"/>
              <a:t>Does the pretrained encoder beat a from-scratch model on loop detection and enhancer-promoter linking, including on a held-out cell line?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700" b="1"/>
              <a:t>"ChromGraphFM"</a:t>
            </a:r>
          </a:p>
          <a:p>
            <a:pPr lvl="1"/>
            <a:r>
              <a:rPr sz="1500" b="0"/>
              <a:t>Chrom - the object of study is chromatin, not sequence alone</a:t>
            </a:r>
          </a:p>
          <a:p>
            <a:pPr lvl="1"/>
            <a:r>
              <a:rPr sz="1500" b="0"/>
              <a:t>Graph - a contact is a relation between two loci, not a pixel in an image</a:t>
            </a:r>
          </a:p>
          <a:p>
            <a:pPr lvl="1"/>
            <a:r>
              <a:rPr sz="1500" b="0"/>
              <a:t>FM - the artefact is a pretrained encoder evaluated across several tasks</a:t>
            </a:r>
          </a:p>
          <a:p>
            <a:r>
              <a:rPr sz="1700" b="1"/>
              <a:t>"End-to-End"</a:t>
            </a:r>
          </a:p>
          <a:p>
            <a:pPr lvl="1"/>
            <a:r>
              <a:rPr sz="1500" b="0"/>
              <a:t>Distinguishes this work from Evo2HiC, which distils a frozen Evo 2 backbone; here the sequence encoder trains from scratch under the structural objectives</a:t>
            </a:r>
          </a:p>
          <a:p>
            <a:r>
              <a:rPr sz="1700" b="1"/>
              <a:t>"3D Chromatin-Conditioned"</a:t>
            </a:r>
          </a:p>
          <a:p>
            <a:pPr lvl="1"/>
            <a:r>
              <a:rPr sz="1500" b="0"/>
              <a:t>Conditioned, not fused: the contact map alters attention inside the encoder at every block rather than being concatenated to its output</a:t>
            </a:r>
          </a:p>
          <a:p>
            <a:r>
              <a:rPr sz="1700" b="1"/>
              <a:t>A deliberate restraint on the word "Foundation"</a:t>
            </a:r>
          </a:p>
          <a:p>
            <a:pPr lvl="2"/>
            <a:r>
              <a:rPr sz="1300" b="0">
                <a:solidFill>
                  <a:srgbClr val="595959"/>
                </a:solidFill>
              </a:rPr>
              <a:t>At 20-40M parameters this is a compact pretrained representation model, and the report will call it that unless multi-task transfer is demonstrated.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600" b="1"/>
              <a:t>O1 - Reproducible data foundation</a:t>
            </a:r>
          </a:p>
          <a:p>
            <a:pPr lvl="1"/>
            <a:r>
              <a:rPr sz="1400" b="0"/>
              <a:t>Chromosome-split hg38 and Hi-C dataset at 5 kb, rebuildable from a tracked manifest</a:t>
            </a:r>
          </a:p>
          <a:p>
            <a:r>
              <a:rPr sz="1600" b="1"/>
              <a:t>O2 - Sparse contact graph construction</a:t>
            </a:r>
          </a:p>
          <a:p>
            <a:pPr lvl="1"/>
            <a:r>
              <a:rPr sz="1400" b="0"/>
              <a:t>640 kb regions as 128-node graphs, with target edges provably held out from the conditioning edges</a:t>
            </a:r>
          </a:p>
          <a:p>
            <a:r>
              <a:rPr sz="1600" b="1"/>
              <a:t>O3 - Contact-biased sequence encoder</a:t>
            </a:r>
          </a:p>
          <a:p>
            <a:pPr lvl="1"/>
            <a:r>
              <a:rPr sz="1400" b="0"/>
              <a:t>Bi-directional Mamba local encoder, contact-biased attention, structure dropout</a:t>
            </a:r>
          </a:p>
          <a:p>
            <a:r>
              <a:rPr sz="1600" b="1"/>
              <a:t>O4 - Structure-aware pretraining</a:t>
            </a:r>
          </a:p>
          <a:p>
            <a:pPr lvl="1"/>
            <a:r>
              <a:rPr sz="1400" b="0"/>
              <a:t>Masked DNA modelling, distance-matched contrastive learning, contact prediction</a:t>
            </a:r>
          </a:p>
          <a:p>
            <a:r>
              <a:rPr sz="1600" b="1"/>
              <a:t>O5 - Controlled evaluation</a:t>
            </a:r>
          </a:p>
          <a:p>
            <a:pPr lvl="1"/>
            <a:r>
              <a:rPr sz="1400" b="0"/>
              <a:t>B0-B5 controls at matched parameters, data and steps; held-out chromosomes, held-out cell line, Hi-C-free inference</a:t>
            </a:r>
          </a:p>
          <a:p>
            <a:r>
              <a:rPr sz="1600" b="1"/>
              <a:t>O6 - Biological interpretation</a:t>
            </a:r>
          </a:p>
          <a:p>
            <a:pPr lvl="1"/>
            <a:r>
              <a:rPr sz="1400" b="0"/>
              <a:t>Test whether high-attention contact anchors are enriched for CTCF motifs and overlap known loop anchors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wrap="square" numCol="1">
            <a:normAutofit/>
          </a:bodyPr>
          <a:lstStyle/>
          <a:p>
            <a:r>
              <a:rPr sz="1700" b="1"/>
              <a:t>In scope</a:t>
            </a:r>
          </a:p>
          <a:p>
            <a:pPr lvl="1"/>
            <a:r>
              <a:rPr sz="1500" b="0"/>
              <a:t>Human genome hg38; bulk Hi-C from 4DN and ENCODE</a:t>
            </a:r>
          </a:p>
          <a:p>
            <a:pPr lvl="1"/>
            <a:r>
              <a:rPr sz="1500" b="0"/>
              <a:t>5 kb contact resolution; 640 kb context (128 nodes x 5 kb)</a:t>
            </a:r>
          </a:p>
          <a:p>
            <a:pPr lvl="1"/>
            <a:r>
              <a:rPr sz="1500" b="0"/>
              <a:t>2-3 cell lines, one fully held out; 20-40M parameters; DNA and Hi-C only</a:t>
            </a:r>
          </a:p>
          <a:p>
            <a:pPr lvl="1"/>
            <a:r>
              <a:rPr sz="1500" b="0"/>
              <a:t>Controlled comparison against our own matched baselines B0-B5</a:t>
            </a:r>
          </a:p>
          <a:p>
            <a:r>
              <a:rPr sz="1700" b="1"/>
              <a:t>Out of scope</a:t>
            </a:r>
          </a:p>
          <a:p>
            <a:pPr lvl="1"/>
            <a:r>
              <a:rPr sz="1500" b="0"/>
              <a:t>Billion-parameter pretraining; million-base contexts</a:t>
            </a:r>
          </a:p>
          <a:p>
            <a:pPr lvl="1"/>
            <a:r>
              <a:rPr sz="1500" b="0"/>
              <a:t>ATAC-seq, DNase-seq or CTCF tracks as model inputs (stretch goal only)</a:t>
            </a:r>
          </a:p>
          <a:p>
            <a:pPr lvl="1"/>
            <a:r>
              <a:rPr sz="1500" b="0"/>
              <a:t>Single-cell Hi-C, cross-species transfer, variant-effect prediction (stretch)</a:t>
            </a:r>
          </a:p>
          <a:p>
            <a:r>
              <a:rPr sz="1700" b="1"/>
              <a:t>Claim discipline</a:t>
            </a:r>
          </a:p>
          <a:p>
            <a:pPr lvl="2"/>
            <a:r>
              <a:rPr sz="1300" b="0">
                <a:solidFill>
                  <a:srgbClr val="595959"/>
                </a:solidFill>
              </a:rPr>
              <a:t>No claim of superiority over a published model unless task, data, split, metric, resolution and input setting all match. Published numbers are reported as context, never as a head-to-head result.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9047" y="854995"/>
            <a:ext cx="800630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Table 1: Timeline chart for the mini project. Phases 0-2 need no GPU and run on a laptop; Phases 3-6 require the L40S cluster.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9047" y="1239043"/>
          <a:ext cx="8006301" cy="267004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026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6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1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1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r>
                        <a:rPr sz="1200" b="1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Deliverable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Scaffold, config system, split validator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In progress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hg38 windows, streamed Hi-C, 5 kb bins, QC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6-8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Sparse contact graphs, held-out edges, control corruptions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Bi-Mamba encoder, B0 baseline, evaluation harness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12-15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Contact-biased attention, three pretraining losses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16-18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B0-B5 sweep, held-out chromosome and cell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200" b="0"/>
                        <a:t>Phase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Wk 19-20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CTCF interpretation, report, poster, public repository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wrap="square" numCol="1">
            <a:normAutofit/>
          </a:bodyPr>
          <a:lstStyle/>
          <a:p>
            <a:r>
              <a:rPr sz="1700" b="1" dirty="0"/>
              <a:t>The biology</a:t>
            </a:r>
          </a:p>
          <a:p>
            <a:pPr lvl="1"/>
            <a:r>
              <a:rPr sz="1500" b="0" dirty="0"/>
              <a:t>Human DNA is about 2 </a:t>
            </a:r>
            <a:r>
              <a:rPr sz="1500" b="0" dirty="0" err="1"/>
              <a:t>metres</a:t>
            </a:r>
            <a:r>
              <a:rPr sz="1500" b="0" dirty="0"/>
              <a:t> long and folds into a nucleus about 6 </a:t>
            </a:r>
            <a:r>
              <a:rPr sz="1500" b="0" dirty="0" err="1"/>
              <a:t>micrometres</a:t>
            </a:r>
            <a:r>
              <a:rPr sz="1500" b="0" dirty="0"/>
              <a:t> across. The folding is not random: it forms loops, domains and compartments.</a:t>
            </a:r>
          </a:p>
          <a:p>
            <a:pPr lvl="1"/>
            <a:r>
              <a:rPr sz="1500" b="0" dirty="0"/>
              <a:t>An enhancer can regulate a gene a megabase away because folding brings them into physical proximity. Sequence adjacency and functional adjacency differ.</a:t>
            </a:r>
          </a:p>
          <a:p>
            <a:r>
              <a:rPr sz="1700" b="1" dirty="0"/>
              <a:t>The measurement</a:t>
            </a:r>
          </a:p>
          <a:p>
            <a:pPr lvl="1"/>
            <a:r>
              <a:rPr sz="1500" b="0" dirty="0"/>
              <a:t>Hi-C sequences pairs of genomic fragments that were physically close, producing a contact matrix over genomic bins - the experimental readout of that folding.</a:t>
            </a:r>
          </a:p>
          <a:p>
            <a:r>
              <a:rPr sz="1700" b="1" dirty="0"/>
              <a:t>The modelling gap</a:t>
            </a:r>
          </a:p>
          <a:p>
            <a:pPr lvl="1"/>
            <a:r>
              <a:rPr sz="1500" b="0" dirty="0"/>
              <a:t>Genomic language models read the genome as text. Attention over sequence position cannot know two distant windows are </a:t>
            </a:r>
            <a:r>
              <a:rPr sz="1500" b="0" dirty="0" err="1"/>
              <a:t>neighbours</a:t>
            </a:r>
            <a:r>
              <a:rPr sz="1500" b="0" dirty="0"/>
              <a:t> in space unless it is told.</a:t>
            </a:r>
          </a:p>
          <a:p>
            <a:r>
              <a:rPr sz="1700" b="1" dirty="0"/>
              <a:t>This project</a:t>
            </a:r>
          </a:p>
          <a:p>
            <a:pPr lvl="2"/>
            <a:r>
              <a:rPr sz="1300" b="0" dirty="0">
                <a:solidFill>
                  <a:srgbClr val="595959"/>
                </a:solidFill>
              </a:rPr>
              <a:t>Tell it, during pretraining, and measure whether that changes what the encoder learns - with controls strong enough that a positive result means something.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wrap="square" numCol="1">
            <a:normAutofit fontScale="85000" lnSpcReduction="20000"/>
          </a:bodyPr>
          <a:lstStyle/>
          <a:p>
            <a:r>
              <a:rPr sz="1400" b="1"/>
              <a:t>Title: Evo2HiC - a multimodal foundation model for integrative analysis of genome sequence and architecture [7]</a:t>
            </a:r>
          </a:p>
          <a:p>
            <a:pPr lvl="1"/>
            <a:r>
              <a:rPr sz="1200" b="0"/>
              <a:t>Venue: bioRxiv preprint, November 2025</a:t>
            </a:r>
          </a:p>
          <a:p>
            <a:pPr lvl="1"/>
            <a:r>
              <a:rPr sz="1200" b="0"/>
              <a:t>Method: contrastive distillation of a frozen 7B-parameter Evo 2 into a 3.6M parameter CNN sequence encoder, aligned against Hi-C patch embeddings</a:t>
            </a:r>
          </a:p>
          <a:p>
            <a:pPr lvl="1"/>
            <a:r>
              <a:rPr sz="1200" b="0"/>
              <a:t>Relevance: the closest precedent, and the reason this project cannot claim to be the first to use Hi-C in genomic representation learning</a:t>
            </a:r>
          </a:p>
          <a:p>
            <a:pPr lvl="1"/>
            <a:r>
              <a:rPr sz="1200" b="0"/>
              <a:t>Limitation we build on: the backbone stays frozen, and contacts never enter the encoder's own contextualisation</a:t>
            </a:r>
          </a:p>
          <a:p>
            <a:r>
              <a:rPr sz="1400" b="1"/>
              <a:t>Title: MIX-HIC - Multimodal 3D Genome Pre-training [6]</a:t>
            </a:r>
          </a:p>
          <a:p>
            <a:pPr lvl="1"/>
            <a:r>
              <a:rPr sz="1200" b="0"/>
              <a:t>Venue: NeurIPS 2025 (arXiv:2504.09060)</a:t>
            </a:r>
          </a:p>
          <a:p>
            <a:pPr lvl="1"/>
            <a:r>
              <a:rPr sz="1200" b="0"/>
              <a:t>Method: joint pretraining over Hi-C contact maps and epigenomic tracks, more than 1.2 million paired samples, 5 kb resolution, chromosome-level splits</a:t>
            </a:r>
          </a:p>
          <a:p>
            <a:pPr lvl="1"/>
            <a:r>
              <a:rPr sz="1200" b="0"/>
              <a:t>Limitation we build on: raw DNA sequence is not an input; the authors name sequence integration as future work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82320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829558"/>
            <a:ext cx="8649093" cy="5891917"/>
          </a:xfrm>
        </p:spPr>
        <p:txBody>
          <a:bodyPr wrap="square" numCol="1">
            <a:normAutofit/>
          </a:bodyPr>
          <a:lstStyle/>
          <a:p>
            <a:r>
              <a:rPr sz="1500" b="1"/>
              <a:t>Three families of prior work</a:t>
            </a:r>
          </a:p>
          <a:p>
            <a:pPr lvl="1"/>
            <a:r>
              <a:rPr sz="1300" b="0"/>
              <a:t>Sequence-to-structure predictors - Akita, C.Origami, EPCOT. Sequence in, contact map out. Hi-C is the prediction target.</a:t>
            </a:r>
          </a:p>
          <a:p>
            <a:pPr lvl="1"/>
            <a:r>
              <a:rPr sz="1300" b="0"/>
              <a:t>Hi-C representation models - HiCFoundation, MIX-HIC. Hi-C in, Hi-C representation out. DNA sequence absent or secondary.</a:t>
            </a:r>
          </a:p>
          <a:p>
            <a:pPr lvl="1"/>
            <a:r>
              <a:rPr sz="1300" b="0"/>
              <a:t>Sequence foundation models - Caduceus, HyenaDNA, Evo 2. Long-range sequence modelling with no structural signal.</a:t>
            </a:r>
          </a:p>
          <a:p>
            <a:r>
              <a:rPr sz="1500" b="1"/>
              <a:t>What the field has already settled</a:t>
            </a:r>
          </a:p>
          <a:p>
            <a:pPr lvl="1"/>
            <a:r>
              <a:rPr sz="1300" b="0"/>
              <a:t>Hi-C can be predicted from sequence, and Hi-C maps can be pretrained on</a:t>
            </a:r>
          </a:p>
          <a:p>
            <a:pPr lvl="1"/>
            <a:r>
              <a:rPr sz="1300" b="0"/>
              <a:t>Hi-C can shape a sequence encoder by distillation (Evo2HiC)</a:t>
            </a:r>
          </a:p>
          <a:p>
            <a:r>
              <a:rPr sz="1500" b="1"/>
              <a:t>What this means for our claim</a:t>
            </a:r>
          </a:p>
          <a:p>
            <a:pPr lvl="2"/>
            <a:r>
              <a:rPr sz="1100" b="0">
                <a:solidFill>
                  <a:srgbClr val="595959"/>
                </a:solidFill>
              </a:rPr>
              <a:t>"First to use Hi-C in a genomic foundation model" is false and must not be claimed. The defensible contribution is the mechanism and the controls that isolate it.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534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2585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2675" y="584462"/>
            <a:ext cx="864909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Table 2: Summary of existing implementations and the gap each leaves open.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465223"/>
              </p:ext>
            </p:extLst>
          </p:nvPr>
        </p:nvGraphicFramePr>
        <p:xfrm>
          <a:off x="202675" y="968510"/>
          <a:ext cx="8649091" cy="298246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32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1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919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r>
                        <a:rPr sz="1000" b="1" dirty="0"/>
                        <a:t>Model</a:t>
                      </a:r>
                      <a:r>
                        <a:rPr lang="en-IN" sz="1000" b="1" dirty="0"/>
                        <a:t> </a:t>
                      </a:r>
                      <a:endParaRPr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Core 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What it does not 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Akita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Nature Methods,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CNN predicting 3D folding from DNA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Task-specific predictor; no reusable pretrained representation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C.Origami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Nature Biotech.,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Cell-type-specific 3D organisation from sequence, CTCF, ATAC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Hi-C is the target, not a signal shaping an encoder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EPCOT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Nucleic Acids Res.,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Pretrain/fine-tune for epigenome, contacts, transcription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Pretraining centres on epigenomic features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Caduceus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arXiv:2403.03234,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Bi-directional RC-equivariant long-range DNA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Strong sequence-only baseline; uses no Hi-C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HiCFoundation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Nature Methods,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Foundation model pretrained on Hi-C contact 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Represents contact maps, not DNA sequence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MIX-HIC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NeurIPS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Multimodal Hi-C and epigenomic pretraining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 raw DNA input; names sequence integration as future 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r>
                        <a:rPr sz="1000" b="0"/>
                        <a:t>Evo2HiC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bioRxiv,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Hi-C-guided contrastive distillation of Evo 2 into a 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/>
                        <a:t>Closest precedent; frozen backbone, contacts never enter </a:t>
                      </a:r>
                      <a:r>
                        <a:rPr sz="1000" b="0" dirty="0" err="1"/>
                        <a:t>contextualisation</a:t>
                      </a:r>
                      <a:endParaRPr sz="10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0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11. Gap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wrap="square" numCol="1">
            <a:normAutofit/>
          </a:bodyPr>
          <a:lstStyle/>
          <a:p>
            <a:r>
              <a:rPr sz="1400" b="1"/>
              <a:t>Established in the literature</a:t>
            </a:r>
          </a:p>
          <a:p>
            <a:pPr lvl="1"/>
            <a:r>
              <a:rPr sz="1200" b="0"/>
              <a:t>Foundation models pretrained on Hi-C maps exist (HiCFoundation)</a:t>
            </a:r>
          </a:p>
          <a:p>
            <a:pPr lvl="1"/>
            <a:r>
              <a:rPr sz="1200" b="0"/>
              <a:t>Multimodal Hi-C and epigenomic pretraining exists (MIX-HIC)</a:t>
            </a:r>
          </a:p>
          <a:p>
            <a:pPr lvl="1"/>
            <a:r>
              <a:rPr sz="1200" b="0"/>
              <a:t>Hi-C-guided distillation into a DNA encoder exists (Evo2HiC)</a:t>
            </a:r>
          </a:p>
          <a:p>
            <a:r>
              <a:rPr sz="1400" b="1"/>
              <a:t>Still open</a:t>
            </a:r>
          </a:p>
          <a:p>
            <a:pPr lvl="1"/>
            <a:r>
              <a:rPr sz="1200" b="0"/>
              <a:t>No published model trains a DNA encoder end to end while measured contact graphs control which distal windows exchange information at every layer</a:t>
            </a:r>
          </a:p>
          <a:p>
            <a:pPr lvl="1"/>
            <a:r>
              <a:rPr sz="1200" b="0"/>
              <a:t>Post-hoc alignment and late fusion have not been separated from in-encoder conditioning under matched parameters, data and compute</a:t>
            </a:r>
          </a:p>
          <a:p>
            <a:pPr lvl="1"/>
            <a:r>
              <a:rPr sz="1200" b="0"/>
              <a:t>Whether structural knowledge survives removal of Hi-C at inference is asserted more often than it is tested against a shuffled-contact control</a:t>
            </a:r>
          </a:p>
          <a:p>
            <a:r>
              <a:rPr sz="1400" b="1"/>
              <a:t>Gap statement</a:t>
            </a:r>
          </a:p>
          <a:p>
            <a:pPr lvl="2"/>
            <a:r>
              <a:rPr sz="1000" b="0">
                <a:solidFill>
                  <a:srgbClr val="595959"/>
                </a:solidFill>
              </a:rPr>
              <a:t>It remains untested whether contact graphs conditioning sequence contextualisation throughout pretraining yield a more transferable DNA representation than the alternatives, measured against distance-matched and shuffled-contact controls.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785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wrap="square" numCol="1">
            <a:normAutofit/>
          </a:bodyPr>
          <a:lstStyle/>
          <a:p>
            <a:r>
              <a:rPr sz="900" b="0" dirty="0"/>
              <a:t>[1] </a:t>
            </a:r>
            <a:r>
              <a:rPr sz="900" b="0" dirty="0" err="1"/>
              <a:t>Fudenberg</a:t>
            </a:r>
            <a:r>
              <a:rPr sz="900" b="0" dirty="0"/>
              <a:t>, G., Kelley, D. R., &amp; Pollard, K. S. (2020). Predicting 3D genome folding from DNA sequence with Akita. Nature Methods, 17(11), 1111-1117.</a:t>
            </a:r>
          </a:p>
          <a:p>
            <a:r>
              <a:rPr sz="900" b="0" dirty="0"/>
              <a:t>[2] Tan, J., et al. (2023). Cell-type-specific prediction of 3D chromatin organization enables high-throughput in silico genetic screening. Nature Biotechnology, 41(8), 1140-1150.</a:t>
            </a:r>
          </a:p>
          <a:p>
            <a:r>
              <a:rPr sz="900" b="0" dirty="0"/>
              <a:t>[3] Zhang, Z., et al. (2023). A generalizable framework to comprehensively predict epigenome, chromatin organization, and transcriptome. Nucleic Acids Research, 51(12), 5931-5947.</a:t>
            </a:r>
          </a:p>
          <a:p>
            <a:r>
              <a:rPr sz="900" b="0" dirty="0"/>
              <a:t>[4] Schiff, Y., et al. (2024). Caduceus: Bi-directional equivariant long-range DNA sequence modeling. arXiv:2403.03234.</a:t>
            </a:r>
          </a:p>
          <a:p>
            <a:r>
              <a:rPr sz="900" b="0" dirty="0"/>
              <a:t>[5] A generalizable Hi-C foundation model for chromatin architecture, single-cell and multi-omics analysis across species (</a:t>
            </a:r>
            <a:r>
              <a:rPr sz="900" b="0" dirty="0" err="1"/>
              <a:t>HiCFoundation</a:t>
            </a:r>
            <a:r>
              <a:rPr sz="900" b="0" dirty="0"/>
              <a:t>). Nature Methods (2026).</a:t>
            </a:r>
          </a:p>
          <a:p>
            <a:r>
              <a:rPr sz="900" b="0" dirty="0"/>
              <a:t>[6] MIX-HIC: Multimodal 3D Genome Pre-training. arXiv:2504.09060 (2025).</a:t>
            </a:r>
          </a:p>
          <a:p>
            <a:r>
              <a:rPr sz="900" b="0" dirty="0"/>
              <a:t>[7] Evo2HiC: a multimodal foundation model for integrative analysis of genome sequence and architecture. bioRxiv 2025.11.18.689171 (2025).</a:t>
            </a:r>
          </a:p>
          <a:p>
            <a:r>
              <a:rPr sz="900" b="0" dirty="0"/>
              <a:t>[8] Gu, A., &amp; Dao, T. (2023). Mamba: Linear-time sequence modeling with selective state spaces. arXiv:2312.00752.</a:t>
            </a:r>
          </a:p>
          <a:p>
            <a:r>
              <a:rPr sz="900" b="0" dirty="0"/>
              <a:t>[9] Vaswani, A., et al. (2017). Attention is all you need. </a:t>
            </a:r>
            <a:r>
              <a:rPr sz="900" b="0" dirty="0" err="1"/>
              <a:t>NeurIPS</a:t>
            </a:r>
            <a:r>
              <a:rPr sz="900" b="0" dirty="0"/>
              <a:t> 2017.</a:t>
            </a:r>
          </a:p>
          <a:p>
            <a:r>
              <a:rPr sz="900" b="0" dirty="0"/>
              <a:t>[10] Rao, S. S. P., et al. (2014). A 3D map of the human genome at kilobase resolution reveals principles of chromatin looping. Cell, 159(7), 1665-1680.</a:t>
            </a:r>
          </a:p>
          <a:p>
            <a:r>
              <a:rPr sz="900" b="0" dirty="0"/>
              <a:t>[11] </a:t>
            </a:r>
            <a:r>
              <a:rPr sz="900" b="0" dirty="0" err="1"/>
              <a:t>Abdennur</a:t>
            </a:r>
            <a:r>
              <a:rPr sz="900" b="0" dirty="0"/>
              <a:t>, N., &amp; Mirny, L. A. (2020). Cooler: scalable storage for Hi-C data and other genomically labeled arrays. Bioinformatics, 36(1), 311-316.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2466</Words>
  <Application>Microsoft Office PowerPoint</Application>
  <PresentationFormat>On-screen Show (4:3)</PresentationFormat>
  <Paragraphs>249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Calisto MT</vt:lpstr>
      <vt:lpstr>Office Theme</vt:lpstr>
      <vt:lpstr>ChromGraphFM: An End-to-End 3D Chromatin-Conditioned Genomic Foundation Model</vt:lpstr>
      <vt:lpstr>Abstract</vt:lpstr>
      <vt:lpstr>Presentation Outline</vt:lpstr>
      <vt:lpstr>1. Research Domain</vt:lpstr>
      <vt:lpstr>2. SDG Categories</vt:lpstr>
      <vt:lpstr>3. Aim and Motivation</vt:lpstr>
      <vt:lpstr>4. Research Questions</vt:lpstr>
      <vt:lpstr>5. Title Justification</vt:lpstr>
      <vt:lpstr>6. Objectives</vt:lpstr>
      <vt:lpstr>7. Scope</vt:lpstr>
      <vt:lpstr>8. Timeline Chart</vt:lpstr>
      <vt:lpstr>9. Introduction</vt:lpstr>
      <vt:lpstr>10. Study on Existing Technologies</vt:lpstr>
      <vt:lpstr>10. Study on Existing Technologies</vt:lpstr>
      <vt:lpstr>10. Study on Existing Technologies</vt:lpstr>
      <vt:lpstr>11. Gap Analysis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Charan Sai Ponnada</cp:lastModifiedBy>
  <cp:revision>1</cp:revision>
  <dcterms:modified xsi:type="dcterms:W3CDTF">2026-09-18T04:03:49Z</dcterms:modified>
</cp:coreProperties>
</file>