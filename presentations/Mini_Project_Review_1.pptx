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image/jpeg" Extension="jpe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1.xml"/>
  <Override ContentType="application/vnd.openxmlformats-officedocument.presentationml.slideMaster+xml" PartName="/ppt/slideMasters/slideMaster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1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1.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95" r:id="rId46"/>
    <p:sldId id="269" r:id="rId20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271" r:id="rId22"/>
    <p:sldId id="272" r:id="rId23"/>
    <p:sldId id="273" r:id="rId24"/>
    <p:sldId id="278" r:id="rId29"/>
    <p:sldId id="279" r:id="rId30"/>
    <p:sldId id="293" r:id="rId44"/>
  </p:sldIdLst>
  <p:sldSz cy="6858000" cx="9144000"/>
  <p:notesSz cx="6954825" cy="9309100"/>
  <p:defaultTextStyle>
    <a:defPPr lvl="0">
      <a:defRPr lang="en-US"/>
    </a:defPPr>
    <a:lvl1pPr defTabSz="4572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4572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4572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4572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4572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4572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4572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4572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4572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1.xml><?xml version="1.0" encoding="utf-8"?>
<a:tblStyleLst xmlns:a="http://schemas.openxmlformats.org/drawingml/2006/main" xmlns:r="http://schemas.openxmlformats.org/officeDocument/2006/relationships" def="{90651C3A-4460-11DB-9652-00E08161165F}">
  <a:tblStyle styleId="{5940675A-B579-460E-94D1-54222C63F5DA}" styleName="No Style, Table Grid">
    <a:wholeTbl>
      <a:tcTxStyle>
        <a:fontRef idx="minor">
          <a:scrgbClr b="0" g="0" r="0"/>
        </a:fontRef>
        <a:schemeClr val="tx1"/>
      </a:tcTxStyle>
      <a:tcStyle>
        <a:tcBdr>
          <a:left>
            <a:ln cmpd="sng" w="12700">
              <a:solidFill>
                <a:schemeClr val="tx1"/>
              </a:solidFill>
            </a:ln>
          </a:left>
          <a:right>
            <a:ln cmpd="sng" w="12700">
              <a:solidFill>
                <a:schemeClr val="tx1"/>
              </a:solidFill>
            </a:ln>
          </a:right>
          <a:top>
            <a:ln cmpd="sng" w="12700">
              <a:solidFill>
                <a:schemeClr val="tx1"/>
              </a:solidFill>
            </a:ln>
          </a:top>
          <a:bottom>
            <a:ln cmpd="sng" w="12700">
              <a:solidFill>
                <a:schemeClr val="tx1"/>
              </a:solidFill>
            </a:ln>
          </a:bottom>
          <a:insideH>
            <a:ln cmpd="sng" w="12700">
              <a:solidFill>
                <a:schemeClr val="tx1"/>
              </a:solidFill>
            </a:ln>
          </a:insideH>
          <a:insideV>
            <a:ln cmpd="sng" w="12700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1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44" Type="http://schemas.openxmlformats.org/officeDocument/2006/relationships/slide" Target="slides/slide38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1.xml"/><Relationship Id="rId3" Type="http://schemas.openxmlformats.org/officeDocument/2006/relationships/presProps" Target="presProps1.xml"/><Relationship Id="rId4" Type="http://schemas.openxmlformats.org/officeDocument/2006/relationships/tableStyles" Target="tableStyles1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  <Relationship Id="rId46" Type="http://schemas.openxmlformats.org/officeDocument/2006/relationships/slide" Target="slides/slide40.xml"/>
  <Relationship Id="rId47" Type="http://schemas.openxmlformats.org/officeDocument/2006/relationships/slide" Target="slides/slide41.xml"/>
  <Relationship Id="rId48" Type="http://schemas.openxmlformats.org/officeDocument/2006/relationships/slide" Target="slides/slide42.xml"/>
  <Relationship Id="rId49" Type="http://schemas.openxmlformats.org/officeDocument/2006/relationships/slide" Target="slides/slide43.xml"/>
  <Relationship Id="rId50" Type="http://schemas.openxmlformats.org/officeDocument/2006/relationships/slide" Target="slides/slide44.xml"/>
  <Relationship Id="rId51" Type="http://schemas.openxmlformats.org/officeDocument/2006/relationships/slide" Target="slides/slide45.xml"/>
  <Relationship Id="rId52" Type="http://schemas.openxmlformats.org/officeDocument/2006/relationships/slide" Target="slides/slide46.xml"/>
  <Relationship Id="rId53" Type="http://schemas.openxmlformats.org/officeDocument/2006/relationships/slide" Target="slides/slide47.xml"/>
  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3763" cy="467072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9466" y="0"/>
            <a:ext cx="3013763" cy="467072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r">
              <a:defRPr sz="1200"/>
            </a:lvl1pPr>
          </a:lstStyle>
          <a:p>
            <a:fld id="{71B727E3-9991-4B0C-8167-23E35F3043C3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84300" y="1163638"/>
            <a:ext cx="4186238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930" tIns="46465" rIns="92930" bIns="4646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484" y="4480004"/>
            <a:ext cx="5563870" cy="3665458"/>
          </a:xfrm>
          <a:prstGeom prst="rect">
            <a:avLst/>
          </a:prstGeom>
        </p:spPr>
        <p:txBody>
          <a:bodyPr vert="horz" lIns="92930" tIns="46465" rIns="92930" bIns="4646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30"/>
            <a:ext cx="3013763" cy="467071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9466" y="8842030"/>
            <a:ext cx="3013763" cy="467071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r">
              <a:defRPr sz="1200"/>
            </a:lvl1pPr>
          </a:lstStyle>
          <a:p>
            <a:fld id="{78B3C13F-8C70-4967-B114-F8782C3B91C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010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6A3A6F-B049-4A3C-A314-6C5DC6ABA413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684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A0579-E4EA-4069-8E9E-A5661942CE83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546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AC4A0-A0AB-494A-9349-6940CE23F0BB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349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9F13F-E3C0-47E7-81E7-2D67CDFD97CE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336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B4F48-C21C-4E8E-AA43-BB8E3BD2F306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100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0D7BC-B940-4993-A11F-8FBB77BA204E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874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94854-92A4-4BB6-9F1F-69BBC71788FF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546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6CBDC-D391-4FA9-8D6F-9BC119CA0B97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602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F212E-DE5B-4D49-B277-6F5AF26D6AF0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35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F1400-0AF8-4881-9500-1BCE077EF02C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504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0AC9-8025-43C3-9D7A-B30453D05E68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15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5C9A0F-356B-4543-BBC4-6729314C25D3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720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cribbr.com/research-process/research-question-examples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tutorialspoint.com/sdlc/index.ht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onlinelibrary.wiley.com/doi/pdf/10.1002/0470029757.app1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scribbr.com/citation/generator/apa/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C46DB-D9D6-99F1-B8FD-FBA99021C9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457484"/>
            <a:ext cx="7772400" cy="884259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Calisto MT" panose="02040603050505030304" pitchFamily="18" charset="0"/>
                <a:cs typeface="JasmineUPC" panose="02020603050405020304" pitchFamily="18" charset="-34"/>
              </a:rPr>
              <a:t>3D-Chromatin-Aware Genomic Foundation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BD8221-192B-76DF-DF92-A9F15F83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24" y="4516258"/>
            <a:ext cx="3675512" cy="1973635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Calisto MT" panose="02040603050505030304" pitchFamily="18" charset="0"/>
              </a:rPr>
              <a:t>Batch Members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P. Charan Sai (238W1A5447)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G. Karthik (248W5A5404)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P. Sanath (238W1A5446)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E82CFBC-36EF-B095-71E8-4AA9D64C0EFE}"/>
              </a:ext>
            </a:extLst>
          </p:cNvPr>
          <p:cNvSpPr txBox="1">
            <a:spLocks/>
          </p:cNvSpPr>
          <p:nvPr/>
        </p:nvSpPr>
        <p:spPr>
          <a:xfrm>
            <a:off x="4794945" y="4516258"/>
            <a:ext cx="4178431" cy="22202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  <a:latin typeface="Calisto MT" panose="02040603050505030304" pitchFamily="18" charset="0"/>
              </a:rPr>
              <a:t>Under the Guidance of</a:t>
            </a:r>
          </a:p>
          <a:p>
            <a:r>
              <a:rPr lang="en-US" sz="1900" b="1" dirty="0">
                <a:latin typeface="Calisto MT" panose="02040603050505030304" pitchFamily="18" charset="0"/>
              </a:rPr>
              <a:t>Mrs. K. Divya Kothapali</a:t>
            </a:r>
          </a:p>
          <a:p>
            <a:r>
              <a:rPr lang="en-US" sz="1900" b="1" dirty="0">
                <a:latin typeface="Calisto MT" panose="02040603050505030304" pitchFamily="18" charset="0"/>
              </a:rPr>
              <a:t>Assistant Professor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6D2FCE7-A20E-157E-20FA-2B09A5121833}"/>
              </a:ext>
            </a:extLst>
          </p:cNvPr>
          <p:cNvSpPr txBox="1">
            <a:spLocks/>
          </p:cNvSpPr>
          <p:nvPr/>
        </p:nvSpPr>
        <p:spPr>
          <a:xfrm>
            <a:off x="685800" y="3293700"/>
            <a:ext cx="7772400" cy="79127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p>
            <a:pPr marL="0" lvl="0" indent="0" algn="ctr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23CS7552: B. Tech Mini Project </a:t>
            </a: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(1</a:t>
            </a:r>
            <a:r>
              <a:rPr lang="en-US" sz="2000" b="1" baseline="30000" dirty="0">
                <a:solidFill>
                  <a:srgbClr val="252525"/>
                </a:solidFill>
                <a:latin typeface="Calisto MT" panose="02040603050505030304" pitchFamily="18" charset="0"/>
              </a:rPr>
              <a:t>st</a:t>
            </a: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 Review)</a:t>
            </a:r>
          </a:p>
          <a:p>
            <a:pPr marL="0" lvl="0" indent="0" algn="ctr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September 15, 2026</a:t>
            </a:r>
          </a:p>
          <a:p>
            <a:pPr marL="0" lvl="0" indent="0" algn="ctr">
              <a:buNone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Batch No: __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0E7157D-0ED4-652A-8A59-DCC1031DA9E7}"/>
              </a:ext>
            </a:extLst>
          </p:cNvPr>
          <p:cNvSpPr txBox="1">
            <a:spLocks/>
          </p:cNvSpPr>
          <p:nvPr/>
        </p:nvSpPr>
        <p:spPr>
          <a:xfrm>
            <a:off x="906670" y="60484"/>
            <a:ext cx="7126664" cy="112599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Calisto MT" panose="02040603050505030304" pitchFamily="18" charset="0"/>
                <a:cs typeface="JasmineUPC" panose="02020603050405020304" pitchFamily="18" charset="-34"/>
              </a:rPr>
              <a:t>VR SIDDHARTHA ENGINEERING COLLEGE, VIJAYAWADA</a:t>
            </a:r>
          </a:p>
          <a:p>
            <a:r>
              <a:rPr lang="en-US" sz="2000" b="1" dirty="0">
                <a:latin typeface="Calisto MT" panose="02040603050505030304" pitchFamily="18" charset="0"/>
                <a:cs typeface="JasmineUPC" panose="02020603050405020304" pitchFamily="18" charset="-34"/>
              </a:rPr>
              <a:t>Department of Computer Science and Engineering</a:t>
            </a:r>
          </a:p>
        </p:txBody>
      </p:sp>
      <p:pic>
        <p:nvPicPr>
          <p:cNvPr id="11" name="Picture 10" descr="A picture containing diagram&#10;&#10;Description automatically generated">
            <a:extLst>
              <a:ext uri="{FF2B5EF4-FFF2-40B4-BE49-F238E27FC236}">
                <a16:creationId xmlns:a16="http://schemas.microsoft.com/office/drawing/2014/main" id="{2F0778DE-E80B-339F-BA7E-B056A92517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78" y="161404"/>
            <a:ext cx="950349" cy="1118057"/>
          </a:xfrm>
          <a:prstGeom prst="rect">
            <a:avLst/>
          </a:prstGeom>
        </p:spPr>
      </p:pic>
      <p:pic>
        <p:nvPicPr>
          <p:cNvPr id="13" name="Picture 12" descr="Logo&#10;&#10;Description automatically generated">
            <a:extLst>
              <a:ext uri="{FF2B5EF4-FFF2-40B4-BE49-F238E27FC236}">
                <a16:creationId xmlns:a16="http://schemas.microsoft.com/office/drawing/2014/main" id="{1D9962D5-2778-4C7F-FC4C-2CB25B317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8301" y="153465"/>
            <a:ext cx="1118057" cy="1118057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C680849-8AC5-7306-7F26-02AD56BFE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2637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4298"/>
            <a:ext cx="7886700" cy="709530"/>
          </a:xfrm>
        </p:spPr>
        <p:txBody>
          <a:bodyPr/>
          <a:lstStyle/>
          <a:p>
            <a:r>
              <a:rPr lang="en-US" sz="3600" b="1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Abstract</a:t>
            </a:r>
            <a:endParaRPr lang="en-US" b="1" dirty="0">
              <a:solidFill>
                <a:schemeClr val="accent2">
                  <a:lumMod val="50000"/>
                </a:schemeClr>
              </a:solidFill>
              <a:latin typeface="Calisto MT" panose="020406030505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046376"/>
            <a:ext cx="8062863" cy="5253135"/>
          </a:xfrm>
        </p:spPr>
        <p:txBody>
          <a:bodyPr>
            <a:normAutofit/>
          </a:bodyPr>
          <a:lstStyle/>
          <a:p>
            <a:pPr marL="0" lvl="0" indent="0" algn="just">
              <a:spcAft>
                <a:spcPts val="800"/>
              </a:spcAft>
              <a:buNone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Genomic foundation models such as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and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Caduceus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learn powerful representations of DNA, yet they read the genome as a one-dimensional string. Inside the nucleus, chromatin folds into compartments,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topologically associating domains (TADs)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and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loops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that physically decide which enhancers can reach which promoters — and recent probing shows that even a 7-billion-parameter sequence-only model fails to capture this higher-order organization. Existing structure-aware methods bolt a graph module onto an already-trained encoder (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CHROME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) or align embeddings to Hi-C patches by contrastive distillation (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Evo2HiC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); in no published model does 3D structure shape a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pretraining objective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over nucleotides. This project fills that gap: a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bidirectional Mamba DNA language model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whose recurrence is modulated by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Hi-C-derived structural features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, so that structure controls how far information propagates during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masked-token pretraining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. On a GM12878 chromosome-9 pilot, the model is compared against sequence-only, post-hoc and distillation arms at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matched parameters (+0.43%) and compute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, with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shuffled-structure controls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verifying that gains reflect genuine 3D structure rather than genomic distance.</a:t>
            </a:r>
          </a:p>
          <a:p>
            <a:pPr marL="0" lvl="0" indent="0" algn="just">
              <a:buNone/>
            </a:pPr>
            <a:r>
              <a:rPr lang="en-US" sz="1500" b="1" dirty="0">
                <a:solidFill>
                  <a:srgbClr val="833C00"/>
                </a:solidFill>
                <a:latin typeface="Calisto MT" panose="02040603050505030304" pitchFamily="18" charset="0"/>
              </a:rPr>
              <a:t xml:space="preserve">Keywords: </a:t>
            </a:r>
            <a:r>
              <a:rPr lang="en-US" sz="1500" i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model; 3D chromatin structure; Hi-C; topologically associating domains; state space models (Mamba); self-supervised pretraining; variant effect prediction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E3089C-7D4B-76D0-EDD6-D1FEEE85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5680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352" y="120030"/>
            <a:ext cx="7886700" cy="549273"/>
          </a:xfrm>
        </p:spPr>
        <p:txBody>
          <a:bodyPr>
            <a:normAutofit fontScale="90000"/>
          </a:bodyPr>
          <a:lstStyle/>
          <a:p>
            <a:r>
              <a:rPr lang="en-US" sz="4000" b="1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Presentation Outline</a:t>
            </a:r>
            <a:endParaRPr lang="en-US" sz="4000" b="1" dirty="0">
              <a:solidFill>
                <a:schemeClr val="accent2">
                  <a:lumMod val="50000"/>
                </a:schemeClr>
              </a:solidFill>
              <a:latin typeface="Calisto MT" panose="020406030505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687062"/>
            <a:ext cx="8634953" cy="5851851"/>
          </a:xfrm>
        </p:spPr>
        <p:txBody>
          <a:bodyPr numCol="2">
            <a:normAutofit fontScale="25000" lnSpcReduction="20000"/>
          </a:bodyPr>
          <a:lstStyle/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1. Research Domain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2. SDG Categories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3. Aim and Motivation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4. Research Questions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5. Title Justification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6. Objectives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7. Scope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8. Timeline Chart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9. Introduction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9.1. The 3D Genome and Hi-C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9.2. Genomic FMs and SSMs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10. Study on Existing Technologies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11. Gap Analysis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12. SDLC Model (ML Life Cycle)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13. Functional and Non-Functional Requirements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14. Data Collection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15. Data Preparation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16. Proposed Methodology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16.1. Proposed System Architecture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16.2. Different Modules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16.3. Proposed Model and Algorithm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17. Results and Discussion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17.1. Experimental Setup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17.2. Results and Analysis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17.3. Comparison with Previous Work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18. Project Outcomes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19. Conclusion and Future Work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References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C3DE6-22F4-4655-E43D-E5183840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598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E336-ABF5-A846-DE08-38640CE55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00ACF-C0A4-F059-E3E6-80EBC5505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1. Research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4AD35-D206-4743-0207-C6CD2E794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643" y="772015"/>
            <a:ext cx="8314441" cy="5870705"/>
          </a:xfrm>
        </p:spPr>
        <p:txBody>
          <a:bodyPr numCol="1">
            <a:normAutofit/>
          </a:bodyPr>
          <a:lstStyle/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Primary Domain: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Artificial Intelligence and Machine Learning — Foundation Models and Self-Supervised Learning</a:t>
            </a:r>
          </a:p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Sub-Domain: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Computational Genomics and Long-Range DNA Sequence Modeling with State Space Models (Mamba/SSM)</a:t>
            </a:r>
          </a:p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Application Area: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Regulatory genomics — enhancer–promoter interaction, regulatory element association — and clinical variant-effect interpretation (ClinVar)</a:t>
            </a:r>
          </a:p>
          <a:p>
            <a:pPr lvl="0" algn="just"/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Interdisciplinary basis: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3D genome biology (Hi-C, TADs, chromatin loops) supplies the structural signal that the machine-learning contribution conditions 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CD8A0-D22F-28CB-6DA4-2B5A203C9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5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477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0B8B0-6FA6-1A9D-CBD0-94855C5A2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4B460-8C98-C0EC-7B6F-08A2E00DE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2. SDG Categories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EBAAF-ACF3-ADF2-52AE-8053652744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20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Mapped SDGs</a:t>
            </a:r>
          </a:p>
          <a:p>
            <a:pPr marL="457200" lvl="0" indent="-457200" algn="just">
              <a:spcAft>
                <a:spcPts val="5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SDG 3 — Good Health and Well-Being: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improved interpretation of non-coding and pathogenic variants (ClinVar evaluation) supports precision-medicine and disease-mechanism research.</a:t>
            </a:r>
          </a:p>
          <a:p>
            <a:pPr marL="457200" lvl="0" indent="-457200" algn="just">
              <a:spcAft>
                <a:spcPts val="5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SDG 9 — Industry, Innovation and Infrastructure: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open, reproducible AI research infrastructure — released pipeline, data card and matched-compute benchmark protocol.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Only SDGs directly aligned with the project objectives and outcomes are claimed.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CB90BE-2D81-5E43-3A1E-442D1D8B5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0F15D0-BE51-3FBD-56FD-F97A2B912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012" y="3119552"/>
            <a:ext cx="5895975" cy="360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790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3. Aim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Aim</a:t>
            </a:r>
          </a:p>
          <a:p>
            <a:pPr marL="0" lvl="0" indent="0" algn="just">
              <a:spcAft>
                <a:spcPts val="700"/>
              </a:spcAft>
              <a:buNone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To build and evaluate a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whose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pretraining is conditioned on 3D chromatin structure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(Hi-C), so that structural information shapes the learned sequence representation itself — not merely a layer added after training.</a:t>
            </a:r>
          </a:p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Motivation</a:t>
            </a:r>
          </a:p>
          <a:p>
            <a:pPr marL="457200" lvl="0" indent="-457200" algn="just">
              <a:spcAft>
                <a:spcPts val="6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The genome operates in 3D: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TADs and loops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physically decide which enhancers reach which promoters.</a:t>
            </a:r>
          </a:p>
          <a:p>
            <a:pPr marL="457200" lvl="0" indent="-457200" algn="just">
              <a:spcAft>
                <a:spcPts val="6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Current genomic FMs read DNA as a 1D string — and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2-7B provably misses TAD/loop-scale organization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despite 9.3T training tokens.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Existing fixes are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post-hoc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(CHROME) or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embedding alignment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(Evo2HiC) — the pretraining objective itself has never seen structure.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637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71961"/>
            <a:ext cx="8738648" cy="634115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4. 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377" y="631596"/>
            <a:ext cx="8578391" cy="610637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Does conditioning self-supervised masked-token pretraining on Hi-C-derived structural features improve a DNA language model over a sequence-only baseline at matched parameters and compute?</a:t>
            </a:r>
          </a:p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Does structure entering the SSM recurrence during pretraining outperform post-hoc integration (CHROME-style) and contrastive distillation (Evo2HiC-style) on regulatory and variant-effect transfer tasks?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Are the observed gains attributable to genuine locus-specific 3D structure rather than to genomic distance decay — i.e., do shuffled-structure and distance-matched controls (S0–S3) degrade performance?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1146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5. Title Justification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"3D-Chromatin-Aware"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the model consumes measured Hi-C contact structure (insulation, directionality, contact density, A/B compartments), not just the linear sequence.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"Genomic"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it operates on nucleotide-resolution DNA, where CTCF motif orientation — the actual loop grammar — is representable (impossible at CHROME’s 5 kb bins).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"Foundation Model"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general-purpose self-supervised pretraining evaluated by transfer, unlike supervised single-task predictors (Akita, Orca, CHROME).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The title states the mechanism precisely: awareness of 3D chromatin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during pretraining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is what no alternative title in this space already covers.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9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301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6.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construct a paired sequence + Hi-C pilot dataset (GM12878, chr9, GRCh38) with an 8-feature per-bin structural vector validated against independent 4D Nucleome tracks (target r &gt; 0.95).</a:t>
            </a:r>
          </a:p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design and implement a structural-bias mechanism inside a bidirectional Mamba recurrence, matching the sequence-only baseline’s parameter count within 5% (achieved: +0.43%).</a:t>
            </a:r>
          </a:p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pretrain and compare four matched arms — sequence-only, CHROME-style post-hoc, Evo2HiC-style distillation, and the proposed model — with at least 3 seeds per configuration.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verify via shuffled-structure controls (S0–S3) that any gain derives from genuine 3D structure, and to evaluate transfer on DNALongBench-style regulatory and variant tasks.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10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088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7.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1018094"/>
            <a:ext cx="8314441" cy="5338257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The pilot is restricted to one chromosome of one cell line of one species — human GM12878, chr9, 5 kb Hi-C resolution; every claim inherits this limitation and is stated accordingly.</a:t>
            </a:r>
          </a:p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Model scale is bounded by the available compute (2× NVIDIA L40S, 96 GB total): a ~7.7 M-parameter backbone on 32,768-bp windows — the small-model regime, not a 7B-scale reproduction.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Evaluation covers masked-token loss plus selected regulatory/variant transfer tasks; cross-species modeling (DNA Zoo) and genome-wide scaling are explicitly out of scope for this phase.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11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4744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8. Timeline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950000"/>
            <a:ext cx="8564253" cy="400000"/>
          </a:xfrm>
        </p:spPr>
        <p:txBody>
          <a:bodyPr numCol="1">
            <a:normAutofit fontScale="92500" lnSpcReduction="20000"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1. Timeline chart for the Mini Project work (August – November 2026)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12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0" name="Table 950"/>
          <p:cNvGraphicFramePr>
            <a:graphicFrameLocks noGrp="1"/>
          </p:cNvGraphicFramePr>
          <p:nvPr/>
        </p:nvGraphicFramePr>
        <p:xfrm>
          <a:off x="962000" y="1450000"/>
          <a:ext cx="7220000" cy="473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0000"/>
                <a:gridCol w="3340000"/>
                <a:gridCol w="830000"/>
                <a:gridCol w="830000"/>
                <a:gridCol w="830000"/>
                <a:gridCol w="830000"/>
              </a:tblGrid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S. No.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Action Plan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AUG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SEP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OCT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NOV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Literature survey and gap analysis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Pilot data acquisition (Hi-C + genome + GTF)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Structural features (φ) and validation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Mechanism design and architecture spec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Model implementation and unit tests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Baseline and comparison-arm training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7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Ablations (S0–S3) and downstream evaluation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8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Results analysis and comparison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9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Report writing and paper draft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10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Project reviews (0th / 1st / 2nd / End Sem.)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6174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9.1. Introduction — The 3D Genome and Hi-C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675" y="763571"/>
            <a:ext cx="8738647" cy="5974399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Two metres of DNA fold into a ~10 μm nucleus — the genome is a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3D object read as 1D text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Hi-C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(Lieberman-Aiden et al., 2009) [1] crosslinks spatially close loci and sequences the ligation junctions, producing a genome-wide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contact matrix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Contact maps reveal a hierarchy: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A/B compartments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;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TADs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megabase-scale self-interacting domains, largely cell-type invariant (Dixon et al., 2012) [2]; and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loops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joining promoter–enhancer pairs (Rao et al., 2014) [3].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Loop anchors bind CTCF in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convergent orientation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a sequence-level grammar of 3D folding, visible only at nucleotide resolution.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TAD invariance across cell types is what makes a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pretraining-time structural prior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defensible: it is genome-intrinsic signal, not a cell-line artifact.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9150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 3D Map of the Human Genome at Kilobase Resolution Reveals Principles of Chromatin Looping [3]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Cell, Vol. 159, Issue 7, Elsevier, 2014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In situ Hi-C, 9 human cell types; GM12878 map with ~4.9B contacts at 1 kb resolution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Introduced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in situ Hi-C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at kilobase resolution; identified ~10,000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chromatin loops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, contact domains (median ~185 kb) and six subcompartments. Loop anchors bind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CTCF in convergent orientation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the sequence-level mechanism of loop formation. The GM12878 map is the densest public human Hi-C dataset and is this project’s pilot data source.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First kilobase-resolution genome-wide map of 3D genome folding.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Established loops and CTCF convergence as reproducible structural units.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Bulk, population-averaged contacts — no single-cell heterogeneity.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Descriptive assay only: no predictive model linking sequence to structure.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42585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 —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620000"/>
            <a:ext cx="8564253" cy="350000"/>
          </a:xfrm>
        </p:spPr>
        <p:txBody>
          <a:bodyPr numCol="1">
            <a:normAutofit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2. Summary of existing implementations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1" name="Table 951"/>
          <p:cNvGraphicFramePr>
            <a:graphicFrameLocks noGrp="1"/>
          </p:cNvGraphicFramePr>
          <p:nvPr/>
        </p:nvGraphicFramePr>
        <p:xfrm>
          <a:off x="292232" y="1010000"/>
          <a:ext cx="8564253" cy="517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0000"/>
                <a:gridCol w="1710000"/>
                <a:gridCol w="1210000"/>
                <a:gridCol w="1500000"/>
                <a:gridCol w="1930000"/>
                <a:gridCol w="1794253"/>
              </a:tblGrid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No.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Article / Model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Venue, Year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Data structure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Gap addressed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Limitation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Rao et al. (in situ Hi-C) [3]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Cell, 2014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Hi-C, 9 cell types, 1 kb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Kilobase 3D map; loops + CTCF convergence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Bulk averages; descriptive only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Caduceus (BiMamba) [4]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ICML, 2024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only (hg38)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Linear-time bidirectional RC-aware DNA LM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structure at any stage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 2 (StripedHyena 2) [5]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Nature,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only, 9.3T tokens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1M-token context; strongest sequence-only FM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Misses TAD/loop organization [13]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HiCFoundation [6]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Nat. Methods,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 only, 81 cell lines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Generalizable Hi-C foundation model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sequence; cannot score variants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Hi-Cformer [7]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bioRxiv, 2025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scHi-C only, 1 Mb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Multi-scale scHi-C representation (MLM)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sequence; cell-level scope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GraphReg (GAT) [8]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Genome Res., 2022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Seq. features + graph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Enhancer→gene attribution via attention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Supervised downstream only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7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CHROME (GAT) [9]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Brief. Bioinf.,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+ Hi-C graph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Non-random contact filtering; ClinVar/eQTL gains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Structure post-hoc; graph needed at inference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8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Evo2HiC (distillation) [10]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bioRxiv, 2025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+ Hi-C patches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 shapes a sequence encoder (contrastive)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nucleotide objective; no variant eval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9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Akita [11] / Orca [12]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Nat. Meth. 2020 / Nat. Genet. 2022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→ contact map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 as supervised training target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Single-task; representations never transferred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10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Evo2 3D probing (Lee) [13]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arXiv,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 2 likelihoods vs Micro-C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Shows Evo 2 fails higher-order 3D tests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Preprint; 7B only, CTCF structures only</a:t>
                      </a:r>
                    </a:p>
                  </a:txBody>
                  <a:tcPr marL="36576" marR="36576" marT="18288" marB="18288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8005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11. Gap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Sequence-only FMs (Evo 2, Caduceus) never see structure — and Evo 2-7B demonstrably fails TAD/loop-scale probes, so scale alone has not closed the gap.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Hi-C-only FMs (HiCFoundation, Hi-Cformer) have no sequence channel, so a point mutation cannot change their input — variant scoring is impossible in principle.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CHROME integrates structure only post-hoc: its encoder converges with no structure present, and the contact graph is required again at inference.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Evo2HiC aligns a distilled encoder to Hi-C patches contrastively — no self-supervised nucleotide objective, no variant evaluation, and a frozen teacher as its ceiling.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Akita/Orca use Hi-C as a supervised target, but a forward-citation sweep over 318 citing papers finds their representations have never been transferred to any non-folding task.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The empty cell: no published model combines an SSM sequence backbone with 3D structure inside a self-supervised pretraining objective — the cell this project occupies.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7850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3976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12. SDLC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365" y="565608"/>
            <a:ext cx="8175984" cy="6155868"/>
          </a:xfrm>
        </p:spPr>
        <p:txBody>
          <a:bodyPr numCol="1">
            <a:normAutofit/>
          </a:bodyPr>
          <a:lstStyle/>
          <a:p>
            <a:pPr marL="0" lvl="0" indent="0" algn="just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Iterative ML life-cycle model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chosen because pretraining research loops through data–model–evaluation cycles gated by diagnostics, not a linear waterfall. Stages instantiated for this project: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Problem definition — structure-conditioned pretraining hypothesis (Phase 0 literature gap).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Data collection — 4DN Hi-C + Ensembl GRCh38 + GENCODE v47 (chr9 pilot).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Data preparation — band extraction, O/E correction, φ features, tokenization, leakage-free splits.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Modeling — BiMamba backbone + structural bias at matched parameters.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Evaluation — masked-token loss, ablation ladder S0–S3, DNALongBench transfer, ≥3 seeds.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Deployment — reproducible pipeline, released code/weights and paper draft as research artifacts.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Monitoring — training-time diagnostics D1–D4 catch a silently-inert mechanism within hours.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30A4B5C7-79C4-AE2B-C3E2-4632FDF632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489" y="4309107"/>
            <a:ext cx="2507528" cy="231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4563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218" y="136524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14. Data Collection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685797"/>
            <a:ext cx="8314441" cy="6052174"/>
          </a:xfrm>
        </p:spPr>
        <p:txBody>
          <a:bodyPr numCol="1">
            <a:normAutofit fontScale="92500" lnSpcReduction="10000"/>
          </a:bodyPr>
          <a:lstStyle/>
          <a:p>
            <a:pPr marL="0" lvl="0" indent="0" algn="l">
              <a:spcAft>
                <a:spcPts val="3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Name of the 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4D Nucleome experiment set 4DNES3JX38V5 — in situ Hi-C, GM12878 lymphoblastoid cell line (Rao et al., 2014) [3], assembly GRCh38</a:t>
            </a:r>
          </a:p>
          <a:p>
            <a:pPr marL="0" lvl="0" indent="0" algn="just">
              <a:spcAft>
                <a:spcPts val="450"/>
              </a:spcAft>
              <a:buNone/>
            </a:pPr>
            <a:r>
              <a:rPr lang="en-US" sz="1400" i="1" dirty="0">
                <a:solidFill>
                  <a:srgbClr val="252525"/>
                </a:solidFill>
                <a:latin typeface="Calisto MT" panose="02040603050505030304" pitchFamily="18" charset="0"/>
              </a:rPr>
              <a:t>Selected because it is the densest public human Hi-C map, and GM12878 is one of CHROME’s training cell lines — keeping our pilot directly comparable.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Hi-C: 4DNFIXP4QG5B multiresolution .mcool (27.4 GB) — never downloaded; read remotely via HTTP range requests; ICE-balanced; 5 kb default (1–2 kb available for ablation).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Sequence: GRCh38 chr9 (Ensembl release 113). Annotation: GENCODE v47 — 169,668 chr9 rows; 3,190 genes.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Validation-only tracks (never model inputs): 4DN TAD boundaries, insulation score, A/B compartments; CTCF ChIA-PET loops as an independent assay.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Scale: chr9 = 138,394,717 bp (cooler and FASTA agree exactly); 27,679 bins @ 5 kb; ±2 Mb band = 7,108,483 retained entries (occupancy 0.645).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Known holes, recorded up front: 19.31% of bins carry no balancing weight — dominated by a 17.25 Mb centromeric gap; 12.0% of chr9 sequence is 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Windows (32,768 bp): train 5,422 / validation 273 / test 242 — disjoint genomic intervals with 1 Mb buffers; verified zero leakage.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0164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218" y="136524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15. Data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685797"/>
            <a:ext cx="8314441" cy="6052174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Band extraction: ±2 Mb around the diagonal at 5 kb, tiled in 10 Mb windows with 2 Mb overlap (no seam loss), deduplicated; separate 250 kb whole-chromosome matrix for compartments.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Distance-decay (O/E) correction before any feature is built — raw contact frequency is dominated by 1D distance, and uncorrected "structure" would be a positional prior in disguise (control S3 exists to catch exactly this).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φ per bin (8 features): insulation @ 100/250/500 kb, directionality index, log contact density, upstream mass fraction, short/long-range ratio, compartment PC1 — each tagged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symmetric or antisymmetric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under reverse complement.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Genome-wide standardization (failure-mode F1 mitigation); coverage: 21,519 / 27,679 bins (77.7%) have complete φ.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Validation against 4DN’s independently derived tracks: insulation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r = +0.9969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; compartments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r = +0.9759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Tokenization A/C/G/T/N with N ≤ 10% per window; φ linearly interpolated bin→token (7 → 32,757 distinct values per window — F4 mitigation); invalid positions get the standardized mean + validity flag, so no NaN can reach the recurrence.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Reverse-complement augmentation reverses tokens and φ and negates the two antisymmetric coordinates (F7 safeguard) — verified against independently computed expectations.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07357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166" y="15537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790756"/>
            <a:ext cx="8006303" cy="5748157"/>
          </a:xfrm>
        </p:spPr>
        <p:txBody>
          <a:bodyPr numCol="1">
            <a:normAutofit/>
          </a:bodyPr>
          <a:lstStyle/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Lieberman-Aiden, E., et al. (2009). Comprehensive mapping of long-range interactions reveals folding principles of the human genome. Science, 326(5950), 289–293.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[2]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Dixon, J. R., et al. (2012). Topological domains in mammalian genomes identified by analysis of chromatin interactions. Nature, 485, 376–380.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[3]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Rao, S. S. P., et al. (2014). A 3D map of the human genome at kilobase resolution reveals principles of chromatin looping. Cell, 159(7), 1665–1680.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[4]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Schiff, Y., Kao, C.-H., et al. (2024). Caduceus: Bi-directional equivariant long-range DNA sequence modeling. Proceedings of ICML 2024, PMLR 235. arXiv:2403.03234.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[5]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Brixi, G., et al. (2026). Genome modelling and design across all domains of life with Evo 2. Nature. (Preprint: bioRxiv 10.1101/2025.02.18.638918).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[6]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Wang, X., et al. (2026). A generalizable Hi-C foundation model for chromatin architecture, single-cell and multi-omics analysis across species. Nature Methods. (Preprint: bioRxiv 10.1101/2024.12.16.628821).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[7]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Wu, X., Chen, X., &amp; Jiang, R. (2025). Hi-Cformer enables multi-scale chromatin contact map modeling for single-cell Hi-C data analysis. bioRxiv 10.1101/2025.08.04.668453.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[8]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Karbalayghareh, A., et al. (2022). Chromatin interaction–aware gene regulatory modeling with graph attention networks. Genome Research, 32(5), 930–944.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[9]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Ye, F., et al. (2026). A chromatin-structure-guided framework for predictive and interpretable regulatory genomics. Briefings in Bioinformatics, 27(4), bbag360.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[10]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Fang, T., Wang, X., Xiao, Z., et al. (2025). Evo2HiC: A multimodal foundation model for integrative analysis of genome sequence and architecture. bioRxiv 10.1101/2025.11.18.689171.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[11]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Fudenberg, G., Kelley, D. R., &amp; Pollard, K. S. (2020). Predicting 3D genome folding from DNA sequence with Akita. Nature Methods, 17, 1111–1117.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[12]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Zhou, J. (2022). Sequence-based modeling of three-dimensional genome architecture from kilobase to chromosome scale. Nature Genetics, 54, 725–734.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[13]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Lee, U. (2026). Probing 3D chromatin structure awareness in Evo2 DNA language model. arXiv:2604.07196.</a:t>
            </a:r>
          </a:p>
          <a:p>
            <a:pPr marL="342900" lvl="0" indent="-342900" algn="l">
              <a:spcAft>
                <a:spcPts val="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[14]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Cheng, W., et al. (2025). DNALongBench: A benchmark suite for long-range DNA prediction tasks. Nature Communications, 16(1), 10108.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ED706-BAAD-007D-D4CC-247F422DF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70508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9.2. Introduction — Genomic FMs and SSMs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675" y="763571"/>
            <a:ext cx="8738647" cy="5974399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learn from raw DNA by self-supervision — masked-token (Caduceus) or next-token (Evo 2) objectives — and are judged by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transfer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to regulatory and variant tasks.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Transformers cost O(L²) in sequence length;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state space models (Mamba)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run in linear time, making 100 kb–1 Mb genomic contexts practical.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Caduceus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[4]: bidirectional, reverse-complement-aware Mamba DNA LM — our baseline architecture class (~7.7 M parameters, trainable on 2× L40S).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[5]: 7B/40B StripedHyena-2, 1M-token context, 9.3T tokens — the sequence-only state of the art.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Yet Evo 2 penalises TAD-boundary deletions </a:t>
            </a:r>
            <a:r>
              <a:rPr lang="en-US" sz="1700" b="1" u="sng" dirty="0">
                <a:solidFill>
                  <a:srgbClr val="252525"/>
                </a:solidFill>
                <a:latin typeface="Calisto MT" panose="02040603050505030304" pitchFamily="18" charset="0"/>
              </a:rPr>
              <a:t>less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than matched random controls (Lee, 2026) [13] — sequence-only pretraining does not discover higher-order 3D structure on its own.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9150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Caduceus: Bi-Directional Equivariant Long-Range DNA Sequence Modeling [4]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Proc. ICML 2024, PMLR Vol. 235, 2024 (arXiv:2403.03234)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Human reference genome hg38; GenomicBenchmarks, Nucleotide-Transformer tasks, Long Range Benchmark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Extends the Mamba SSM block to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BiMamba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(bidirectional) and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MambaDNA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(reverse-complement equivariant) — the first RC-equivariant bidirectional long-range DNA language model, pretrained by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masked-token prediction (15%)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at up to 131 kb context. Beats models ~10× larger on long-range eQTL variant-effect prediction.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Linear-time long-context DNA modeling beyond transformer O(L²).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Principled reverse-complement handling (PH augmentation / PS equivariance).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Sequence-only — no chromatin-structure signal at any stage.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Evaluated in the small-model regime only; our baseline inherits this scale.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Genome Modelling and Design Across All Domains of Life with Evo 2 [5]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Nature, Springer Nature, 2026 (preprint bioRxiv 10.1101/2025.02.18.638918)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OpenGenome2 — 8.8–9.3T tokens from &gt;128,000 genomes across all domains of life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Autoregressive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StripedHyena 2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models at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7B and 40B parameters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with context up to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1M tokens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at single-nucleotide resolution; demonstrates chromosome-scale generation and &gt;90% accuracy on BRCA1 benign-vs-pathogenic classification — the strongest sequence-only genomic FM.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Long-context nucleotide modeling at unprecedented scale.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Cross-domain-of-life generalization from a single model.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3D structure anywhere — probing (Lee, 2026 [13]) shows it misses TAD/loop-scale organization.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7B/40B scale is not reproducible on academic compute (enters this project only as a frozen-embedding reference).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 Generalizable Hi-C Foundation Model for Chromatin Architecture, Single-Cell and Multi-Omics Analysis Across Species [6]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Nature Methods, Springer Nature, 2026 (preprint bioRxiv 10.1101/2024.12.16.628821)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Hundreds of Hi-C assays: 81 human cell lines/tissues, ~118M contact submatrices; validated on 316 species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Self-supervised pretraining on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Hi-C submatrix patches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; produces embeddings at chromosome, loci and locus levels; fine-tuned decoders handle reproducibility scoring, resolution enhancement, loop detection, single-cell Hi-C and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epigenomic-activity prediction from Hi-C alone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First generalizable foundation model over Hi-C contact maps.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Cross-species structural transfer at scale.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DNA sequence channel — a point mutation does not change its input, so variants cannot be scored.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Requires Hi-C at inference; inapplicable to cell types without Hi-C.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Hi-Cformer Enables Multi-Scale Chromatin Contact Map Modeling for Single-Cell Hi-C Data Analysis [7]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bioRxiv 10.1101/2025.08.04.668453, 2025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Single-cell Hi-C: Ramani2017, Lee2019, Tan2021, Wu2024 (1 Mb resolution)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Transformer with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multi-scale block attention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over single-cell contact maps, pretrained with an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MLM objective over contact-map block embeddings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(20% masking, three-scale reconstruction loss); yields per-cell embeddings for clustering, cell-type annotation and imputation.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Multi-scale modeling of extremely sparse scHi-C data.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structural representation at single-cell level.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sequence channel — "general-purpose" scope is cells, not loci or variants.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1 Mb resolution is far above regulatory-element scale.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Chromatin Interaction–Aware Gene Regulatory Modeling with Graph Attention Networks [8]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Genome Research, Vol. 32, Issue 5, CSHL Press, 2022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HiChIP/Hi-C interaction graphs + 1D epigenomic tracks (CAGE, ChIP-seq)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Graph attention networks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over chromatin-interaction graphs predict gene expression; attention weights provide interpretable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enhancer→gene attribution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. Established the GAT-over-contact-graph pattern that CHROME later refined.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Long-range enhancer attribution beyond fixed 1D windows.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Interpretable structure-aware regulatory prediction.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Structure used only in supervised downstream training — never in pretraining.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Interaction graph required at inference.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 Chromatin-Structure-Guided Framework for Predictive and Interpretable Regulatory Genomics (CHROME) [9]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Briefings in Bioinformatics, Vol. 27, Issue 4, Oxford University Press, 2026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4DN Hi-C at 5 kb (GM12878, K562, IMR-90); 751 ENCODE ChIP-seq assays; GTEx eQTL; ClinVar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Filters Hi-C to physically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non-random contacts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via a polymer null model (~2–6% kept); builds signal-centered subgraphs (≤4 Mb) over 5 kb loci;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two GAT layers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propagate neighbor information. Encoders are trained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structure-free to convergence in stage 1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; structure enters only in stage-2 fine-tuning. Improves ChIP-seq, eQTL and ClinVar performance.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Physically-grounded filtering separates specific contacts from polymer noise.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Structure-aware variant interpretation evaluated on ClinVar and eQTL.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Structure is strictly post-hoc — the sequence representation is fixed before structure exists; supervised only, no self-supervised pretraining.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Needs the contact graph at inference; 5 kb bins cannot represent CTCF motif orientation.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Evo2HiC: A Multimodal Foundation Model for Integrative Analysis of Genome Sequence and Architecture [10]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bioRxiv 10.1101/2025.11.18.689171, 2025 (Noble Lab, Univ. of Washington)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1.2M × 2 kb human genomic bins; Hi-C contact maps; 177 DNA Zoo species (resolution enhancement)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Distills frozen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 (7B)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into a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3.6M-parameter CNN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via two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SigLIP-style contrastive objectives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: student ↔ Evo 2 embeddings, then student ↔ Hi-C patch embeddings — transferring TAD/loop knowledge into a DNA encoder. +10.9% Spearman over Orca on contact prediction at ~500× cheaper inference than Evo 2.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First work where Hi-C shapes a sequence encoder during representation learning.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Compute-efficient alternative to running a 7B genomic FM.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Contrastive alignment to a frozen teacher — no self-supervised objective over nucleotides (keyword count in paper: MLM = 0); the student’s ceiling is the teacher.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variant-level evaluation at all (ClinVar/eQTL/variant = 0 occurrences); CNN only — no SSM.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