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90" r:id="rId41"/>
    <p:sldId id="293" r:id="rId44"/>
  </p:sldIdLst>
  <p:sldSz cy="6858000" cx="9144000"/>
  <p:notesSz cx="6954825" cy="93091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41" Type="http://schemas.openxmlformats.org/officeDocument/2006/relationships/slide" Target="slides/slide35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Incremental, not waterfall: the deliverable is a comparison, so every phase must yield something measurable against a control. A waterfall plan reaches its first measurement in the final weeks, leaving no time to respond to a null.</a:t>
            </a:r>
          </a:p>
          <a:p/>
          <a:p>
            <a:r>
              <a:t>Incremental, not agile sprints: the scientific claim is fixed in advance; the backlog does not change, only the evidence accumulates.</a:t>
            </a:r>
          </a:p>
          <a:p/>
          <a:p>
            <a:r>
              <a:t>Phase 4 carries a stop gate. If the model given real Hi-C does not beat the same model given shuffled Hi-C, the central claim fails and we report that rather than tuning until the number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Downstream ML Practitioner is the actor that exercises the central claim: reusing the pretrained encoder when no Hi-C is available at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message 8: run_config.yaml is written BEFORE the first training step, not after the last, so a run that dies mid-way still leaves a complete record of what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split genomic windows randomly. Hi-C is autocorrelated over megabases, so a random split puts near-identical regions on both sides of the boundary and inflates every metric.</a:t>
            </a:r>
          </a:p>
          <a:p/>
          <a:p>
            <a:r>
              <a:t>Two harder evaluations sit on top: a fully held-out cell line, and Hi-C-free inference where the contact graph is removed after pretraining.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Contact-biased attention:</a:t>
            </a:r>
          </a:p>
          <a:p>
            <a:r>
              <a:t>  a_ij = softmax_j ( q_i . k_j / sqrt(d) + b_HiC(c_ij) + b_dist(d_ij) + b_scale(r) )</a:t>
            </a:r>
          </a:p>
          <a:p>
            <a:r>
              <a:t>c_ij is normalised contact strength, d_ij linear genomic distance, r the contact resolution. The bias terms are learned. Attention runs over graph edges only, which is what makes 640 kb of context fit on one 48 GB GPU.</a:t>
            </a:r>
          </a:p>
          <a:p/>
          <a:p>
            <a:r>
              <a:t>Objective: L = 1.0*L_DNA + 0.5*L_contrast + 1.0*L_contact</a:t>
            </a:r>
          </a:p>
          <a:p/>
          <a:p>
            <a:r>
              <a:t>Two design choices make the claim testable. Structure dropout (p = 0.3) drops the whole graph during pretraining, so Hi-C-free inference is in-distribution rather than an untested hope. Held-out target edges keep the contact head from copying its own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 lists for [5], [6] and [7] are to be completed against the published record before submission. They are cited here by title and identifier so that every entry is verifiable exactly 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research-process/research-question-exampl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utorialspoint.com/sdlc/index.htm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use-case-diagram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sequence-diagram" TargetMode="External"/><Relationship Id="rId3" Type="http://schemas.openxmlformats.org/officeDocument/2006/relationships/hyperlink" Target="https://www.youtube.com/watch?v=pCK6prSq8a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www.lucidchart.com/pages/uml-activity-diagram" TargetMode="External"/><Relationship Id="rId4" Type="http://schemas.openxmlformats.org/officeDocument/2006/relationships/hyperlink" Target="https://www.youtube.com/watch?v=_tCedK0CfMk" TargetMode="External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D6R7njeK-qg" TargetMode="External"/><Relationship Id="rId3" Type="http://schemas.openxmlformats.org/officeDocument/2006/relationships/hyperlink" Target="https://www.youtube.com/watch?v=2DwpAyzJrVQ" TargetMode="External"/><Relationship Id="rId4" Type="http://schemas.openxmlformats.org/officeDocument/2006/relationships/hyperlink" Target="https://www.geeksforgeeks.org/functional-vs-non-functional-requirements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shishpatel26/Tools-to-Design-or-Visualize-Architecture-of-Neural-Network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citation/generator/apa/" TargetMode="Externa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pPr algn="ctr"/>
            <a:r>
              <a:rPr sz="2000" b="1"/>
              <a:t>ChromGraphFM: An End-to-End 3D Chromatin-Conditioned Genomic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 wrap="square">
            <a:normAutofit fontScale="40000" lnSpcReduction="20000"/>
          </a:bodyPr>
          <a:lstStyle/>
          <a:p>
            <a:pPr/>
            <a:r>
              <a:rPr sz="1400" b="1"/>
              <a:t>Batch Members</a:t>
            </a:r>
          </a:p>
          <a:p>
            <a:pPr/>
            <a:r>
              <a:rPr sz="1300" b="0"/>
              <a:t>P. Charan Sai (238W1A5447)</a:t>
            </a:r>
          </a:p>
          <a:p>
            <a:pPr/>
            <a:r>
              <a:rPr sz="1300" b="0"/>
              <a:t>G. Karthik (248W5A5404)</a:t>
            </a:r>
          </a:p>
          <a:p>
            <a:pPr/>
            <a:r>
              <a:rPr sz="1300" b="0"/>
              <a:t>P. Sanath (238W1A5446)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400" b="1"/>
              <a:t>Under the Guidance of</a:t>
            </a:r>
          </a:p>
          <a:p>
            <a:pPr/>
            <a:r>
              <a:rPr sz="1300" b="0"/>
              <a:t>Mrs. K. Divya Kothapali</a:t>
            </a:r>
          </a:p>
          <a:p>
            <a:pPr/>
            <a:r>
              <a:rPr sz="1200" b="0"/>
              <a:t>Assistant Professor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sz="1400" b="0"/>
              <a:t>23CS7552: B. Tech Mini Project (2nd Review)</a:t>
            </a:r>
          </a:p>
          <a:p>
            <a:pPr/>
            <a:r>
              <a:rPr sz="1300" b="0"/>
              <a:t>October 16, 2026</a:t>
            </a:r>
          </a:p>
          <a:p>
            <a:pPr/>
            <a:r>
              <a:rPr sz="1300" b="0"/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 wrap="square">
            <a:normAutofit/>
          </a:bodyPr>
          <a:lstStyle/>
          <a:p>
            <a:pPr/>
            <a:r>
              <a:rPr sz="1400" b="0"/>
              <a:t>Three-dimensional chromatin organisation lets distal regulatory elements control gene expression, yet most genomic sequence models treat the genome as a one-dimensional string. This project develops ChromGraphFM, a compact 3D chromatin-conditioned genomic representation model trained from scratch on DNA sequence and Hi-C contact maps. Genomic regions become nodes in a sparse contact graph, and measured Hi-C contact strengths bias attention among distant DNA windows throughout self-supervised pretraining, so structure shapes the sequence representation instead of being appended after it. Pretraining combines masked DNA modelling, distance-matched contact-aware contrastive learning, and chromatin contact prediction. The model is evaluated against sequence-only, shuffled-contact, distance-only, random-graph and late-fusion controls trained at matched parameters, data and compute, using chromosome-level and cell-type held-out splits for contact-map prediction, chromatin loop detection, enhancer-promoter linking and Hi-C-free transfer. The central question is whether experimentally measured 3D structure can be internalised into a reusable DNA representation rather than supplied as an extra input at prediction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120030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Presentation Outline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" y="687062"/>
            <a:ext cx="8634953" cy="5851851"/>
          </a:xfrm>
        </p:spPr>
        <p:txBody>
          <a:bodyPr numCol="2" wrap="square">
            <a:normAutofit fontScale="25000" lnSpcReduction="20000"/>
          </a:bodyPr>
          <a:lstStyle/>
          <a:p>
            <a:pPr/>
            <a:r>
              <a:rPr sz="1200" b="0"/>
              <a:t>1. Research Domain</a:t>
            </a:r>
          </a:p>
          <a:p>
            <a:pPr/>
            <a:r>
              <a:rPr sz="1200" b="0"/>
              <a:t>2. SDG Categories</a:t>
            </a:r>
          </a:p>
          <a:p>
            <a:pPr/>
            <a:r>
              <a:rPr sz="1200" b="0"/>
              <a:t>3. Aim and Motivation</a:t>
            </a:r>
          </a:p>
          <a:p>
            <a:pPr/>
            <a:r>
              <a:rPr sz="1200" b="0"/>
              <a:t>4. Research Questions</a:t>
            </a:r>
          </a:p>
          <a:p>
            <a:pPr/>
            <a:r>
              <a:rPr sz="1200" b="0"/>
              <a:t>5. Title Justification</a:t>
            </a:r>
          </a:p>
          <a:p>
            <a:pPr/>
            <a:r>
              <a:rPr sz="1200" b="0"/>
              <a:t>6. Objectives</a:t>
            </a:r>
          </a:p>
          <a:p>
            <a:pPr/>
            <a:r>
              <a:rPr sz="1200" b="0"/>
              <a:t>7. Scope</a:t>
            </a:r>
          </a:p>
          <a:p>
            <a:pPr/>
            <a:r>
              <a:rPr sz="1200" b="0"/>
              <a:t>8. Timeline Chart</a:t>
            </a:r>
          </a:p>
          <a:p>
            <a:pPr/>
            <a:r>
              <a:rPr sz="1200" b="0"/>
              <a:t>9. Introduction</a:t>
            </a:r>
          </a:p>
          <a:p>
            <a:pPr/>
            <a:r>
              <a:rPr sz="1200" b="0"/>
              <a:t>10. Study on Existing Technologies</a:t>
            </a:r>
          </a:p>
          <a:p>
            <a:pPr/>
            <a:r>
              <a:rPr sz="1200" b="0"/>
              <a:t>11. Gap Analysis</a:t>
            </a:r>
          </a:p>
          <a:p>
            <a:pPr/>
            <a:r>
              <a:rPr sz="1200" b="0"/>
              <a:t>12. SDLC Model</a:t>
            </a:r>
          </a:p>
          <a:p>
            <a:pPr/>
            <a:r>
              <a:rPr sz="1200" b="0"/>
              <a:t>13. UML Diagrams</a:t>
            </a:r>
          </a:p>
          <a:p>
            <a:pPr/>
            <a:r>
              <a:rPr sz="1200" b="0"/>
              <a:t>14. Functional and Non-Functional Requirements</a:t>
            </a:r>
          </a:p>
          <a:p>
            <a:pPr/>
            <a:r>
              <a:rPr sz="1200" b="0"/>
              <a:t>15. Data Collection</a:t>
            </a:r>
          </a:p>
          <a:p>
            <a:pPr/>
            <a:r>
              <a:rPr sz="1200" b="0"/>
              <a:t>16. Data Preparation</a:t>
            </a:r>
          </a:p>
          <a:p>
            <a:pPr/>
            <a:r>
              <a:rPr sz="1200" b="0"/>
              <a:t>17. Proposed System Architecture</a:t>
            </a:r>
          </a:p>
          <a:p>
            <a:pPr/>
            <a:r>
              <a:rPr sz="1200" b="0"/>
              <a:t>18. Experimental Setup and Results</a:t>
            </a:r>
          </a:p>
          <a:p>
            <a:pPr/>
            <a:r>
              <a:rPr sz="1200" b="0"/>
              <a:t>19. Project Outcomes</a:t>
            </a:r>
          </a:p>
          <a:p>
            <a:pPr/>
            <a:r>
              <a:rPr sz="1200" b="0"/>
              <a:t>20. Conclusion and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3DE6-22F4-4655-E43D-E518384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E336-ABF5-A846-DE08-38640CE5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0ACF-C0A4-F059-E3E6-80EBC550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1. Research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AD35-D206-4743-0207-C6CD2E7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43" y="77201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Primary domain: Computational Genomics / Bioinformatics</a:t>
            </a:r>
          </a:p>
          <a:p>
            <a:pPr lvl="1"/>
            <a:r>
              <a:rPr sz="1600" b="0"/>
              <a:t>Three-dimensional genome organisation and gene regulation</a:t>
            </a:r>
          </a:p>
          <a:p>
            <a:pPr lvl="1"/>
            <a:r>
              <a:rPr sz="1600" b="0"/>
              <a:t>Chromosome conformation capture data (Hi-C, Micro-C)</a:t>
            </a:r>
          </a:p>
          <a:p>
            <a:pPr/>
            <a:r>
              <a:rPr sz="1800" b="1"/>
              <a:t>Secondary domain: Machine Learning / Representation Learning</a:t>
            </a:r>
          </a:p>
          <a:p>
            <a:pPr lvl="1"/>
            <a:r>
              <a:rPr sz="1600" b="0"/>
              <a:t>Self-supervised pretraining and foundation models for biological sequences</a:t>
            </a:r>
          </a:p>
          <a:p>
            <a:pPr lvl="1"/>
            <a:r>
              <a:rPr sz="1600" b="0"/>
              <a:t>Attention and graph neural networks with a structural inductive bias</a:t>
            </a:r>
          </a:p>
          <a:p>
            <a:pPr/>
            <a:r>
              <a:rPr sz="1800" b="1"/>
              <a:t>Where the two meet</a:t>
            </a:r>
          </a:p>
          <a:p>
            <a:pPr lvl="2"/>
            <a:r>
              <a:rPr sz="1400" b="0">
                <a:solidFill>
                  <a:srgbClr val="595959"/>
                </a:solidFill>
              </a:rPr>
              <a:t>The genome is read as a 1D string but folds in 3D. Regulatory elements act on genes megabases away in sequence yet nanometres away in space. This project asks whether measured folding can be built into how a model reads the sequence.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D8A0-D22F-28CB-6DA4-2B5A203C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7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B8B0-6FA6-1A9D-CBD0-94855C5A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460-8C98-C0EC-7B6F-08A2E00D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2. SDG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BAAF-ACF3-ADF2-52AE-80536527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SDG 3 - Good Health and Well-being</a:t>
            </a:r>
          </a:p>
          <a:p>
            <a:pPr lvl="1"/>
            <a:r>
              <a:rPr sz="1600" b="0"/>
              <a:t>Most disease-associated variants from genome-wide association studies fall in non-coding regions whose target genes are unknown</a:t>
            </a:r>
          </a:p>
          <a:p>
            <a:pPr lvl="1"/>
            <a:r>
              <a:rPr sz="1600" b="0"/>
              <a:t>Better enhancer-gene linking is a direct route to interpreting those variants</a:t>
            </a:r>
          </a:p>
          <a:p>
            <a:pPr/>
            <a:r>
              <a:rPr sz="1800" b="1"/>
              <a:t>SDG 9 - Industry, Innovation and Infrastructure</a:t>
            </a:r>
          </a:p>
          <a:p>
            <a:pPr lvl="1"/>
            <a:r>
              <a:rPr sz="1600" b="0"/>
              <a:t>A compact, openly released pretrained encoder lowers the compute barrier for labs that cannot train billion-parameter genomic models</a:t>
            </a:r>
          </a:p>
          <a:p>
            <a:pPr lvl="1"/>
            <a:r>
              <a:rPr sz="1600" b="0"/>
              <a:t>The Hi-C-free setting matters here: most labs have sequence but no Hi-C</a:t>
            </a:r>
          </a:p>
          <a:p>
            <a:pPr/>
            <a:r>
              <a:rPr sz="1800" b="1"/>
              <a:t>SDG 4 - Quality Education</a:t>
            </a:r>
          </a:p>
          <a:p>
            <a:pPr lvl="1"/>
            <a:r>
              <a:rPr sz="1600" b="0"/>
              <a:t>Fully reproducible pipeline, tracked data manifest and public repository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B90BE-2D81-5E43-3A1E-442D1D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3. Aim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Aim</a:t>
            </a:r>
          </a:p>
          <a:p>
            <a:pPr lvl="1"/>
            <a:r>
              <a:rPr sz="1400" b="0"/>
              <a:t>Develop and evaluate a genomic representation model trained from scratch in which Hi-C contact information directly biases how a DNA sequence encoder exchanges information across distant genomic regions during self-supervised pretraining.</a:t>
            </a:r>
          </a:p>
          <a:p>
            <a:pPr/>
            <a:r>
              <a:rPr sz="1600" b="1"/>
              <a:t>Motivation</a:t>
            </a:r>
          </a:p>
          <a:p>
            <a:pPr lvl="1"/>
            <a:r>
              <a:rPr sz="1400" b="0"/>
              <a:t>Sequence-only models must infer long-range regulatory relationships from sequence alone, though those relationships have already been measured experimentally</a:t>
            </a:r>
          </a:p>
          <a:p>
            <a:pPr lvl="1"/>
            <a:r>
              <a:rPr sz="1400" b="0"/>
              <a:t>Existing 3D-genome models either predict Hi-C from sequence, represent Hi-C maps themselves, or align a frozen encoder to Hi-C embeddings after the fact</a:t>
            </a:r>
          </a:p>
          <a:p>
            <a:pPr lvl="1"/>
            <a:r>
              <a:rPr sz="1400" b="0"/>
              <a:t>None lets the measured contact map decide which distal windows communicate while the representation is being learned</a:t>
            </a:r>
          </a:p>
          <a:p>
            <a:pPr/>
            <a:r>
              <a:rPr sz="1600" b="1"/>
              <a:t>The bet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If real contacts carry information a sequence model cannot recover alone, conditioning on them should beat a matched model given shuffled contacts. If it does not, that null is itself a result about the limits of the signal.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71961"/>
            <a:ext cx="8738648" cy="63411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4.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631596"/>
            <a:ext cx="8578391" cy="610637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RQ1 - Does structural conditioning help at all?</a:t>
            </a:r>
          </a:p>
          <a:p>
            <a:pPr lvl="1"/>
            <a:r>
              <a:rPr sz="1500" b="0"/>
              <a:t>Does biasing attention with measured Hi-C improve held-out chromosome contact prediction over a matched sequence-only encoder?</a:t>
            </a:r>
          </a:p>
          <a:p>
            <a:pPr/>
            <a:r>
              <a:rPr sz="1700" b="1"/>
              <a:t>RQ2 - Is the gain from real biology or from any extra signal?</a:t>
            </a:r>
          </a:p>
          <a:p>
            <a:pPr lvl="1"/>
            <a:r>
              <a:rPr sz="1500" b="0"/>
              <a:t>Does it beat matched controls given shuffled Hi-C, distance-only edges and a random contact graph?</a:t>
            </a:r>
          </a:p>
          <a:p>
            <a:pPr/>
            <a:r>
              <a:rPr sz="1700" b="1"/>
              <a:t>RQ3 - Is conditioning better than fusion?</a:t>
            </a:r>
          </a:p>
          <a:p>
            <a:pPr lvl="1"/>
            <a:r>
              <a:rPr sz="1500" b="0"/>
              <a:t>Does contact-biased attention inside the encoder beat late fusion applied after the sequence has been encoded?</a:t>
            </a:r>
          </a:p>
          <a:p>
            <a:pPr/>
            <a:r>
              <a:rPr sz="1700" b="1"/>
              <a:t>RQ4 - Is the structure retained in the sequence representation?</a:t>
            </a:r>
          </a:p>
          <a:p>
            <a:pPr lvl="1"/>
            <a:r>
              <a:rPr sz="1500" b="0"/>
              <a:t>Does any improvement survive removing the contact graph at inference time?</a:t>
            </a:r>
          </a:p>
          <a:p>
            <a:pPr/>
            <a:r>
              <a:rPr sz="1700" b="1"/>
              <a:t>RQ5 - Does it transfer?</a:t>
            </a:r>
          </a:p>
          <a:p>
            <a:pPr lvl="1"/>
            <a:r>
              <a:rPr sz="1500" b="0"/>
              <a:t>Does the pretrained encoder beat a from-scratch model on loop detection and enhancer-promoter linking, including on a held-out cell line?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5. Title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"ChromGraphFM"</a:t>
            </a:r>
          </a:p>
          <a:p>
            <a:pPr lvl="1"/>
            <a:r>
              <a:rPr sz="1500" b="0"/>
              <a:t>Chrom - the object of study is chromatin, not sequence alone</a:t>
            </a:r>
          </a:p>
          <a:p>
            <a:pPr lvl="1"/>
            <a:r>
              <a:rPr sz="1500" b="0"/>
              <a:t>Graph - a contact is a relation between two loci, not a pixel in an image</a:t>
            </a:r>
          </a:p>
          <a:p>
            <a:pPr lvl="1"/>
            <a:r>
              <a:rPr sz="1500" b="0"/>
              <a:t>FM - the artefact is a pretrained encoder evaluated across several tasks</a:t>
            </a:r>
          </a:p>
          <a:p>
            <a:pPr/>
            <a:r>
              <a:rPr sz="1700" b="1"/>
              <a:t>"End-to-End"</a:t>
            </a:r>
          </a:p>
          <a:p>
            <a:pPr lvl="1"/>
            <a:r>
              <a:rPr sz="1500" b="0"/>
              <a:t>Distinguishes this work from Evo2HiC, which distils a frozen Evo 2 backbone; here the sequence encoder trains from scratch under the structural objectives</a:t>
            </a:r>
          </a:p>
          <a:p>
            <a:pPr/>
            <a:r>
              <a:rPr sz="1700" b="1"/>
              <a:t>"3D Chromatin-Conditioned"</a:t>
            </a:r>
          </a:p>
          <a:p>
            <a:pPr lvl="1"/>
            <a:r>
              <a:rPr sz="1500" b="0"/>
              <a:t>Conditioned, not fused: the contact map alters attention inside the encoder at every block rather than being concatenated to its output</a:t>
            </a:r>
          </a:p>
          <a:p>
            <a:pPr/>
            <a:r>
              <a:rPr sz="1700" b="1"/>
              <a:t>A deliberate restraint on the word "Foundation"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At 20-40M parameters this is a compact pretrained representation model, and the report will call it that unless multi-task transfer is demonstrated.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6.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O1 - Reproducible data foundation</a:t>
            </a:r>
          </a:p>
          <a:p>
            <a:pPr lvl="1"/>
            <a:r>
              <a:rPr sz="1400" b="0"/>
              <a:t>Chromosome-split hg38 and Hi-C dataset at 5 kb, rebuildable from a tracked manifest</a:t>
            </a:r>
          </a:p>
          <a:p>
            <a:pPr/>
            <a:r>
              <a:rPr sz="1600" b="1"/>
              <a:t>O2 - Sparse contact graph construction</a:t>
            </a:r>
          </a:p>
          <a:p>
            <a:pPr lvl="1"/>
            <a:r>
              <a:rPr sz="1400" b="0"/>
              <a:t>640 kb regions as 128-node graphs, with target edges provably held out from the conditioning edges</a:t>
            </a:r>
          </a:p>
          <a:p>
            <a:pPr/>
            <a:r>
              <a:rPr sz="1600" b="1"/>
              <a:t>O3 - Contact-biased sequence encoder</a:t>
            </a:r>
          </a:p>
          <a:p>
            <a:pPr lvl="1"/>
            <a:r>
              <a:rPr sz="1400" b="0"/>
              <a:t>Bi-directional Mamba local encoder, contact-biased attention, structure dropout</a:t>
            </a:r>
          </a:p>
          <a:p>
            <a:pPr/>
            <a:r>
              <a:rPr sz="1600" b="1"/>
              <a:t>O4 - Structure-aware pretraining</a:t>
            </a:r>
          </a:p>
          <a:p>
            <a:pPr lvl="1"/>
            <a:r>
              <a:rPr sz="1400" b="0"/>
              <a:t>Masked DNA modelling, distance-matched contrastive learning, contact prediction</a:t>
            </a:r>
          </a:p>
          <a:p>
            <a:pPr/>
            <a:r>
              <a:rPr sz="1600" b="1"/>
              <a:t>O5 - Controlled evaluation</a:t>
            </a:r>
          </a:p>
          <a:p>
            <a:pPr lvl="1"/>
            <a:r>
              <a:rPr sz="1400" b="0"/>
              <a:t>B0-B5 controls at matched parameters, data and steps; held-out chromosomes, held-out cell line, Hi-C-free inference</a:t>
            </a:r>
          </a:p>
          <a:p>
            <a:pPr/>
            <a:r>
              <a:rPr sz="1600" b="1"/>
              <a:t>O6 - Biological interpretation</a:t>
            </a:r>
          </a:p>
          <a:p>
            <a:pPr lvl="1"/>
            <a:r>
              <a:rPr sz="1400" b="0"/>
              <a:t>Test whether high-attention contact anchors are enriched for CTCF motifs and overlap known loop anchors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7.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018094"/>
            <a:ext cx="8314441" cy="5338257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In scope</a:t>
            </a:r>
          </a:p>
          <a:p>
            <a:pPr lvl="1"/>
            <a:r>
              <a:rPr sz="1500" b="0"/>
              <a:t>Human genome hg38; bulk Hi-C from 4DN and ENCODE</a:t>
            </a:r>
          </a:p>
          <a:p>
            <a:pPr lvl="1"/>
            <a:r>
              <a:rPr sz="1500" b="0"/>
              <a:t>5 kb contact resolution; 640 kb context (128 nodes x 5 kb)</a:t>
            </a:r>
          </a:p>
          <a:p>
            <a:pPr lvl="1"/>
            <a:r>
              <a:rPr sz="1500" b="0"/>
              <a:t>2-3 cell lines, one fully held out; 20-40M parameters; DNA and Hi-C only</a:t>
            </a:r>
          </a:p>
          <a:p>
            <a:pPr lvl="1"/>
            <a:r>
              <a:rPr sz="1500" b="0"/>
              <a:t>Controlled comparison against our own matched baselines B0-B5</a:t>
            </a:r>
          </a:p>
          <a:p>
            <a:pPr/>
            <a:r>
              <a:rPr sz="1700" b="1"/>
              <a:t>Out of scope</a:t>
            </a:r>
          </a:p>
          <a:p>
            <a:pPr lvl="1"/>
            <a:r>
              <a:rPr sz="1500" b="0"/>
              <a:t>Billion-parameter pretraining; million-base contexts</a:t>
            </a:r>
          </a:p>
          <a:p>
            <a:pPr lvl="1"/>
            <a:r>
              <a:rPr sz="1500" b="0"/>
              <a:t>ATAC-seq, DNase-seq or CTCF tracks as model inputs (stretch goal only)</a:t>
            </a:r>
          </a:p>
          <a:p>
            <a:pPr lvl="1"/>
            <a:r>
              <a:rPr sz="1500" b="0"/>
              <a:t>Single-cell Hi-C, cross-species transfer, variant-effect prediction (stretch)</a:t>
            </a:r>
          </a:p>
          <a:p>
            <a:pPr/>
            <a:r>
              <a:rPr sz="1700" b="1"/>
              <a:t>Claim discipline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No claim of superiority over a published model unless task, data, split, metric, resolution and input setting all match. Published numbers are reported as context, never as a head-to-head result.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4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8. Timeline Chart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7" y="854995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1: Timeline chart for the mini project. Phases 0-2 need no GPU and run on a laptop; Phases 3-6 require the L40S cluster.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7" y="1239043"/>
          <a:ext cx="800630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6449"/>
                <a:gridCol w="1026449"/>
                <a:gridCol w="4721665"/>
                <a:gridCol w="1231738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Scaffold, config system, split 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hg38 windows, streamed Hi-C, 5 kb bins,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Sparse contact graphs, held-out edges, control corruptions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Bi-Mamba encoder, B0 baseline, 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In progress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attention, three pretraining 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16-18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Matched B0-B5 sweep, held-out chromosome and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CTCF interpretation, report, poster, public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9.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763571"/>
            <a:ext cx="8738647" cy="5974399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The biology</a:t>
            </a:r>
          </a:p>
          <a:p>
            <a:pPr lvl="1"/>
            <a:r>
              <a:rPr sz="1500" b="0"/>
              <a:t>Human DNA is about 2 metres long and folds into a nucleus about 6 micrometres across. The folding is not random: it forms loops, domains and compartments.</a:t>
            </a:r>
          </a:p>
          <a:p>
            <a:pPr lvl="1"/>
            <a:r>
              <a:rPr sz="1500" b="0"/>
              <a:t>An enhancer can regulate a gene a megabase away because folding brings them into physical proximity. Sequence adjacency and functional adjacency differ.</a:t>
            </a:r>
          </a:p>
          <a:p>
            <a:pPr/>
            <a:r>
              <a:rPr sz="1700" b="1"/>
              <a:t>The measurement</a:t>
            </a:r>
          </a:p>
          <a:p>
            <a:pPr lvl="1"/>
            <a:r>
              <a:rPr sz="1500" b="0"/>
              <a:t>Hi-C sequences pairs of genomic fragments that were physically close, producing a contact matrix over genomic bins - the experimental readout of that folding.</a:t>
            </a:r>
          </a:p>
          <a:p>
            <a:pPr/>
            <a:r>
              <a:rPr sz="1700" b="1"/>
              <a:t>The modelling gap</a:t>
            </a:r>
          </a:p>
          <a:p>
            <a:pPr lvl="1"/>
            <a:r>
              <a:rPr sz="1500" b="0"/>
              <a:t>Genomic language models read the genome as text. Attention over sequence position cannot know two distant windows are neighbours in space unless it is told.</a:t>
            </a:r>
          </a:p>
          <a:p>
            <a:pPr/>
            <a:r>
              <a:rPr sz="1700" b="1"/>
              <a:t>This project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Tell it, during pretraining, and measure whether that changes what the encoder learns - with controls strong enough that a positive result means something.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91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5107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84462"/>
            <a:ext cx="8314441" cy="6273538"/>
          </a:xfrm>
        </p:spPr>
        <p:txBody>
          <a:bodyPr numCol="1" wrap="square">
            <a:normAutofit fontScale="85000" lnSpcReduction="20000"/>
          </a:bodyPr>
          <a:lstStyle/>
          <a:p>
            <a:pPr/>
            <a:r>
              <a:rPr sz="1400" b="1"/>
              <a:t>Title: Evo2HiC - a multimodal foundation model for integrative analysis of genome sequence and architecture [7]</a:t>
            </a:r>
          </a:p>
          <a:p>
            <a:pPr lvl="1"/>
            <a:r>
              <a:rPr sz="1200" b="0"/>
              <a:t>Venue: bioRxiv preprint, November 2025</a:t>
            </a:r>
          </a:p>
          <a:p>
            <a:pPr lvl="1"/>
            <a:r>
              <a:rPr sz="1200" b="0"/>
              <a:t>Method: contrastive distillation of a frozen 7B-parameter Evo 2 into a 3.6M parameter CNN sequence encoder, aligned against Hi-C patch embeddings</a:t>
            </a:r>
          </a:p>
          <a:p>
            <a:pPr lvl="1"/>
            <a:r>
              <a:rPr sz="1200" b="0"/>
              <a:t>Relevance: the closest precedent, and the reason this project cannot claim to be the first to use Hi-C in genomic representation learning</a:t>
            </a:r>
          </a:p>
          <a:p>
            <a:pPr lvl="1"/>
            <a:r>
              <a:rPr sz="1200" b="0"/>
              <a:t>Limitation we build on: the backbone stays frozen, and contacts never enter the encoder's own contextualisation</a:t>
            </a:r>
          </a:p>
          <a:p>
            <a:pPr/>
            <a:r>
              <a:rPr sz="1400" b="1"/>
              <a:t>Title: MIX-HIC - Multimodal 3D Genome Pre-training [6]</a:t>
            </a:r>
          </a:p>
          <a:p>
            <a:pPr lvl="1"/>
            <a:r>
              <a:rPr sz="1200" b="0"/>
              <a:t>Venue: NeurIPS 2025 (arXiv:2504.09060)</a:t>
            </a:r>
          </a:p>
          <a:p>
            <a:pPr lvl="1"/>
            <a:r>
              <a:rPr sz="1200" b="0"/>
              <a:t>Method: joint pretraining over Hi-C contact maps and epigenomic tracks, more than 1.2 million paired samples, 5 kb resolution, chromosome-level splits</a:t>
            </a:r>
          </a:p>
          <a:p>
            <a:pPr lvl="1"/>
            <a:r>
              <a:rPr sz="1200" b="0"/>
              <a:t>Limitation we build on: raw DNA sequence is not an input; the authors name sequence integration as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2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8232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829558"/>
            <a:ext cx="8649093" cy="5891917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Three families of prior work</a:t>
            </a:r>
          </a:p>
          <a:p>
            <a:pPr lvl="1"/>
            <a:r>
              <a:rPr sz="1300" b="0"/>
              <a:t>Sequence-to-structure predictors - Akita, C.Origami, EPCOT. Sequence in, contact map out. Hi-C is the prediction target.</a:t>
            </a:r>
          </a:p>
          <a:p>
            <a:pPr lvl="1"/>
            <a:r>
              <a:rPr sz="1300" b="0"/>
              <a:t>Hi-C representation models - HiCFoundation, MIX-HIC. Hi-C in, Hi-C representation out. DNA sequence absent or secondary.</a:t>
            </a:r>
          </a:p>
          <a:p>
            <a:pPr lvl="1"/>
            <a:r>
              <a:rPr sz="1300" b="0"/>
              <a:t>Sequence foundation models - Caduceus, HyenaDNA, Evo 2. Long-range sequence modelling with no structural signal.</a:t>
            </a:r>
          </a:p>
          <a:p>
            <a:pPr/>
            <a:r>
              <a:rPr sz="1500" b="1"/>
              <a:t>What the field has already settled</a:t>
            </a:r>
          </a:p>
          <a:p>
            <a:pPr lvl="1"/>
            <a:r>
              <a:rPr sz="1300" b="0"/>
              <a:t>Hi-C can be predicted from sequence, and Hi-C maps can be pretrained on</a:t>
            </a:r>
          </a:p>
          <a:p>
            <a:pPr lvl="1"/>
            <a:r>
              <a:rPr sz="1300" b="0"/>
              <a:t>Hi-C can shape a sequence encoder by distillation (Evo2HiC)</a:t>
            </a:r>
          </a:p>
          <a:p>
            <a:pPr/>
            <a:r>
              <a:rPr sz="1500" b="1"/>
              <a:t>What this means for our claim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"First to use Hi-C in a genomic foundation model" is false and must not be claimed. The defensible contribution is the mechanism and the controls that isolate it.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3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675" y="584462"/>
            <a:ext cx="864909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2: Summary of existing implementations and the gap each leaves open.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2675" y="968510"/>
          <a:ext cx="864909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32619"/>
                <a:gridCol w="1441515"/>
                <a:gridCol w="2883030"/>
                <a:gridCol w="3191927"/>
              </a:tblGrid>
              <a:tr h="333756">
                <a:tc>
                  <a:txBody>
                    <a:bodyPr/>
                    <a:lstStyle/>
                    <a:p>
                      <a:r>
                        <a:rPr sz="10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What it does not do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Akita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CNN predicting 3D folding from DNA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Task-specific predictor; no reusable pretrained representation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C.Origami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Biotech.,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Cell-type-specific 3D organisation from sequence, CTCF,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 is the target, not a signal shaping an encoder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EPCOT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Nucleic Acids Res.,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Pretrain/fine-tune for epigenome, contacts,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Pretraining centres on epigenomic features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Caduceus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arXiv:2403.03234,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Bi-directional RC-equivariant long-range DNA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Strong sequence-only baseline; uses no Hi-C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HiCFoundation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Foundation model pretrained on Hi-C contact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Represents contact maps, not DNA sequence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MIX-HIC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NeurIPS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Multimodal Hi-C and epigenomic pretraining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No raw DNA input; names sequence integration as future work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Evo2HiC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bioRxiv,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Hi-C-guided contrastive distillation of Evo 2 into a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Closest precedent; frozen backbone, contacts never enter contextualisation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Established in the literature</a:t>
            </a:r>
          </a:p>
          <a:p>
            <a:pPr lvl="1"/>
            <a:r>
              <a:rPr sz="1200" b="0"/>
              <a:t>Foundation models pretrained on Hi-C maps exist (HiCFoundation)</a:t>
            </a:r>
          </a:p>
          <a:p>
            <a:pPr lvl="1"/>
            <a:r>
              <a:rPr sz="1200" b="0"/>
              <a:t>Multimodal Hi-C and epigenomic pretraining exists (MIX-HIC)</a:t>
            </a:r>
          </a:p>
          <a:p>
            <a:pPr lvl="1"/>
            <a:r>
              <a:rPr sz="1200" b="0"/>
              <a:t>Hi-C-guided distillation into a DNA encoder exists (Evo2HiC)</a:t>
            </a:r>
          </a:p>
          <a:p>
            <a:pPr/>
            <a:r>
              <a:rPr sz="1400" b="1"/>
              <a:t>Still open</a:t>
            </a:r>
          </a:p>
          <a:p>
            <a:pPr lvl="1"/>
            <a:r>
              <a:rPr sz="1200" b="0"/>
              <a:t>No published model trains a DNA encoder end to end while measured contact graphs control which distal windows exchange information at every layer</a:t>
            </a:r>
          </a:p>
          <a:p>
            <a:pPr lvl="1"/>
            <a:r>
              <a:rPr sz="1200" b="0"/>
              <a:t>Post-hoc alignment and late fusion have not been separated from in-encoder conditioning under matched parameters, data and compute</a:t>
            </a:r>
          </a:p>
          <a:p>
            <a:pPr lvl="1"/>
            <a:r>
              <a:rPr sz="1200" b="0"/>
              <a:t>Whether structural knowledge survives removal of Hi-C at inference is asserted more often than it is tested against a shuffled-contact control</a:t>
            </a:r>
          </a:p>
          <a:p>
            <a:pPr/>
            <a:r>
              <a:rPr sz="1400" b="1"/>
              <a:t>Gap statement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It remains untested whether contact graphs conditioning sequence contextualisation throughout pretraining yield a more transferable DNA representation than the alternatives, measured against distance-matched and shuffled-contact controls.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12. SDLC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d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65608"/>
            <a:ext cx="8686800" cy="36261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24667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1: Incremental model with an explicit decision gate per phase.</a:t>
            </a:r>
          </a:p>
        </p:txBody>
      </p:sp>
    </p:spTree>
    <p:extLst>
      <p:ext uri="{BB962C8B-B14F-4D97-AF65-F5344CB8AC3E}">
        <p14:creationId xmlns:p14="http://schemas.microsoft.com/office/powerpoint/2010/main" val="60945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30"/>
            <a:ext cx="8738648" cy="455006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13.1. Use Case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71340"/>
            <a:ext cx="8686800" cy="5206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73315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2: Actors are the external roles the system serves, plus the two external systems it depends on.</a:t>
            </a:r>
          </a:p>
        </p:txBody>
      </p:sp>
    </p:spTree>
    <p:extLst>
      <p:ext uri="{BB962C8B-B14F-4D97-AF65-F5344CB8AC3E}">
        <p14:creationId xmlns:p14="http://schemas.microsoft.com/office/powerpoint/2010/main" val="214891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46728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13.2. Sequence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27901"/>
            <a:ext cx="8686800" cy="5326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90878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3: One pretraining run, from manifest resolution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360155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13.3. Activity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77" y="575034"/>
            <a:ext cx="8123646" cy="5414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0441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4: Experiment workflow, including the QC gate and the shuffled-Hi-C decision point.</a:t>
            </a:r>
          </a:p>
        </p:txBody>
      </p:sp>
    </p:spTree>
    <p:extLst>
      <p:ext uri="{BB962C8B-B14F-4D97-AF65-F5344CB8AC3E}">
        <p14:creationId xmlns:p14="http://schemas.microsoft.com/office/powerpoint/2010/main" val="2782914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14. 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20132"/>
            <a:ext cx="8314441" cy="5917838"/>
          </a:xfrm>
        </p:spPr>
        <p:txBody>
          <a:bodyPr numCol="1" wrap="square">
            <a:normAutofit lnSpcReduction="10000"/>
          </a:bodyPr>
          <a:lstStyle/>
          <a:p>
            <a:pPr/>
            <a:r>
              <a:rPr sz="1500" b="1"/>
              <a:t>Functional requirements</a:t>
            </a:r>
          </a:p>
          <a:p>
            <a:pPr lvl="1"/>
            <a:r>
              <a:rPr sz="1300" b="0"/>
              <a:t>FR1: Rebuild the full dataset on any machine from data/manifest.json alone</a:t>
            </a:r>
          </a:p>
          <a:p>
            <a:pPr lvl="1"/>
            <a:r>
              <a:rPr sz="1300" b="0"/>
              <a:t>FR2: Construct sparse contact graphs with configurable top-k and local radius</a:t>
            </a:r>
          </a:p>
          <a:p>
            <a:pPr lvl="1"/>
            <a:r>
              <a:rPr sz="1300" b="0"/>
              <a:t>FR3: Hold out a configurable fraction of edges as prediction targets, excluded from the conditioning graph</a:t>
            </a:r>
          </a:p>
          <a:p>
            <a:pPr lvl="1"/>
            <a:r>
              <a:rPr sz="1300" b="0"/>
              <a:t>FR4: Train any of the seven arms (B0-B5, full) from one configuration field</a:t>
            </a:r>
          </a:p>
          <a:p>
            <a:pPr lvl="1"/>
            <a:r>
              <a:rPr sz="1300" b="0"/>
              <a:t>FR5: Write run_config.yaml and metrics.json for every run</a:t>
            </a:r>
          </a:p>
          <a:p>
            <a:pPr lvl="1"/>
            <a:r>
              <a:rPr sz="1300" b="0"/>
              <a:t>FR6: Run inference with the contact graph removed</a:t>
            </a:r>
          </a:p>
          <a:p>
            <a:pPr/>
            <a:r>
              <a:rPr sz="1500" b="1"/>
              <a:t>Non-functional requirements</a:t>
            </a:r>
          </a:p>
          <a:p>
            <a:pPr lvl="1"/>
            <a:r>
              <a:rPr sz="1300" b="0"/>
              <a:t>NFR1 Reproducibility: seed, commit hash, config and accessions recorded per run</a:t>
            </a:r>
          </a:p>
          <a:p>
            <a:pPr lvl="1"/>
            <a:r>
              <a:rPr sz="1300" b="0"/>
              <a:t>NFR2 Portability: no hardcoded paths; laptop (CPU) and cluster (CUDA) from one tree</a:t>
            </a:r>
          </a:p>
          <a:p>
            <a:pPr lvl="1"/>
            <a:r>
              <a:rPr sz="1300" b="0"/>
              <a:t>NFR3 Memory: no dense chromosome-scale contact matrix is ever materialised</a:t>
            </a:r>
          </a:p>
          <a:p>
            <a:pPr lvl="1"/>
            <a:r>
              <a:rPr sz="1300" b="0"/>
              <a:t>NFR4 Integrity: the config loader rejects chromosome leakage and unknown keys</a:t>
            </a:r>
          </a:p>
          <a:p>
            <a:pPr lvl="1"/>
            <a:r>
              <a:rPr sz="1300" b="0"/>
              <a:t>NFR5 Auditability: no reported number without a tracked file behind 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60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15. Data Collection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218" y="685797"/>
            <a:ext cx="831444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3: Accessions, URLs and md5 checksums live in data/manifest.json, the only data artefact carried in git. Splits are chromosome-level: train on autosomes, validate on chr10 and chr11, test on chr3, chr13 and chr17.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8218" y="1069845"/>
          <a:ext cx="8314439" cy="23591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85359"/>
                <a:gridCol w="1910074"/>
                <a:gridCol w="2022431"/>
                <a:gridCol w="2696575"/>
              </a:tblGrid>
              <a:tr h="337021">
                <a:tc>
                  <a:txBody>
                    <a:bodyPr/>
                    <a:lstStyle/>
                    <a:p>
                      <a:r>
                        <a:rPr sz="1100" b="1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Format /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Use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UCSC hg38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FASTA + .fai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 kb DNA window per node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Bulk Hi-C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4DN Data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kb, 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Contact graph, pretraining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Hi-C, 2nd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Held-out cell-type test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Chromatin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CTCF ChIA-PET / HiChIP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BEDPE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Loop detection labels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Gene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 CAGE / RNA-seq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bigWig / 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Downstream transfer</a:t>
                      </a:r>
                    </a:p>
                  </a:txBody>
                  <a:tcPr/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100" b="0"/>
                        <a:t>CTCF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JASPAR MA0139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Interpretation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1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16.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85797"/>
            <a:ext cx="8314441" cy="6052174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Step 1 - Resolve and verify</a:t>
            </a:r>
          </a:p>
          <a:p>
            <a:pPr lvl="1"/>
            <a:r>
              <a:rPr sz="1200" b="0"/>
              <a:t>Read accessions from the manifest; verify md5 after transfer</a:t>
            </a:r>
          </a:p>
          <a:p>
            <a:pPr/>
            <a:r>
              <a:rPr sz="1400" b="1"/>
              <a:t>Step 2 - Stream, never densify</a:t>
            </a:r>
          </a:p>
          <a:p>
            <a:pPr lvl="1"/>
            <a:r>
              <a:rPr sz="1200" b="0"/>
              <a:t>Read .mcool pixels chromosome by chromosome with cooler. A dense chr1 matrix at 5 kb is about 49,800 x 49,800 floats, roughly 10 GB, so only sparse pixels are ever held in memory.</a:t>
            </a:r>
          </a:p>
          <a:p>
            <a:pPr/>
            <a:r>
              <a:rPr sz="1400" b="1"/>
              <a:t>Step 3 - Align coordinates</a:t>
            </a:r>
          </a:p>
          <a:p>
            <a:pPr lvl="1"/>
            <a:r>
              <a:rPr sz="1200" b="0"/>
              <a:t>One node = one 5 kb Hi-C bin = one 5 kb DNA window. Keeping these identical removes a pooling layer and an entire class of off-by-one coordinate bugs.</a:t>
            </a:r>
          </a:p>
          <a:p>
            <a:pPr/>
            <a:r>
              <a:rPr sz="1400" b="1"/>
              <a:t>Step 4 - Filter</a:t>
            </a:r>
          </a:p>
          <a:p>
            <a:pPr lvl="1"/>
            <a:r>
              <a:rPr sz="1200" b="0"/>
              <a:t>Drop nodes whose DNA is more than 50% N; drop bins with zero coverage</a:t>
            </a:r>
          </a:p>
          <a:p>
            <a:pPr/>
            <a:r>
              <a:rPr sz="1400" b="1"/>
              <a:t>Step 5 - Shard and record</a:t>
            </a:r>
          </a:p>
          <a:p>
            <a:pPr lvl="1"/>
            <a:r>
              <a:rPr sz="1200" b="0"/>
              <a:t>Write 128-node samples plus a QC report: coordinate spot checks, the P(s) contact decay curve, split disjointness and N-content distribution</a:t>
            </a:r>
          </a:p>
          <a:p>
            <a:pPr/>
            <a:r>
              <a:rPr sz="1400" b="1"/>
              <a:t>Decision gate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No training starts until DNA window and Hi-C bin coordinates are manually verified to agree at several independent loci.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3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D41-8B00-DE8F-7F82-9281F7F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518-4D1A-BA7B-0FD9-70F4CE3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26999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17.1. Proposed System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88F9-79B5-CB9F-9F1A-C474A41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0075"/>
            <a:ext cx="8686800" cy="4759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41466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5: End-to-end system, from public data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117482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9654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17.2. Different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7" y="697582"/>
            <a:ext cx="8314441" cy="5740925"/>
          </a:xfrm>
        </p:spPr>
        <p:txBody>
          <a:bodyPr numCol="1" wrap="square">
            <a:normAutofit fontScale="92500" lnSpcReduction="20000"/>
          </a:bodyPr>
          <a:lstStyle/>
          <a:p>
            <a:pPr/>
            <a:r>
              <a:rPr sz="1500" b="1"/>
              <a:t>Module 1 - Data (chromgraph/datasets)</a:t>
            </a:r>
          </a:p>
          <a:p>
            <a:pPr lvl="1"/>
            <a:r>
              <a:rPr sz="1300" b="0"/>
              <a:t>Manifest resolution, Hi-C streaming and binning, DNA window extraction, QC report</a:t>
            </a:r>
          </a:p>
          <a:p>
            <a:pPr/>
            <a:r>
              <a:rPr sz="1500" b="1"/>
              <a:t>Module 2 - Graph (chromgraph/preprocessing)</a:t>
            </a:r>
          </a:p>
          <a:p>
            <a:pPr lvl="1"/>
            <a:r>
              <a:rPr sz="1300" b="0"/>
              <a:t>Top-k distal and local edge selection, edge features, target-edge hold-out</a:t>
            </a:r>
          </a:p>
          <a:p>
            <a:pPr lvl="1"/>
            <a:r>
              <a:rPr sz="1300" b="0"/>
              <a:t>The six control corruptions: random graph, distance-only edges, shuffled contacts</a:t>
            </a:r>
          </a:p>
          <a:p>
            <a:pPr/>
            <a:r>
              <a:rPr sz="1500" b="1"/>
              <a:t>Module 3 - Model (chromgraph/models)</a:t>
            </a:r>
          </a:p>
          <a:p>
            <a:pPr lvl="1"/>
            <a:r>
              <a:rPr sz="1300" b="0"/>
              <a:t>Bi-Mamba local DNA encoder, contact-biased multi-head attention, learned edge bias, structure dropout, three pretraining heads</a:t>
            </a:r>
          </a:p>
          <a:p>
            <a:pPr/>
            <a:r>
              <a:rPr sz="1500" b="1"/>
              <a:t>Module 4 - Training (chromgraph/training)</a:t>
            </a:r>
          </a:p>
          <a:p>
            <a:pPr lvl="1"/>
            <a:r>
              <a:rPr sz="1300" b="0"/>
              <a:t>Arm selection, mixed precision, checkpointing, run configuration capture</a:t>
            </a:r>
          </a:p>
          <a:p>
            <a:pPr/>
            <a:r>
              <a:rPr sz="1500" b="1"/>
              <a:t>Module 5 - Evaluation (chromgraph/evaluation)</a:t>
            </a:r>
          </a:p>
          <a:p>
            <a:pPr lvl="1"/>
            <a:r>
              <a:rPr sz="1300" b="0"/>
              <a:t>Distance-stratified contact metrics, loop AUPRC, enhancer-promoter ranking, Hi-C-free probe, CTCF motif enrichment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4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chromgraphfm_architecture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9616"/>
            <a:ext cx="8686800" cy="4060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71506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6: ChromGraphFM. The Hi-C-derived edge bias enters the attention score, so the contact map decides which distal windows communicate.</a:t>
            </a:r>
          </a:p>
        </p:txBody>
      </p:sp>
    </p:spTree>
    <p:extLst>
      <p:ext uri="{BB962C8B-B14F-4D97-AF65-F5344CB8AC3E}">
        <p14:creationId xmlns:p14="http://schemas.microsoft.com/office/powerpoint/2010/main" val="852333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Algorithms/Pseudo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7" y="650450"/>
            <a:ext cx="3785664" cy="6334812"/>
          </a:xfrm>
        </p:spPr>
        <p:txBody>
          <a:bodyPr numCol="1" wrap="square">
            <a:normAutofit/>
          </a:bodyPr>
          <a:lstStyle/>
          <a:p>
            <a:pPr/>
            <a:r>
              <a:rPr sz="1300" b="1"/>
              <a:t>Algorithm 1: Sparse contact graph construction</a:t>
            </a:r>
          </a:p>
          <a:p>
            <a:pPr lvl="1"/>
            <a:r>
              <a:rPr sz="1100" b="0"/>
              <a:t>Input: contact pixels C, bin size b, k, local radius m, hold-out fraction f</a:t>
            </a:r>
          </a:p>
          <a:p>
            <a:pPr lvl="1"/>
            <a:r>
              <a:rPr sz="1100" b="0"/>
              <a:t>Output: conditioning edges E_in, target edges E_tgt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Normalise C by the expected contact at each genomic 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For each node i, keep the k strongest j with |i - j| &gt;= min_separation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Add local edges (i, j) for all 0 &lt; |i - j| &lt;= m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Sample a fraction f of edges into E_tgt using control_seed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E_in = E \ E_tgt          # assert E_in and E_tgt are disjoint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6. Attach features (c_ij, d_ij, r, cell_type) to every edge</a:t>
            </a:r>
          </a:p>
          <a:p>
            <a:pPr/>
            <a:r>
              <a:rPr sz="1300" b="1"/>
              <a:t>Algorithm 2: One pretraining step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h = BiMambaEncoder(dna)                # one embedding per 5 kb node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if uniform() &lt; p_structure_dropout: E_in = local edges only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for layer in 1..N: h = Block(h, E_in)  # contact-biased attention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L = L_DNA(h) + 0.5*L_contrast(h) + L_contact(h, E_tgt)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backward, clip gradients to 1.0, optimiser step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11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18.1. 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Hardware</a:t>
            </a:r>
          </a:p>
          <a:p>
            <a:pPr lvl="1"/>
            <a:r>
              <a:rPr sz="1200" b="0"/>
              <a:t>Development (Phases 0-2): laptop, Intel i5-12450H, 16 GB RAM, no CUDA</a:t>
            </a:r>
          </a:p>
          <a:p>
            <a:pPr lvl="1"/>
            <a:r>
              <a:rPr sz="1200" b="0"/>
              <a:t>Training (Phases 3-6): NVIDIA L40S, 48 GB VRAM, university cluster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Concurrent GPU count, wall-time limit and scratch quota still to be confirmed with the cluster administrator; the plan scales from 1 to 4 GPUs.</a:t>
            </a:r>
          </a:p>
          <a:p>
            <a:pPr/>
            <a:r>
              <a:rPr sz="1400" b="1"/>
              <a:t>Software</a:t>
            </a:r>
          </a:p>
          <a:p>
            <a:pPr lvl="1"/>
            <a:r>
              <a:rPr sz="1200" b="0"/>
              <a:t>PyTorch with bfloat16 mixed precision and gradient checkpointing</a:t>
            </a:r>
          </a:p>
          <a:p>
            <a:pPr lvl="1"/>
            <a:r>
              <a:rPr sz="1200" b="0"/>
              <a:t>cooler and pyfaidx for Hi-C and sequence access; NumPy, SciPy, scikit-learn</a:t>
            </a:r>
          </a:p>
          <a:p>
            <a:pPr lvl="1"/>
            <a:r>
              <a:rPr sz="1200" b="0"/>
              <a:t>YAML configuration, seed and commit hash recorded per run</a:t>
            </a:r>
          </a:p>
          <a:p>
            <a:pPr/>
            <a:r>
              <a:rPr sz="1400" b="1"/>
              <a:t>Experimental discipline</a:t>
            </a:r>
          </a:p>
          <a:p>
            <a:pPr lvl="1"/>
            <a:r>
              <a:rPr sz="1200" b="0"/>
              <a:t>Every arm shares parameter count, dataset, optimiser, schedule and step budget; only the structural signal differs</a:t>
            </a:r>
          </a:p>
          <a:p>
            <a:pPr lvl="1"/>
            <a:r>
              <a:rPr sz="1200" b="0"/>
              <a:t>Three training seeds per arm; controls corrupted with a separate fixed seed so seed variance and shuffle variance are never confounded</a:t>
            </a:r>
          </a:p>
          <a:p>
            <a:pPr lvl="1"/>
            <a:r>
              <a:rPr sz="1200" b="0"/>
              <a:t>Hyperparameters tuned on chr10 and chr11 only; test chromosomes touched once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27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963D-20FF-89A3-626A-7C90795E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BB23-4EC6-964D-994F-D83B5C1A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3830B-FD85-D774-8D77-0970594A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6" y="955250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4: Main comparison on held-out chromosomes (chr3, chr13, chr17), mean over 3 seeds. Entries remain ?? until results/final_comparison.csv exists. The decisive row is Ours against B3.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6" y="1339298"/>
          <a:ext cx="8006300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3059"/>
                <a:gridCol w="2372237"/>
                <a:gridCol w="2075708"/>
                <a:gridCol w="1383805"/>
                <a:gridCol w="1581491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Contact r (long-range)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Loop AUPRC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Hi-C-free probe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DNA-only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Random contact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Distance-only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Shuffled Hi-C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Late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Contrastive alignment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58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1BA5-B76C-3560-28B4-7EDD1266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1CC2-B3BF-31D2-D2AA-441536C5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3988-0402-0966-3916-D73212C42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685797"/>
            <a:ext cx="8006303" cy="6035679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Distance-stratified, never a single correlation</a:t>
            </a:r>
          </a:p>
          <a:p>
            <a:pPr lvl="1"/>
            <a:r>
              <a:rPr sz="1300" b="0"/>
              <a:t>Hi-C is dominated by short-range contacts. One overall Pearson r can look strong while long-range prediction is at chance.</a:t>
            </a:r>
          </a:p>
          <a:p>
            <a:pPr lvl="1"/>
            <a:r>
              <a:rPr sz="1300" b="0"/>
              <a:t>Every contact metric is reported separately for short, medium and long separations</a:t>
            </a:r>
          </a:p>
          <a:p>
            <a:pPr/>
            <a:r>
              <a:rPr sz="1500" b="1"/>
              <a:t>Distance-matched negatives everywhere</a:t>
            </a:r>
          </a:p>
          <a:p>
            <a:pPr lvl="1"/>
            <a:r>
              <a:rPr sz="1300" b="0"/>
              <a:t>Loop and enhancer-promoter negatives are matched on genomic distance, or the model is rewarded for learning only that nearby loci contact more often</a:t>
            </a:r>
          </a:p>
          <a:p>
            <a:pPr/>
            <a:r>
              <a:rPr sz="1500" b="1"/>
              <a:t>What would falsify the hypothesis</a:t>
            </a:r>
          </a:p>
          <a:p>
            <a:pPr lvl="1"/>
            <a:r>
              <a:rPr sz="1300" b="0"/>
              <a:t>Ours failing to exceed B3 (shuffled Hi-C) on long-range contact prediction</a:t>
            </a:r>
          </a:p>
          <a:p>
            <a:pPr lvl="1"/>
            <a:r>
              <a:rPr sz="1300" b="0"/>
              <a:t>Ours matching B2 (distance-only), which would mean the model learned separation rather than structure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Either outcome is reported as measured. A null on a well-controlled experiment is a result about the signal, not a failure of the project.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ECB16-FF64-C4B2-FA25-FA7FA202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891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FBED-F78E-E0B4-D926-A6C6A5EC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C3D37-4606-D134-BF01-FBEDF0F5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18.4. Proof of Concept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6AE4-B5B9-93A8-4EEE-9258E621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296687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Proof of concept delivered so far</a:t>
            </a:r>
          </a:p>
          <a:p>
            <a:pPr lvl="1"/>
            <a:r>
              <a:rPr sz="1400" b="0"/>
              <a:t>A configuration system that refuses a chromosome leak between splits, an unknown configuration key, or a graph whose local and distal edge classes overlap</a:t>
            </a:r>
          </a:p>
          <a:p>
            <a:pPr lvl="1"/>
            <a:r>
              <a:rPr sz="1400" b="0"/>
              <a:t>A reproducible build: every figure regenerates from its draw.io source and every deck regenerates from one script</a:t>
            </a:r>
          </a:p>
          <a:p>
            <a:pPr lvl="1"/>
            <a:r>
              <a:rPr sz="1400" b="0"/>
              <a:t>Pilot dataset build on two small chromosomes: ??</a:t>
            </a:r>
          </a:p>
          <a:p>
            <a:pPr lvl="1"/>
            <a:r>
              <a:rPr sz="1400" b="0"/>
              <a:t>End-to-end smoke run, forward and backward pass: ??</a:t>
            </a:r>
          </a:p>
          <a:p>
            <a:pPr/>
            <a:r>
              <a:rPr sz="1600" b="1"/>
              <a:t>How to verify it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git clone, pip install -e ., python tests/test_config.py, then python scripts/build_data.py --pilot. No manual step and no downloaded artefact outside the manifest.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5DF95-D43C-B287-2818-93A7BAAD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58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66" y="15537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90756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900" b="0"/>
              <a:t>[1] Fudenberg, G., Kelley, D. R., &amp; Pollard, K. S. (2020). Predicting 3D genome folding from DNA sequence with Akita. Nature Methods, 17(11), 1111-1117.</a:t>
            </a:r>
          </a:p>
          <a:p>
            <a:pPr/>
            <a:r>
              <a:rPr sz="900" b="0"/>
              <a:t>[2] Tan, J., et al. (2023). Cell-type-specific prediction of 3D chromatin organization enables high-throughput in silico genetic screening. Nature Biotechnology, 41(8), 1140-1150.</a:t>
            </a:r>
          </a:p>
          <a:p>
            <a:pPr/>
            <a:r>
              <a:rPr sz="900" b="0"/>
              <a:t>[3] Zhang, Z., et al. (2023). A generalizable framework to comprehensively predict epigenome, chromatin organization, and transcriptome. Nucleic Acids Research, 51(12), 5931-5947.</a:t>
            </a:r>
          </a:p>
          <a:p>
            <a:pPr/>
            <a:r>
              <a:rPr sz="900" b="0"/>
              <a:t>[4] Schiff, Y., et al. (2024). Caduceus: Bi-directional equivariant long-range DNA sequence modeling. arXiv:2403.03234.</a:t>
            </a:r>
          </a:p>
          <a:p>
            <a:pPr/>
            <a:r>
              <a:rPr sz="900" b="0"/>
              <a:t>[5] A generalizable Hi-C foundation model for chromatin architecture, single-cell and multi-omics analysis across species (HiCFoundation). Nature Methods (2026).</a:t>
            </a:r>
          </a:p>
          <a:p>
            <a:pPr/>
            <a:r>
              <a:rPr sz="900" b="0"/>
              <a:t>[6] MIX-HIC: Multimodal 3D Genome Pre-training. arXiv:2504.09060 (2025).</a:t>
            </a:r>
          </a:p>
          <a:p>
            <a:pPr/>
            <a:r>
              <a:rPr sz="900" b="0"/>
              <a:t>[7] Evo2HiC: a multimodal foundation model for integrative analysis of genome sequence and architecture. bioRxiv 2025.11.18.689171 (2025).</a:t>
            </a:r>
          </a:p>
          <a:p>
            <a:pPr/>
            <a:r>
              <a:rPr sz="900" b="0"/>
              <a:t>[8] Gu, A., &amp; Dao, T. (2023). Mamba: Linear-time sequence modeling with selective state spaces. arXiv:2312.00752.</a:t>
            </a:r>
          </a:p>
          <a:p>
            <a:pPr/>
            <a:r>
              <a:rPr sz="900" b="0"/>
              <a:t>[9] Vaswani, A., et al. (2017). Attention is all you need. NeurIPS 2017.</a:t>
            </a:r>
          </a:p>
          <a:p>
            <a:pPr/>
            <a:r>
              <a:rPr sz="900" b="0"/>
              <a:t>[10] Rao, S. S. P., et al. (2014). A 3D map of the human genome at kilobase resolution reveals principles of chromatin looping. Cell, 159(7), 1665-1680.</a:t>
            </a:r>
          </a:p>
          <a:p>
            <a:pPr/>
            <a:r>
              <a:rPr sz="900" b="0"/>
              <a:t>[11] Abdennur, N., &amp; Mirny, L. A. (2020). Cooler: scalable storage for Hi-C data and other genomically labeled arrays. Bioinformatics, 36(1), 311-316.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706-BAAD-007D-D4CC-247F422D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5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