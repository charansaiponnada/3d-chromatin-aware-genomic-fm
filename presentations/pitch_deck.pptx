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37.xml" ContentType="application/vnd.openxmlformats-officedocument.presentationml.slide+xml"/>
  <Override PartName="/ppt/tableStyles1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1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8" r:id="rId9"/>
    <p:sldId id="272" r:id="rId23"/>
    <p:sldId id="282" r:id="rId33"/>
    <p:sldId id="292" r:id="rId43"/>
  </p:sldIdLst>
  <p:sldSz cy="6858000" cx="9144000"/>
  <p:notesSz cx="6954825" cy="93091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5940675A-B579-460E-94D1-54222C63F5DA}" styleName="No Style, Table Grid">
    <a:wholeTbl>
      <a:tcTxStyle>
        <a:fontRef idx="minor">
          <a:scrgbClr b="0" g="0" r="0"/>
        </a:fontRef>
        <a:schemeClr val="tx1"/>
      </a:tcTxStyle>
      <a:tcStyle>
        <a:tcBdr>
          <a:left>
            <a:ln cmpd="sng" w="12700">
              <a:solidFill>
                <a:schemeClr val="tx1"/>
              </a:solidFill>
            </a:ln>
          </a:left>
          <a:right>
            <a:ln cmpd="sng" w="12700">
              <a:solidFill>
                <a:schemeClr val="tx1"/>
              </a:solidFill>
            </a:ln>
          </a:right>
          <a:top>
            <a:ln cmpd="sng" w="12700">
              <a:solidFill>
                <a:schemeClr val="tx1"/>
              </a:solidFill>
            </a:ln>
          </a:top>
          <a:bottom>
            <a:ln cmpd="sng" w="12700">
              <a:solidFill>
                <a:schemeClr val="tx1"/>
              </a:solidFill>
            </a:ln>
          </a:bottom>
          <a:insideH>
            <a:ln cmpd="sng" w="12700">
              <a:solidFill>
                <a:schemeClr val="tx1"/>
              </a:solidFill>
            </a:ln>
          </a:insideH>
          <a:insideV>
            <a:ln cmpd="sng" w="12700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9" Type="http://schemas.openxmlformats.org/officeDocument/2006/relationships/slide" Target="slides/slide3.xml"/><Relationship Id="rId23" Type="http://schemas.openxmlformats.org/officeDocument/2006/relationships/slide" Target="slides/slide17.xml"/><Relationship Id="rId33" Type="http://schemas.openxmlformats.org/officeDocument/2006/relationships/slide" Target="slides/slide27.xml"/><Relationship Id="rId43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71B727E3-9991-4B0C-8167-23E35F3043C3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78B3C13F-8C70-4967-B114-F8782C3B91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010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Contact-biased attention:</a:t>
            </a:r>
          </a:p>
          <a:p>
            <a:r>
              <a:t>  a_ij = softmax_j ( q_i . k_j / sqrt(d) + b_HiC(c_ij) + b_dist(d_ij) + b_scale(r) )</a:t>
            </a:r>
          </a:p>
          <a:p>
            <a:r>
              <a:t>c_ij is normalised contact strength, d_ij linear genomic distance, r the contact resolution. The bias terms are learned. Attention runs over graph edges only, which is what makes 640 kb of context fit on one 48 GB GPU.</a:t>
            </a:r>
          </a:p>
          <a:p/>
          <a:p>
            <a:r>
              <a:t>Objective: L = 1.0*L_DNA + 0.5*L_contrast + 1.0*L_contact</a:t>
            </a:r>
          </a:p>
          <a:p/>
          <a:p>
            <a:r>
              <a:t>Two design choices make the claim testable. Structure dropout (p = 0.3) drops the whole graph during pretraining, so Hi-C-free inference is in-distribution rather than an untested hope. Held-out target edges keep the contact head from copying its own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3A6F-B049-4A3C-A314-6C5DC6ABA413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84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A0579-E4EA-4069-8E9E-A5661942CE83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46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AC4A0-A0AB-494A-9349-6940CE23F0BB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49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9F13F-E3C0-47E7-81E7-2D67CDFD97CE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336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4F48-C21C-4E8E-AA43-BB8E3BD2F306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00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0D7BC-B940-4993-A11F-8FBB77BA204E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74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94854-92A4-4BB6-9F1F-69BBC71788FF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46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6CBDC-D391-4FA9-8D6F-9BC119CA0B97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0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F212E-DE5B-4D49-B277-6F5AF26D6AF0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51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F1400-0AF8-4881-9500-1BCE077EF02C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04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20AC9-8025-43C3-9D7A-B30453D05E68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156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C9A0F-356B-4543-BBC4-6729314C25D3}" type="datetime1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542D4-23E8-43E0-BA8E-C972DA1A00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20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ashishpatel26/Tools-to-Design-or-Visualize-Architecture-of-Neural-Network" TargetMode="Externa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C46DB-D9D6-99F1-B8FD-FBA99021C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457484"/>
            <a:ext cx="7772400" cy="884259"/>
          </a:xfrm>
        </p:spPr>
        <p:txBody>
          <a:bodyPr>
            <a:noAutofit/>
          </a:bodyPr>
          <a:lstStyle/>
          <a:p>
            <a:pPr algn="ctr"/>
            <a:r>
              <a:rPr sz="2000" b="1"/>
              <a:t>ChromGraphFM: An End-to-End 3D Chromatin-Conditioned Genomic Foundation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D8221-192B-76DF-DF92-A9F15F837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24" y="4516258"/>
            <a:ext cx="3675512" cy="1973635"/>
          </a:xfrm>
        </p:spPr>
        <p:txBody>
          <a:bodyPr wrap="square">
            <a:normAutofit fontScale="40000" lnSpcReduction="20000"/>
          </a:bodyPr>
          <a:lstStyle/>
          <a:p>
            <a:pPr/>
            <a:r>
              <a:rPr sz="1400" b="1"/>
              <a:t>Batch Members</a:t>
            </a:r>
          </a:p>
          <a:p>
            <a:pPr/>
            <a:r>
              <a:rPr sz="1300" b="0"/>
              <a:t>P. Charan Sai (238W1A5447)</a:t>
            </a:r>
          </a:p>
          <a:p>
            <a:pPr/>
            <a:r>
              <a:rPr sz="1300" b="0"/>
              <a:t>G. Karthik (248W5A5404)</a:t>
            </a:r>
          </a:p>
          <a:p>
            <a:pPr/>
            <a:r>
              <a:rPr sz="1300" b="0"/>
              <a:t>P. Sanath (238W1A5446)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E82CFBC-36EF-B095-71E8-4AA9D64C0EFE}"/>
              </a:ext>
            </a:extLst>
          </p:cNvPr>
          <p:cNvSpPr txBox="1">
            <a:spLocks/>
          </p:cNvSpPr>
          <p:nvPr/>
        </p:nvSpPr>
        <p:spPr>
          <a:xfrm>
            <a:off x="4794945" y="4516258"/>
            <a:ext cx="4178431" cy="2220295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sz="1400" b="1"/>
              <a:t>Under the Guidance of</a:t>
            </a:r>
          </a:p>
          <a:p>
            <a:pPr/>
            <a:r>
              <a:rPr sz="1300" b="0"/>
              <a:t>Mrs. K. Divya Kothapali</a:t>
            </a:r>
          </a:p>
          <a:p>
            <a:pPr/>
            <a:r>
              <a:rPr sz="1200" b="0"/>
              <a:t>Assistant Professor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D2FCE7-A20E-157E-20FA-2B09A5121833}"/>
              </a:ext>
            </a:extLst>
          </p:cNvPr>
          <p:cNvSpPr txBox="1">
            <a:spLocks/>
          </p:cNvSpPr>
          <p:nvPr/>
        </p:nvSpPr>
        <p:spPr>
          <a:xfrm>
            <a:off x="685800" y="3293700"/>
            <a:ext cx="7772400" cy="791278"/>
          </a:xfrm>
          <a:prstGeom prst="rect">
            <a:avLst/>
          </a:prstGeom>
        </p:spPr>
        <p:txBody>
          <a:bodyPr vert="horz" lIns="91440" tIns="45720" rIns="91440" bIns="45720" rtlCol="0" anchor="b" wrap="square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/>
            <a:r>
              <a:rPr sz="1400" b="0"/>
              <a:t>23CS7552: B. Tech Mini Project (Project Pitch)</a:t>
            </a:r>
          </a:p>
          <a:p>
            <a:pPr/>
            <a:r>
              <a:rPr sz="1300" b="0"/>
              <a:t>2026</a:t>
            </a:r>
          </a:p>
          <a:p>
            <a:pPr/>
            <a:r>
              <a:rPr sz="1300" b="0"/>
              <a:t>Batch No: __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0E7157D-0ED4-652A-8A59-DCC1031DA9E7}"/>
              </a:ext>
            </a:extLst>
          </p:cNvPr>
          <p:cNvSpPr txBox="1">
            <a:spLocks/>
          </p:cNvSpPr>
          <p:nvPr/>
        </p:nvSpPr>
        <p:spPr>
          <a:xfrm>
            <a:off x="906670" y="60484"/>
            <a:ext cx="7126664" cy="11259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latin typeface="Calisto MT" panose="02040603050505030304" pitchFamily="18" charset="0"/>
                <a:cs typeface="JasmineUPC" panose="02020603050405020304" pitchFamily="18" charset="-34"/>
              </a:rPr>
              <a:t>VR SIDDHARTHA ENGINEERING COLLEGE, VIJAYAWADA</a:t>
            </a:r>
          </a:p>
          <a:p>
            <a:r>
              <a:rPr lang="en-US" sz="2000" b="1" dirty="0">
                <a:latin typeface="Calisto MT" panose="02040603050505030304" pitchFamily="18" charset="0"/>
                <a:cs typeface="JasmineUPC" panose="02020603050405020304" pitchFamily="18" charset="-34"/>
              </a:rPr>
              <a:t>Department of Computer Science and Engineering</a:t>
            </a:r>
          </a:p>
        </p:txBody>
      </p:sp>
      <p:pic>
        <p:nvPicPr>
          <p:cNvPr id="11" name="Picture 10" descr="A picture containing diagram&#10;&#10;Description automatically generated">
            <a:extLst>
              <a:ext uri="{FF2B5EF4-FFF2-40B4-BE49-F238E27FC236}">
                <a16:creationId xmlns:a16="http://schemas.microsoft.com/office/drawing/2014/main" id="{2F0778DE-E80B-339F-BA7E-B056A9251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78" y="161404"/>
            <a:ext cx="950349" cy="1118057"/>
          </a:xfrm>
          <a:prstGeom prst="rect">
            <a:avLst/>
          </a:prstGeom>
        </p:spPr>
      </p:pic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1D9962D5-2778-4C7F-FC4C-2CB25B317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301" y="153465"/>
            <a:ext cx="1118057" cy="1118057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C680849-8AC5-7306-7F26-02AD56BFE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637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4298"/>
            <a:ext cx="7886700" cy="709530"/>
          </a:xfrm>
        </p:spPr>
        <p:txBody>
          <a:bodyPr/>
          <a:lstStyle/>
          <a:p>
            <a:r>
              <a:rPr lang="en-US" sz="3600" b="1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Abstract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046376"/>
            <a:ext cx="8062863" cy="5253135"/>
          </a:xfrm>
        </p:spPr>
        <p:txBody>
          <a:bodyPr wrap="square">
            <a:normAutofit/>
          </a:bodyPr>
          <a:lstStyle/>
          <a:p>
            <a:pPr/>
            <a:r>
              <a:rPr sz="1400" b="0"/>
              <a:t>Three-dimensional chromatin organisation lets distal regulatory elements control gene expression, yet most genomic sequence models treat the genome as a one-dimensional string. This project develops ChromGraphFM, a compact 3D chromatin-conditioned genomic representation model trained from scratch on DNA sequence and Hi-C contact maps. Genomic regions become nodes in a sparse contact graph, and measured Hi-C contact strengths bias attention among distant DNA windows throughout self-supervised pretraining, so structure shapes the sequence representation instead of being appended after it. Pretraining combines masked DNA modelling, distance-matched contact-aware contrastive learning, and chromatin contact prediction. The model is evaluated against sequence-only, shuffled-contact, distance-only, random-graph and late-fusion controls trained at matched parameters, data and compute, using chromosome-level and cell-type held-out splits for contact-map prediction, chromatin loop detection, enhancer-promoter linking and Hi-C-free transfer. The central question is whether experimentally measured 3D structure can be internalised into a reusable DNA representation rather than supplied as an extra input at prediction time.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3089C-7D4B-76D0-EDD6-D1FEEE85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680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120029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11. Gap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502BE-F636-7D1D-85F0-BAFFD3E05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18" y="867265"/>
            <a:ext cx="8314441" cy="5870705"/>
          </a:xfrm>
        </p:spPr>
        <p:txBody>
          <a:bodyPr numCol="1" wrap="square">
            <a:normAutofit/>
          </a:bodyPr>
          <a:lstStyle/>
          <a:p>
            <a:pPr/>
            <a:r>
              <a:rPr sz="1400" b="1"/>
              <a:t>Established in the literature</a:t>
            </a:r>
          </a:p>
          <a:p>
            <a:pPr lvl="1"/>
            <a:r>
              <a:rPr sz="1200" b="0"/>
              <a:t>Foundation models pretrained on Hi-C maps exist (HiCFoundation)</a:t>
            </a:r>
          </a:p>
          <a:p>
            <a:pPr lvl="1"/>
            <a:r>
              <a:rPr sz="1200" b="0"/>
              <a:t>Multimodal Hi-C and epigenomic pretraining exists (MIX-HIC)</a:t>
            </a:r>
          </a:p>
          <a:p>
            <a:pPr lvl="1"/>
            <a:r>
              <a:rPr sz="1200" b="0"/>
              <a:t>Hi-C-guided distillation into a DNA encoder exists (Evo2HiC)</a:t>
            </a:r>
          </a:p>
          <a:p>
            <a:pPr/>
            <a:r>
              <a:rPr sz="1400" b="1"/>
              <a:t>Still open</a:t>
            </a:r>
          </a:p>
          <a:p>
            <a:pPr lvl="1"/>
            <a:r>
              <a:rPr sz="1200" b="0"/>
              <a:t>No published model trains a DNA encoder end to end while measured contact graphs control which distal windows exchange information at every layer</a:t>
            </a:r>
          </a:p>
          <a:p>
            <a:pPr lvl="1"/>
            <a:r>
              <a:rPr sz="1200" b="0"/>
              <a:t>Post-hoc alignment and late fusion have not been separated from in-encoder conditioning under matched parameters, data and compute</a:t>
            </a:r>
          </a:p>
          <a:p>
            <a:pPr lvl="1"/>
            <a:r>
              <a:rPr sz="1200" b="0"/>
              <a:t>Whether structural knowledge survives removal of Hi-C at inference is asserted more often than it is tested against a shuffled-contact control</a:t>
            </a:r>
          </a:p>
          <a:p>
            <a:pPr/>
            <a:r>
              <a:rPr sz="1400" b="1"/>
              <a:t>Gap statement</a:t>
            </a:r>
          </a:p>
          <a:p>
            <a:pPr lvl="2"/>
            <a:r>
              <a:rPr sz="1000" b="0">
                <a:solidFill>
                  <a:srgbClr val="595959"/>
                </a:solidFill>
              </a:rPr>
              <a:t>It remains untested whether contact graphs conditioning sequence contextualisation throughout pretraining yield a more transferable DNA representation than the alternatives, measured against distance-matched and shuffled-contact controls.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17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7850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8971-B764-E045-F92B-01E3322A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76" y="0"/>
            <a:ext cx="8738648" cy="747237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17.3. Proposed Model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45621-8939-04E9-03B4-11AF180D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27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pic>
        <p:nvPicPr>
          <p:cNvPr id="8" name="Picture 7" descr="chromgraphfm_architecture_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599616"/>
            <a:ext cx="8686800" cy="40605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4715061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595959"/>
                </a:solidFill>
              </a:rPr>
              <a:t>Figure 6: ChromGraphFM. The Hi-C-derived edge bias enters the attention score, so the contact map decides which distal windows communicate.</a:t>
            </a:r>
          </a:p>
        </p:txBody>
      </p:sp>
    </p:spTree>
    <p:extLst>
      <p:ext uri="{BB962C8B-B14F-4D97-AF65-F5344CB8AC3E}">
        <p14:creationId xmlns:p14="http://schemas.microsoft.com/office/powerpoint/2010/main" val="8523330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30335-CE52-15B2-B23A-61DE5AEDC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4A369-88B7-8BAE-FCEC-AD8E807C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47" y="270858"/>
            <a:ext cx="8006303" cy="54927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2">
                    <a:lumMod val="50000"/>
                  </a:schemeClr>
                </a:solidFill>
                <a:latin typeface="Calisto MT" panose="02040603050505030304" pitchFamily="18" charset="0"/>
              </a:rPr>
              <a:t>20. 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2D841-5EAC-964D-B444-B7E25133E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989813"/>
            <a:ext cx="8006303" cy="5748157"/>
          </a:xfrm>
        </p:spPr>
        <p:txBody>
          <a:bodyPr numCol="1" wrap="square">
            <a:normAutofit/>
          </a:bodyPr>
          <a:lstStyle/>
          <a:p>
            <a:pPr/>
            <a:r>
              <a:rPr sz="1400" b="1"/>
              <a:t>Here, we have discussed</a:t>
            </a:r>
          </a:p>
          <a:p>
            <a:pPr lvl="1"/>
            <a:r>
              <a:rPr sz="1200" b="0"/>
              <a:t>1. The regulatory problem: enhancers act across megabases, and sequence-only models must infer relationships that have already been measured</a:t>
            </a:r>
          </a:p>
          <a:p>
            <a:pPr lvl="1"/>
            <a:r>
              <a:rPr sz="1200" b="0"/>
              <a:t>2. A mechanism: measured contact graphs biasing attention inside the encoder throughout pretraining, rather than fusion or post-hoc alignment</a:t>
            </a:r>
          </a:p>
          <a:p>
            <a:pPr lvl="1"/>
            <a:r>
              <a:rPr sz="1200" b="0"/>
              <a:t>3. A controlled test: matched B0-B5 arms, chromosome and cell-line held-out splits, and a Hi-C-free inference probe</a:t>
            </a:r>
          </a:p>
          <a:p>
            <a:pPr lvl="1"/>
            <a:r>
              <a:rPr sz="1200" b="0"/>
              <a:t>4. A discipline: no number without a tracked file, no superiority claim without a matched setting</a:t>
            </a:r>
          </a:p>
          <a:p>
            <a:pPr/>
            <a:r>
              <a:rPr sz="1400" b="1"/>
              <a:t>Future work</a:t>
            </a:r>
          </a:p>
          <a:p>
            <a:pPr lvl="1"/>
            <a:r>
              <a:rPr sz="1200" b="0"/>
              <a:t>Multi-scale contacts (5 kb plus 25-50 kb) for domains and compartments</a:t>
            </a:r>
          </a:p>
          <a:p>
            <a:pPr lvl="1"/>
            <a:r>
              <a:rPr sz="1200" b="0"/>
              <a:t>More cell lines; epigenomic tracks as additional node or edge features</a:t>
            </a:r>
          </a:p>
          <a:p>
            <a:pPr lvl="1"/>
            <a:r>
              <a:rPr sz="1200" b="0"/>
              <a:t>Variant-effect prediction on non-coding GWAS variants</a:t>
            </a:r>
          </a:p>
          <a:p>
            <a:pPr lvl="1"/>
            <a:r>
              <a:rPr sz="1200" b="0"/>
              <a:t>Cross-species transfer to mouse; single-cell Hi-C with sparse contacts</a:t>
            </a:r>
          </a:p>
          <a:p>
            <a:pPr lvl="1"/>
            <a:r>
              <a:rPr sz="1200" b="0"/>
              <a:t>A stronger backbone via parameter-efficient adaptation of Caduceus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345BD-7715-5CB3-45A7-6CEB49B2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542D4-23E8-43E0-BA8E-C972DA1A005D}" type="slidenum">
              <a:rPr lang="en-US" sz="1400" b="1" smtClean="0">
                <a:solidFill>
                  <a:schemeClr val="tx1"/>
                </a:solidFill>
                <a:latin typeface="Calisto MT" panose="02040603050505030304" pitchFamily="18" charset="0"/>
              </a:rPr>
              <a:pPr/>
              <a:t>37</a:t>
            </a:fld>
            <a:endParaRPr lang="en-US" sz="1400" b="1"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475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